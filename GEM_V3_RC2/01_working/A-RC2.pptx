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5" r:id="rId86"/>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80.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Edition: V3.0 Release Candidate 2 (RC2), a working edition synchronized with Part B and Part C RC2 and with the V3 Final Brand Approval Register. Brand Owner release authorization (AC20) is pending. The logo is the supplied raster artwork, PENDING PRODUCTION MASTER (VAL-02). Document control and change log: slide 79.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the manual. It is deliberately editorial rather than technical: tokens and components live in Part B, production controls in Part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as set by the register (RF01, RF02, DS01): the register first; then each of the three V3.0 products in its own domain; formal technical and legal standards where they apply; V2/V2.1 and V1 are historical evidence only; benchmarks and inspiration never override a GEM rule. Part A cross-references B and C rather than repeating them. Part C exists as Release Candidate 2 and is a working edition pending production validation (AC17).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should use this manual: designers, agencies, hotel partners, suppliers, brand and procurement teams. How to use it: read the principle, look at the evidence, follow the rule, then check the application. The same four labels appear throughout; slide 73 shows how they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secondary editorial line, used selectively. It is the idea behind the identity, not a replacement for the primary tagline.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Proportion, timing, space, detail and restraint connect the idea to hospitality. They return throughout: in layout, in language, in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is a rendered art-direction study, status REFERENCE, to be replaced by commissioned photography.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emptiest page in the manual is deliberate. Restraint is shown by what is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is a schematic of the device vocabulary, drawn for explanation. It is not a reconstruction of the logo; the logo is only ever the supplied artwork.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threshold study. The dark field on the left carries the text; the doorway is the subject. To be replaced by commissioned photography.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 and partner positioning, per the architecture decision (AC02). GEM does not operate hotels.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Hospitality context is Saudi/GCC, bilingual English and Arabic. The promises here are brand promises, not commercial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and developers are the fifth audience alongside guest, procurement, operations and brand and design teams. Hotel operations teams are a formal B2B audience (D07).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sentences, stated rather than sold. The same measured, warm, precise voice at every level of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 is a supplier and partner, not a hotel operator. Do not invent additional divisions. The future-stream slot is a rule, not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allowed: a stream logo, a stream symbol, a stream colour system, a sub-brand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attributes G01 to G04. Arabic follows the same character and is written for Arabic, not translated word for word (G18).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vocabulary G09; avoid list G10. Struck-through words are also labelled by the heading, so the distinction does not rely on style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has three layers: state label, title, actionable sentence. See Part B for the full feedback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B2B copy examples G11 to G17. Every unverified claim is prohibited in final templates (F08).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tagline is fixed. The secondary line is an editorial voice, not a second tagline.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Prohibited: rewriting, shortening, lowercasing, translating without explicit approval, wrapping, the retired 0.3 to 0.8em tracking, any face other than Jost, permanently locking it to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logo is the supplied raster artwork, used unchanged. It is not a production master and is never traced or redrawn. Master SVG, PDF, EPS and PNG files are required before print or fabrication (H16, H17, DS05).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 logos must never be auto-traced. Embroidery, engraving and favicon masters follow once the vector masters exist (H18 to H20).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is described from the supplied artwork only. No geometry is invented; relationships such as ring-to-quarter ratios are withheld until the vector master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H10 to H15: lockup minimum 120 px, symbol minimum 32 px, below 32 px the no-spark version, clearspace u = G-ring radius, one u minimum, two u preferred. The dashed boundary is drawn to scale for the layout shown; exact print minimums belong in Part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tile is a deliberate misuse made from the supplied raster. Dashed frames mean prohibited; every tile is also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stay conceptual until partners are approved. Sponsorship follows the approved agreement; the equal-partner arrangement is a default, not a mandate. GEM's own identity rules stay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colours, no accents. Ink is the field, Beige is its counterpart, Black is reserved for monochrome and one-colour production and functional states; it is not the default text colour. Proportions are not fixed percentages; Ink and space lead. Semantic tokens live in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pairing is labelled in words, so meaning never depends on colour alone. The prohibited tile is dashed and carries the word NEVER.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Jost is the approved Latin display and heading family. Futura PT is legacy only. Font build validation remains an open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example only. Digital sizes and tokens are specified in Part B. Sample label text is illustrative; 30 ML is a placeholder, not a product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Calibrated tracking is taken from the Digital Design System V3.0. Line length guidance of 45 to 75 characters supports legibility.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Arabic string is a working placeholder to show direction and scale. Native review is required before any Arabic copy is used. The tagline is not translated here because translation needs explicit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Beige panel carries Ink text, never white. Arabic is sized larger than the Latin line to match optical weight. All strings are layout placeholders pending native localization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Numeral logic follows Part B: guest-facing Arabic may use Arabic-Indic numerals where approved for the locale or property; technical identifiers (SKU, booking and reference IDs, URLs, phone numbers, technical codes, batch numbers, cross-system identifiers) always remain Latin digits. Locale policy remains PENDING VALIDATION. Working strings only, not approved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Schematic only, not a template. This chapter explains brand composition; responsive layout breakpoints belong to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brand-world moment. The ring is decorative geometry; keep it behind or beside text, never under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drawings of the four devices, not the master artwork. Each device works alone or in relation to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uses outline-only forms for clarity. Forms support the logo; they never compete with or imitate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spark drawing, not the master artwork. Maximum one per composition. Do not move or add the spark inside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illustrative glyphs only (REFERENCE), not the approved set. The full 27-glyph specification is in the Digital Design System V3.0,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Rendered reference study; replace with commissioned photography. Image rights remain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subjects shown with rendered reference studies; five await commissioned photography. Human presence is shown candid and partial, never posed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Prohibited examples are made by deliberately degrading the reference studies. Each is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Crops are automatic centre crops of one study, shown to compare shapes. In production, subject placement is set per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Storyboard drawings are illustrative, not the master artwork. Timing follows the approved motion direction; the reduced-motion version is a still final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simple shapes to show feeling, not to specify components. No property is implied. Components and states are in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content only. The confirmation message is example copy for tone, not approved UX writing. Messages use the verbal identity: measured and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Touchpoints are illustrative of the hospitality context GEM supplies into; GEM is a supplier and partner, not a hotel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Layouts are concepts. Dimensions, stock and finishing belong in Part C. No property information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hanger and Wi-Fi card are shown as plain concept blocks; copy is [PENDING]. The image is a rendered reference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content is not invented. Concept blocks show hierarchy and tone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 has no new logo, symbol or colour system. No quantities, capabilities, suppliers or commercial terms are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Type size steps down with each level. Six levels per register decision T05: GEM → collection/tier → product/function → quantity/size → instructions/required market information → SKU/artwork version. Detailed layout, dielines and production controls belong to Part C.</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Flat concept blocks, not packaging designs and not production artwork. Product names are the pilot family only; nothing about formulation or sourcing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only. No finishing capability or supplier is claimed. The image is a rendered reference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Fabrication, sizes, mounting and materials depend on each property and are not specified here (Part C). Bilingual order for Saudi/GCC wayfinding follows register decision S07: Arabic first and right, English secondary and left; adapt only where regulatory or operational context requires, as a documented project-specific deviation. External property signage is deferred (S02). Arabic text is a placeholder pending localization approval.</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Signage concept only. Glyph is an illustrative information symbol, not the approved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Quiet and professional. No commercial data, claims, certifications or contact details are stated. Presentations are shown in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slide types in miniature. The template specification is not reproduced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thumbnails are scaled. Text inside them is placeholder at reduced size for layout only; in production, minimum sizes follow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Accessibility implementation QA remains an open gate (VAL-08). This deck uses readable sizes and AA contrast pairings; every image carries alt text and purely decorative geometry is marked decorative (V02, V03). Native document QA (VAL-15) is still to run.</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twelve roles and their responsibilities are those of the register's Owners &amp; Governance sheet; Part B and Part C cite this list and add only their domain duties. No people are invented. Detailed RACI is intentionally omitted from Part A.</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sources conflict, the V3 approval register decides. Tiles differ by fill and by border style, and each carries its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Folder architecture as listed in the brief. Brand Masters are currently PENDING PRODUCTION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Convention X12 of the register. Earlier working editions omitted the date field; the register wins. Asset-ID format and checksum algorithm are proposals pending owner confirmation.</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spread to remember. Do is the light field; Don't is the dark field, and each is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compact reference for daily use. The ring, arc, quarter and spark are illustrative drawings.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Summarized by theme with the register's validation IDs (VAL-01 to VAL-21; there is no VAL-18 in the register) and the release checkpoints AC17, AC19 and AC20. Editing this manual closes none of them.</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Part B is the Digital Design System V3.0 (RC2 patch specification issued; PDF regeneration pending its source). Part C, Production Standards V3.0, is issued as Release Candidate 2, a working edition pending production validation.</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appendix (Z24, AB19). Owner and approver names are recorded by the Brand Owner before AC20. Part B's document ID is applied through its patch specification until its source is regenerated.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20"/>
            <a:ext cx="10566400" cy="50289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62411"/>
            <a:ext cx="10566400" cy="3982789"/>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20"/>
            <a:ext cx="10566400" cy="50289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62411"/>
            <a:ext cx="10566400" cy="3982789"/>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2.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2.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2.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image" Target="../media/image-48-2.jpeg"/><Relationship Id="rId3" Type="http://schemas.openxmlformats.org/officeDocument/2006/relationships/image" Target="../media/image-48-3.jpeg"/><Relationship Id="rId4" Type="http://schemas.openxmlformats.org/officeDocument/2006/relationships/image" Target="../media/image-48-4.jpeg"/><Relationship Id="rId5" Type="http://schemas.openxmlformats.org/officeDocument/2006/relationships/slideLayout" Target="../slideLayouts/slideLayout2.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image" Target="../media/image-49-2.jpeg"/><Relationship Id="rId3" Type="http://schemas.openxmlformats.org/officeDocument/2006/relationships/image" Target="../media/image-49-3.jpeg"/><Relationship Id="rId4" Type="http://schemas.openxmlformats.org/officeDocument/2006/relationships/image" Target="../media/image-49-4.jpeg"/><Relationship Id="rId5" Type="http://schemas.openxmlformats.org/officeDocument/2006/relationships/slideLayout" Target="../slideLayouts/slideLayout2.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image" Target="../media/image-50-2.jpeg"/><Relationship Id="rId3" Type="http://schemas.openxmlformats.org/officeDocument/2006/relationships/image" Target="../media/image-50-3.jpeg"/><Relationship Id="rId4" Type="http://schemas.openxmlformats.org/officeDocument/2006/relationships/image" Target="../media/image-50-4.jpeg"/><Relationship Id="rId5" Type="http://schemas.openxmlformats.org/officeDocument/2006/relationships/image" Target="../media/image-50-5.jpeg"/><Relationship Id="rId6" Type="http://schemas.openxmlformats.org/officeDocument/2006/relationships/slideLayout" Target="../slideLayouts/slideLayout2.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2.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2.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slideLayout" Target="../slideLayouts/slideLayout2.xml"/><Relationship Id="rId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2.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jpeg"/><Relationship Id="rId3" Type="http://schemas.openxmlformats.org/officeDocument/2006/relationships/slideLayout" Target="../slideLayouts/slideLayout2.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2.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0.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2.xml"/><Relationship Id="rId4"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PENDING PRODUCTION MASTER" title="GEM primary horizontal signature, Beige on Ink, supplied ras">    </p:cNvPr>
          <p:cNvPicPr>
            <a:picLocks noChangeAspect="1"/>
          </p:cNvPicPr>
          <p:nvPr/>
        </p:nvPicPr>
        <p:blipFill>
          <a:blip r:embed="rId2"/>
          <a:srcRect l="-70" r="-70" t="0" b="0"/>
          <a:stretch/>
        </p:blipFill>
        <p:spPr>
          <a:xfrm>
            <a:off x="812800" y="812800"/>
            <a:ext cx="3556000" cy="1123950"/>
          </a:xfrm>
          <a:prstGeom prst="rect">
            <a:avLst/>
          </a:prstGeom>
        </p:spPr>
      </p:pic>
      <p:sp>
        <p:nvSpPr>
          <p:cNvPr id="4" name="Text 0"/>
          <p:cNvSpPr/>
          <p:nvPr/>
        </p:nvSpPr>
        <p:spPr>
          <a:xfrm>
            <a:off x="812800" y="330200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Brand Guidelines V3.0</a:t>
            </a:r>
            <a:endParaRPr lang="en-US" sz="4800" dirty="0"/>
          </a:p>
        </p:txBody>
      </p:sp>
      <p:sp>
        <p:nvSpPr>
          <p:cNvPr id="5" name="Text 1"/>
          <p:cNvSpPr/>
          <p:nvPr/>
        </p:nvSpPr>
        <p:spPr>
          <a:xfrm>
            <a:off x="812800" y="419100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ACA7"/>
                </a:solidFill>
                <a:latin typeface="Inter" pitchFamily="34" charset="0"/>
                <a:ea typeface="Inter" pitchFamily="34" charset="-122"/>
                <a:cs typeface="Inter" pitchFamily="34" charset="-120"/>
              </a:rPr>
              <a:t>Part A — Master Brand Guidelines</a:t>
            </a:r>
            <a:endParaRPr lang="en-US" sz="1600" dirty="0"/>
          </a:p>
        </p:txBody>
      </p:sp>
      <p:sp>
        <p:nvSpPr>
          <p:cNvPr id="6" name="Text 2"/>
          <p:cNvSpPr/>
          <p:nvPr/>
        </p:nvSpPr>
        <p:spPr>
          <a:xfrm>
            <a:off x="812800" y="5643910"/>
            <a:ext cx="71945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BCACA7"/>
                </a:solidFill>
                <a:latin typeface="Jost" pitchFamily="34" charset="0"/>
                <a:ea typeface="Jost" pitchFamily="34" charset="-122"/>
                <a:cs typeface="Jost" pitchFamily="34" charset="-120"/>
              </a:rPr>
              <a:t>HOSPITALITY, IN PERFECT PROPORTION</a:t>
            </a:r>
            <a:endParaRPr lang="en-US" sz="1400" dirty="0"/>
          </a:p>
        </p:txBody>
      </p:sp>
      <p:sp>
        <p:nvSpPr>
          <p:cNvPr id="7" name="Text 3"/>
          <p:cNvSpPr/>
          <p:nvPr/>
        </p:nvSpPr>
        <p:spPr>
          <a:xfrm>
            <a:off x="812800" y="6024959"/>
            <a:ext cx="8502650" cy="452041"/>
          </a:xfrm>
          <a:prstGeom prst="rect">
            <a:avLst/>
          </a:prstGeom>
          <a:noFill/>
          <a:ln/>
        </p:spPr>
        <p:txBody>
          <a:bodyPr wrap="square" lIns="0" tIns="0" rIns="0" bIns="0" rtlCol="0" anchor="t"/>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V3.0 RC2 · Working edition · release not yet authorized (AC20) · logo shown from supplied raster, PENDING PRODUCTION MASTER · Document ID GEM-BG-V3.0-RC2 · issued 2026-10-06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586028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INTRODUCTION</a:t>
            </a:r>
            <a:endParaRPr lang="en-US" sz="1200" dirty="0"/>
          </a:p>
        </p:txBody>
      </p:sp>
      <p:sp>
        <p:nvSpPr>
          <p:cNvPr id="3" name="Text 1"/>
          <p:cNvSpPr/>
          <p:nvPr>
            <p:ph type="title"/>
          </p:nvPr>
        </p:nvSpPr>
        <p:spPr>
          <a:xfrm>
            <a:off x="812800" y="1280120"/>
            <a:ext cx="5860288" cy="1701800"/>
          </a:xfrm>
          <a:prstGeom prst="rect">
            <a:avLst/>
          </a:prstGeom>
          <a:noFill/>
          <a:ln/>
        </p:spPr>
        <p:txBody>
          <a:bodyPr wrap="square" lIns="0" tIns="0" rIns="0" bIns="0" rtlCol="0" anchor="t">
            <a:normAutofit/>
          </a:bodyPr>
          <a:lstStyle/>
          <a:p>
            <a:pPr algn="l" indent="0" marL="0">
              <a:lnSpc>
                <a:spcPts val="4400"/>
              </a:lnSpc>
              <a:buNone/>
            </a:pPr>
            <a:r>
              <a:rPr lang="en-US" sz="4000" b="0" i="0" spc="80" kern="0" dirty="0">
                <a:solidFill>
                  <a:srgbClr val="12171D"/>
                </a:solidFill>
                <a:latin typeface="Jost" pitchFamily="34" charset="0"/>
                <a:ea typeface="Jost" pitchFamily="34" charset="-122"/>
                <a:cs typeface="Jost" pitchFamily="34" charset="-120"/>
              </a:rPr>
              <a:t>A manual for making things that belong to GEM.</a:t>
            </a:r>
            <a:endParaRPr lang="en-US" sz="4000" dirty="0"/>
          </a:p>
        </p:txBody>
      </p:sp>
      <p:sp>
        <p:nvSpPr>
          <p:cNvPr id="4" name="Text 2"/>
          <p:cNvSpPr/>
          <p:nvPr/>
        </p:nvSpPr>
        <p:spPr>
          <a:xfrm>
            <a:off x="812800" y="3210520"/>
            <a:ext cx="5860288" cy="1285081"/>
          </a:xfrm>
          <a:prstGeom prst="rect">
            <a:avLst/>
          </a:prstGeom>
          <a:noFill/>
          <a:ln/>
        </p:spPr>
        <p:txBody>
          <a:bodyPr wrap="square" lIns="0" tIns="0" rIns="0" bIns="0" rtlCol="0" anchor="t">
            <a:normAutofit/>
          </a:bodyPr>
          <a:lstStyle/>
          <a:p>
            <a:pPr algn="l" indent="0" marL="0">
              <a:lnSpc>
                <a:spcPts val="2480"/>
              </a:lnSpc>
              <a:buNone/>
            </a:pPr>
            <a:r>
              <a:rPr lang="en-US" sz="1600" dirty="0">
                <a:solidFill>
                  <a:srgbClr val="12171D"/>
                </a:solidFill>
                <a:latin typeface="Inter" pitchFamily="34" charset="0"/>
                <a:ea typeface="Inter" pitchFamily="34" charset="-122"/>
                <a:cs typeface="Inter" pitchFamily="34" charset="-120"/>
              </a:rPr>
              <a:t>This is the strategic, visual and expressive manual for GEM™. The identity direction is approved. These pages make it complete, usable and consistent: what GEM believes, how it looks, how it sounds and how it behaves.</a:t>
            </a:r>
            <a:endParaRPr lang="en-US" sz="1600" dirty="0"/>
          </a:p>
        </p:txBody>
      </p:sp>
      <p:sp>
        <p:nvSpPr>
          <p:cNvPr id="5" name="Text 3"/>
          <p:cNvSpPr/>
          <p:nvPr/>
        </p:nvSpPr>
        <p:spPr>
          <a:xfrm>
            <a:off x="7315200" y="26822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THIS MANUAL ANSWERS</a:t>
            </a:r>
            <a:endParaRPr lang="en-US" sz="1200" dirty="0"/>
          </a:p>
        </p:txBody>
      </p:sp>
      <p:sp>
        <p:nvSpPr>
          <p:cNvPr id="6" name="Shape 4"/>
          <p:cNvSpPr/>
          <p:nvPr/>
        </p:nvSpPr>
        <p:spPr>
          <a:xfrm>
            <a:off x="7315200" y="3051175"/>
            <a:ext cx="4064000" cy="0"/>
          </a:xfrm>
          <a:prstGeom prst="line">
            <a:avLst/>
          </a:prstGeom>
          <a:noFill/>
          <a:ln w="6350">
            <a:solidFill>
              <a:srgbClr val="BCACA7"/>
            </a:solidFill>
            <a:prstDash val="solid"/>
          </a:ln>
        </p:spPr>
        <p:txBody>
          <a:bodyPr/>
          <a:p/>
        </p:txBody>
      </p:sp>
      <p:sp>
        <p:nvSpPr>
          <p:cNvPr id="7" name="Text 5"/>
          <p:cNvSpPr/>
          <p:nvPr/>
        </p:nvSpPr>
        <p:spPr>
          <a:xfrm>
            <a:off x="7315200" y="318135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does GEM stand for?</a:t>
            </a:r>
            <a:endParaRPr lang="en-US" sz="1500" dirty="0"/>
          </a:p>
        </p:txBody>
      </p:sp>
      <p:sp>
        <p:nvSpPr>
          <p:cNvPr id="8" name="Shape 6"/>
          <p:cNvSpPr/>
          <p:nvPr/>
        </p:nvSpPr>
        <p:spPr>
          <a:xfrm>
            <a:off x="7315200" y="3559175"/>
            <a:ext cx="4064000" cy="0"/>
          </a:xfrm>
          <a:prstGeom prst="line">
            <a:avLst/>
          </a:prstGeom>
          <a:noFill/>
          <a:ln w="6350">
            <a:solidFill>
              <a:srgbClr val="BCACA7"/>
            </a:solidFill>
            <a:prstDash val="solid"/>
          </a:ln>
        </p:spPr>
        <p:txBody>
          <a:bodyPr/>
          <a:p/>
        </p:txBody>
      </p:sp>
      <p:sp>
        <p:nvSpPr>
          <p:cNvPr id="9" name="Text 7"/>
          <p:cNvSpPr/>
          <p:nvPr/>
        </p:nvSpPr>
        <p:spPr>
          <a:xfrm>
            <a:off x="7315200" y="368935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How should GEM look and sound?</a:t>
            </a:r>
            <a:endParaRPr lang="en-US" sz="1500" dirty="0"/>
          </a:p>
        </p:txBody>
      </p:sp>
      <p:sp>
        <p:nvSpPr>
          <p:cNvPr id="10" name="Shape 8"/>
          <p:cNvSpPr/>
          <p:nvPr/>
        </p:nvSpPr>
        <p:spPr>
          <a:xfrm>
            <a:off x="7315200" y="4067175"/>
            <a:ext cx="4064000" cy="0"/>
          </a:xfrm>
          <a:prstGeom prst="line">
            <a:avLst/>
          </a:prstGeom>
          <a:noFill/>
          <a:ln w="6350">
            <a:solidFill>
              <a:srgbClr val="BCACA7"/>
            </a:solidFill>
            <a:prstDash val="solid"/>
          </a:ln>
        </p:spPr>
        <p:txBody>
          <a:bodyPr/>
          <a:p/>
        </p:txBody>
      </p:sp>
      <p:sp>
        <p:nvSpPr>
          <p:cNvPr id="11" name="Text 9"/>
          <p:cNvSpPr/>
          <p:nvPr/>
        </p:nvSpPr>
        <p:spPr>
          <a:xfrm>
            <a:off x="7315200" y="4197350"/>
            <a:ext cx="4185920"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How does it behave for guests and B2B partners?</a:t>
            </a:r>
            <a:endParaRPr lang="en-US" sz="1500" dirty="0"/>
          </a:p>
        </p:txBody>
      </p:sp>
      <p:sp>
        <p:nvSpPr>
          <p:cNvPr id="12" name="Shape 10"/>
          <p:cNvSpPr/>
          <p:nvPr/>
        </p:nvSpPr>
        <p:spPr>
          <a:xfrm>
            <a:off x="7315200" y="4822825"/>
            <a:ext cx="4064000" cy="0"/>
          </a:xfrm>
          <a:prstGeom prst="line">
            <a:avLst/>
          </a:prstGeom>
          <a:noFill/>
          <a:ln w="6350">
            <a:solidFill>
              <a:srgbClr val="BCACA7"/>
            </a:solidFill>
            <a:prstDash val="solid"/>
          </a:ln>
        </p:spPr>
        <p:txBody>
          <a:bodyPr/>
          <a:p/>
        </p:txBody>
      </p:sp>
      <p:sp>
        <p:nvSpPr>
          <p:cNvPr id="13" name="Text 11"/>
          <p:cNvSpPr/>
          <p:nvPr/>
        </p:nvSpPr>
        <p:spPr>
          <a:xfrm>
            <a:off x="7315200" y="495300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is fixed, and what may flex?</a:t>
            </a:r>
            <a:endParaRPr lang="en-US" sz="1500" dirty="0"/>
          </a:p>
        </p:txBody>
      </p:sp>
      <p:sp>
        <p:nvSpPr>
          <p:cNvPr id="14" name="Shape 12"/>
          <p:cNvSpPr/>
          <p:nvPr/>
        </p:nvSpPr>
        <p:spPr>
          <a:xfrm>
            <a:off x="7315200" y="5330825"/>
            <a:ext cx="4064000" cy="0"/>
          </a:xfrm>
          <a:prstGeom prst="line">
            <a:avLst/>
          </a:prstGeom>
          <a:noFill/>
          <a:ln w="6350">
            <a:solidFill>
              <a:srgbClr val="BCACA7"/>
            </a:solidFill>
            <a:prstDash val="solid"/>
          </a:ln>
        </p:spPr>
        <p:txBody>
          <a:bodyPr/>
          <a:p/>
        </p:txBody>
      </p:sp>
      <p:sp>
        <p:nvSpPr>
          <p:cNvPr id="15" name="Shape 13"/>
          <p:cNvSpPr/>
          <p:nvPr/>
        </p:nvSpPr>
        <p:spPr>
          <a:xfrm>
            <a:off x="7315200" y="5838825"/>
            <a:ext cx="4064000" cy="0"/>
          </a:xfrm>
          <a:prstGeom prst="line">
            <a:avLst/>
          </a:prstGeom>
          <a:noFill/>
          <a:ln w="6350">
            <a:solidFill>
              <a:srgbClr val="BCACA7"/>
            </a:solidFill>
            <a:prstDash val="solid"/>
          </a:ln>
        </p:spPr>
        <p:txBody>
          <a:bodyPr/>
          <a:p/>
        </p:txBody>
      </p:sp>
      <p:sp>
        <p:nvSpPr>
          <p:cNvPr id="16" name="Text 14"/>
          <p:cNvSpPr/>
          <p:nvPr/>
        </p:nvSpPr>
        <p:spPr>
          <a:xfrm>
            <a:off x="7315200" y="546100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is approved, and what is still pending?</a:t>
            </a:r>
            <a:endParaRPr lang="en-US" sz="15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INTRODUCTION</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WHICH SOURCE WINS</a:t>
            </a:r>
            <a:endParaRPr lang="en-US" sz="1200" dirty="0"/>
          </a:p>
        </p:txBody>
      </p:sp>
      <p:sp>
        <p:nvSpPr>
          <p:cNvPr id="3" name="Text 1"/>
          <p:cNvSpPr/>
          <p:nvPr>
            <p:ph type="title"/>
          </p:nvPr>
        </p:nvSpPr>
        <p:spPr>
          <a:xfrm>
            <a:off x="812800" y="1229320"/>
            <a:ext cx="6069584"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Where sources conflict, the approval register wins.</a:t>
            </a:r>
            <a:endParaRPr lang="en-US" sz="3200" dirty="0"/>
          </a:p>
        </p:txBody>
      </p:sp>
      <p:sp>
        <p:nvSpPr>
          <p:cNvPr id="4" name="Shape 2"/>
          <p:cNvSpPr/>
          <p:nvPr/>
        </p:nvSpPr>
        <p:spPr>
          <a:xfrm>
            <a:off x="812800" y="2431355"/>
            <a:ext cx="5892800" cy="0"/>
          </a:xfrm>
          <a:prstGeom prst="line">
            <a:avLst/>
          </a:prstGeom>
          <a:noFill/>
          <a:ln w="6350">
            <a:solidFill>
              <a:srgbClr val="BCACA7"/>
            </a:solidFill>
            <a:prstDash val="solid"/>
          </a:ln>
        </p:spPr>
        <p:txBody>
          <a:bodyPr/>
          <a:p/>
        </p:txBody>
      </p:sp>
      <p:sp>
        <p:nvSpPr>
          <p:cNvPr id="5" name="Text 3"/>
          <p:cNvSpPr/>
          <p:nvPr/>
        </p:nvSpPr>
        <p:spPr>
          <a:xfrm>
            <a:off x="812800" y="25234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1 · V3 Final Brand Approval Register</a:t>
            </a:r>
            <a:endParaRPr lang="en-US" sz="1500" dirty="0"/>
          </a:p>
        </p:txBody>
      </p:sp>
      <p:sp>
        <p:nvSpPr>
          <p:cNvPr id="6" name="Shape 4"/>
          <p:cNvSpPr/>
          <p:nvPr/>
        </p:nvSpPr>
        <p:spPr>
          <a:xfrm>
            <a:off x="812800" y="2863155"/>
            <a:ext cx="5892800" cy="0"/>
          </a:xfrm>
          <a:prstGeom prst="line">
            <a:avLst/>
          </a:prstGeom>
          <a:noFill/>
          <a:ln w="6350">
            <a:solidFill>
              <a:srgbClr val="BCACA7"/>
            </a:solidFill>
            <a:prstDash val="solid"/>
          </a:ln>
        </p:spPr>
        <p:txBody>
          <a:bodyPr/>
          <a:p/>
        </p:txBody>
      </p:sp>
      <p:sp>
        <p:nvSpPr>
          <p:cNvPr id="7" name="Text 5"/>
          <p:cNvSpPr/>
          <p:nvPr/>
        </p:nvSpPr>
        <p:spPr>
          <a:xfrm>
            <a:off x="812800" y="29552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2 · Part A, Brand Guidelines: brand and identity</a:t>
            </a:r>
            <a:endParaRPr lang="en-US" sz="1500" dirty="0"/>
          </a:p>
        </p:txBody>
      </p:sp>
      <p:sp>
        <p:nvSpPr>
          <p:cNvPr id="8" name="Shape 6"/>
          <p:cNvSpPr/>
          <p:nvPr/>
        </p:nvSpPr>
        <p:spPr>
          <a:xfrm>
            <a:off x="812800" y="3294955"/>
            <a:ext cx="5892800" cy="0"/>
          </a:xfrm>
          <a:prstGeom prst="line">
            <a:avLst/>
          </a:prstGeom>
          <a:noFill/>
          <a:ln w="6350">
            <a:solidFill>
              <a:srgbClr val="BCACA7"/>
            </a:solidFill>
            <a:prstDash val="solid"/>
          </a:ln>
        </p:spPr>
        <p:txBody>
          <a:bodyPr/>
          <a:p/>
        </p:txBody>
      </p:sp>
      <p:sp>
        <p:nvSpPr>
          <p:cNvPr id="9" name="Text 7"/>
          <p:cNvSpPr/>
          <p:nvPr/>
        </p:nvSpPr>
        <p:spPr>
          <a:xfrm>
            <a:off x="812800" y="33870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3 · Part B, Digital Design System: digital implementation</a:t>
            </a:r>
            <a:endParaRPr lang="en-US" sz="1500" dirty="0"/>
          </a:p>
        </p:txBody>
      </p:sp>
      <p:sp>
        <p:nvSpPr>
          <p:cNvPr id="10" name="Shape 8"/>
          <p:cNvSpPr/>
          <p:nvPr/>
        </p:nvSpPr>
        <p:spPr>
          <a:xfrm>
            <a:off x="812800" y="3726755"/>
            <a:ext cx="5892800" cy="0"/>
          </a:xfrm>
          <a:prstGeom prst="line">
            <a:avLst/>
          </a:prstGeom>
          <a:noFill/>
          <a:ln w="6350">
            <a:solidFill>
              <a:srgbClr val="BCACA7"/>
            </a:solidFill>
            <a:prstDash val="solid"/>
          </a:ln>
        </p:spPr>
        <p:txBody>
          <a:bodyPr/>
          <a:p/>
        </p:txBody>
      </p:sp>
      <p:sp>
        <p:nvSpPr>
          <p:cNvPr id="11" name="Text 9"/>
          <p:cNvSpPr/>
          <p:nvPr/>
        </p:nvSpPr>
        <p:spPr>
          <a:xfrm>
            <a:off x="812800" y="38188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4 · Part C, Production Standards: physical production</a:t>
            </a:r>
            <a:endParaRPr lang="en-US" sz="1500" dirty="0"/>
          </a:p>
        </p:txBody>
      </p:sp>
      <p:sp>
        <p:nvSpPr>
          <p:cNvPr id="12" name="Shape 10"/>
          <p:cNvSpPr/>
          <p:nvPr/>
        </p:nvSpPr>
        <p:spPr>
          <a:xfrm>
            <a:off x="812800" y="4158555"/>
            <a:ext cx="5892800" cy="0"/>
          </a:xfrm>
          <a:prstGeom prst="line">
            <a:avLst/>
          </a:prstGeom>
          <a:noFill/>
          <a:ln w="6350">
            <a:solidFill>
              <a:srgbClr val="BCACA7"/>
            </a:solidFill>
            <a:prstDash val="solid"/>
          </a:ln>
        </p:spPr>
        <p:txBody>
          <a:bodyPr/>
          <a:p/>
        </p:txBody>
      </p:sp>
      <p:sp>
        <p:nvSpPr>
          <p:cNvPr id="13" name="Text 11"/>
          <p:cNvSpPr/>
          <p:nvPr/>
        </p:nvSpPr>
        <p:spPr>
          <a:xfrm>
            <a:off x="812800" y="42506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5 · Formal technical and legal standards, where they apply</a:t>
            </a:r>
            <a:endParaRPr lang="en-US" sz="1500" dirty="0"/>
          </a:p>
        </p:txBody>
      </p:sp>
      <p:sp>
        <p:nvSpPr>
          <p:cNvPr id="14" name="Shape 12"/>
          <p:cNvSpPr/>
          <p:nvPr/>
        </p:nvSpPr>
        <p:spPr>
          <a:xfrm>
            <a:off x="812800" y="4590355"/>
            <a:ext cx="5892800" cy="0"/>
          </a:xfrm>
          <a:prstGeom prst="line">
            <a:avLst/>
          </a:prstGeom>
          <a:noFill/>
          <a:ln w="6350">
            <a:solidFill>
              <a:srgbClr val="BCACA7"/>
            </a:solidFill>
            <a:prstDash val="solid"/>
          </a:ln>
        </p:spPr>
        <p:txBody>
          <a:bodyPr/>
          <a:p/>
        </p:txBody>
      </p:sp>
      <p:sp>
        <p:nvSpPr>
          <p:cNvPr id="15" name="Shape 13"/>
          <p:cNvSpPr/>
          <p:nvPr/>
        </p:nvSpPr>
        <p:spPr>
          <a:xfrm>
            <a:off x="812800" y="5022155"/>
            <a:ext cx="5892800" cy="0"/>
          </a:xfrm>
          <a:prstGeom prst="line">
            <a:avLst/>
          </a:prstGeom>
          <a:noFill/>
          <a:ln w="6350">
            <a:solidFill>
              <a:srgbClr val="BCACA7"/>
            </a:solidFill>
            <a:prstDash val="solid"/>
          </a:ln>
        </p:spPr>
        <p:txBody>
          <a:bodyPr/>
          <a:p/>
        </p:txBody>
      </p:sp>
      <p:sp>
        <p:nvSpPr>
          <p:cNvPr id="16" name="Text 14"/>
          <p:cNvSpPr/>
          <p:nvPr/>
        </p:nvSpPr>
        <p:spPr>
          <a:xfrm>
            <a:off x="812800" y="46824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6 · V2 / V2.1 and V1: historical, superseded</a:t>
            </a:r>
            <a:endParaRPr lang="en-US" sz="1500" dirty="0"/>
          </a:p>
        </p:txBody>
      </p:sp>
      <p:sp>
        <p:nvSpPr>
          <p:cNvPr id="17" name="Text 15"/>
          <p:cNvSpPr/>
          <p:nvPr/>
        </p:nvSpPr>
        <p:spPr>
          <a:xfrm>
            <a:off x="7315200" y="107955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THREE COORDINATED PRODUCTS</a:t>
            </a:r>
            <a:endParaRPr lang="en-US" sz="1200" dirty="0"/>
          </a:p>
        </p:txBody>
      </p:sp>
      <p:sp>
        <p:nvSpPr>
          <p:cNvPr id="18" name="Shape 16"/>
          <p:cNvSpPr/>
          <p:nvPr/>
        </p:nvSpPr>
        <p:spPr>
          <a:xfrm>
            <a:off x="7315200" y="1445270"/>
            <a:ext cx="4064000" cy="1275060"/>
          </a:xfrm>
          <a:prstGeom prst="rect">
            <a:avLst/>
          </a:prstGeom>
          <a:solidFill>
            <a:srgbClr val="BCACA7"/>
          </a:solidFill>
          <a:ln/>
        </p:spPr>
        <p:txBody>
          <a:bodyPr/>
          <a:p/>
        </p:txBody>
      </p:sp>
      <p:sp>
        <p:nvSpPr>
          <p:cNvPr id="19" name="Text 17"/>
          <p:cNvSpPr/>
          <p:nvPr/>
        </p:nvSpPr>
        <p:spPr>
          <a:xfrm>
            <a:off x="7543800" y="164847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71D"/>
                </a:solidFill>
                <a:latin typeface="Jost" pitchFamily="34" charset="0"/>
                <a:ea typeface="Jost" pitchFamily="34" charset="-122"/>
                <a:cs typeface="Jost" pitchFamily="34" charset="-120"/>
              </a:rPr>
              <a:t>A · Brand Guidelines</a:t>
            </a:r>
            <a:endParaRPr lang="en-US" sz="2000" dirty="0"/>
          </a:p>
        </p:txBody>
      </p:sp>
      <p:sp>
        <p:nvSpPr>
          <p:cNvPr id="20" name="Text 18"/>
          <p:cNvSpPr/>
          <p:nvPr/>
        </p:nvSpPr>
        <p:spPr>
          <a:xfrm>
            <a:off x="7543800" y="2054870"/>
            <a:ext cx="371500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This manual. Strategy, identity, expression, applications, behaviour.</a:t>
            </a:r>
            <a:endParaRPr lang="en-US" sz="1300" dirty="0"/>
          </a:p>
        </p:txBody>
      </p:sp>
      <p:sp>
        <p:nvSpPr>
          <p:cNvPr id="21" name="Shape 19"/>
          <p:cNvSpPr/>
          <p:nvPr/>
        </p:nvSpPr>
        <p:spPr>
          <a:xfrm>
            <a:off x="7321550" y="2879080"/>
            <a:ext cx="4051300" cy="1262360"/>
          </a:xfrm>
          <a:prstGeom prst="rect">
            <a:avLst/>
          </a:prstGeom>
          <a:noFill/>
          <a:ln w="12700">
            <a:solidFill>
              <a:srgbClr val="BCACA7"/>
            </a:solidFill>
            <a:prstDash val="solid"/>
          </a:ln>
        </p:spPr>
        <p:txBody>
          <a:bodyPr/>
          <a:p/>
        </p:txBody>
      </p:sp>
      <p:sp>
        <p:nvSpPr>
          <p:cNvPr id="22" name="Text 20"/>
          <p:cNvSpPr/>
          <p:nvPr/>
        </p:nvSpPr>
        <p:spPr>
          <a:xfrm>
            <a:off x="7543800" y="307593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Jost" pitchFamily="34" charset="0"/>
                <a:ea typeface="Jost" pitchFamily="34" charset="-122"/>
                <a:cs typeface="Jost" pitchFamily="34" charset="-120"/>
              </a:rPr>
              <a:t>B · Digital Design System</a:t>
            </a:r>
            <a:endParaRPr lang="en-US" sz="2000" dirty="0"/>
          </a:p>
        </p:txBody>
      </p:sp>
      <p:sp>
        <p:nvSpPr>
          <p:cNvPr id="23" name="Text 21"/>
          <p:cNvSpPr/>
          <p:nvPr/>
        </p:nvSpPr>
        <p:spPr>
          <a:xfrm>
            <a:off x="7543800" y="3482330"/>
            <a:ext cx="371500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Tokens, components, responsive and accessibility implementation.</a:t>
            </a:r>
            <a:endParaRPr lang="en-US" sz="1300" dirty="0"/>
          </a:p>
        </p:txBody>
      </p:sp>
      <p:sp>
        <p:nvSpPr>
          <p:cNvPr id="24" name="Shape 22"/>
          <p:cNvSpPr/>
          <p:nvPr/>
        </p:nvSpPr>
        <p:spPr>
          <a:xfrm>
            <a:off x="7321550" y="4306540"/>
            <a:ext cx="4051300" cy="1262360"/>
          </a:xfrm>
          <a:prstGeom prst="rect">
            <a:avLst/>
          </a:prstGeom>
          <a:noFill/>
          <a:ln w="12700">
            <a:solidFill>
              <a:srgbClr val="BCACA7"/>
            </a:solidFill>
            <a:prstDash val="dash"/>
          </a:ln>
        </p:spPr>
        <p:txBody>
          <a:bodyPr/>
          <a:p/>
        </p:txBody>
      </p:sp>
      <p:sp>
        <p:nvSpPr>
          <p:cNvPr id="25" name="Text 23"/>
          <p:cNvSpPr/>
          <p:nvPr/>
        </p:nvSpPr>
        <p:spPr>
          <a:xfrm>
            <a:off x="7543800" y="450339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Jost" pitchFamily="34" charset="0"/>
                <a:ea typeface="Jost" pitchFamily="34" charset="-122"/>
                <a:cs typeface="Jost" pitchFamily="34" charset="-120"/>
              </a:rPr>
              <a:t>C · Production Standards</a:t>
            </a:r>
            <a:endParaRPr lang="en-US" sz="2000" dirty="0"/>
          </a:p>
        </p:txBody>
      </p:sp>
      <p:sp>
        <p:nvSpPr>
          <p:cNvPr id="26" name="Text 24"/>
          <p:cNvSpPr/>
          <p:nvPr/>
        </p:nvSpPr>
        <p:spPr>
          <a:xfrm>
            <a:off x="7543800" y="4846320"/>
            <a:ext cx="3715004" cy="658368"/>
          </a:xfrm>
          <a:prstGeom prst="rect">
            <a:avLst/>
          </a:prstGeom>
          <a:noFill/>
          <a:ln/>
        </p:spPr>
        <p:txBody>
          <a:bodyPr wrap="square" lIns="0" tIns="0" rIns="0" bIns="0" rtlCol="0" anchor="t"/>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Dielines, materials, tolerances, supplier proofs. Issued as RC2, pending production validation.</a:t>
            </a:r>
            <a:endParaRPr lang="en-US" sz="1300" dirty="0"/>
          </a:p>
        </p:txBody>
      </p:sp>
      <p:sp>
        <p:nvSpPr>
          <p:cNvPr id="27" name="Text 2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INTRODUCTION</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29" name="Text 27"/>
          <p:cNvSpPr/>
          <p:nvPr/>
        </p:nvSpPr>
        <p:spPr>
          <a:xfrm>
            <a:off x="812800" y="5111496"/>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7 · Benchmarks and inspiration only</a:t>
            </a:r>
            <a:endParaRPr lang="en-US" sz="1500" dirty="0"/>
          </a:p>
        </p:txBody>
      </p:sp>
      <p:sp>
        <p:nvSpPr>
          <p:cNvPr id="30" name="Shape 28"/>
          <p:cNvSpPr/>
          <p:nvPr/>
        </p:nvSpPr>
        <p:spPr>
          <a:xfrm>
            <a:off x="812800" y="5449824"/>
            <a:ext cx="5892800" cy="0"/>
          </a:xfrm>
          <a:prstGeom prst="line">
            <a:avLst/>
          </a:prstGeom>
          <a:noFill/>
          <a:ln w="6350">
            <a:solidFill>
              <a:srgbClr val="BCACA7"/>
            </a:solidFill>
            <a:prstDash val="solid"/>
          </a:ln>
        </p:spPr>
        <p:txBody>
          <a:bodyPr/>
          <a:p/>
        </p:txBody>
      </p:sp>
      <p:sp>
        <p:nvSpPr>
          <p:cNvPr id="31" name="Text 29"/>
          <p:cNvSpPr/>
          <p:nvPr/>
        </p:nvSpPr>
        <p:spPr>
          <a:xfrm>
            <a:off x="813816" y="5559552"/>
            <a:ext cx="6071616" cy="548640"/>
          </a:xfrm>
          <a:prstGeom prst="rect">
            <a:avLst/>
          </a:prstGeom>
          <a:noFill/>
          <a:ln/>
        </p:spPr>
        <p:txBody>
          <a:bodyPr wrap="square" lIns="0" tIns="0" rIns="0" bIns="0" rtlCol="0" anchor="t"/>
          <a:lstStyle/>
          <a:p>
            <a:pPr algn="l" indent="0" marL="0">
              <a:lnSpc>
                <a:spcPts val="1820"/>
              </a:lnSpc>
              <a:buNone/>
            </a:pPr>
            <a:r>
              <a:rPr lang="en-US" sz="1100" dirty="0">
                <a:solidFill>
                  <a:srgbClr val="BCACA7"/>
                </a:solidFill>
                <a:latin typeface="Inter" pitchFamily="34" charset="0"/>
                <a:ea typeface="Inter" pitchFamily="34" charset="-122"/>
                <a:cs typeface="Inter" pitchFamily="34" charset="-120"/>
              </a:rPr>
              <a:t>Domain ownership: where A, B and C cover different implementation domains, the owning document governs that domain unless the Approval Register overrides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STATUS VOCABULARY</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Every page says what is final and what is not.</a:t>
            </a:r>
            <a:endParaRPr lang="en-US" sz="3600" dirty="0"/>
          </a:p>
        </p:txBody>
      </p:sp>
      <p:sp>
        <p:nvSpPr>
          <p:cNvPr id="4" name="Shape 2"/>
          <p:cNvSpPr/>
          <p:nvPr/>
        </p:nvSpPr>
        <p:spPr>
          <a:xfrm>
            <a:off x="812800" y="2040186"/>
            <a:ext cx="10566400" cy="0"/>
          </a:xfrm>
          <a:prstGeom prst="line">
            <a:avLst/>
          </a:prstGeom>
          <a:noFill/>
          <a:ln w="6350">
            <a:solidFill>
              <a:srgbClr val="BCACA7"/>
            </a:solidFill>
            <a:prstDash val="solid"/>
          </a:ln>
        </p:spPr>
        <p:txBody>
          <a:bodyPr/>
          <a:p/>
        </p:txBody>
      </p:sp>
      <p:sp>
        <p:nvSpPr>
          <p:cNvPr id="5" name="Text 3"/>
          <p:cNvSpPr/>
          <p:nvPr/>
        </p:nvSpPr>
        <p:spPr>
          <a:xfrm>
            <a:off x="812800" y="2183061"/>
            <a:ext cx="2413000" cy="314920"/>
          </a:xfrm>
          <a:prstGeom prst="rect">
            <a:avLst/>
          </a:prstGeom>
          <a:solidFill>
            <a:srgbClr val="12171D"/>
          </a:solidFill>
          <a:ln/>
        </p:spPr>
        <p:txBody>
          <a:bodyPr wrap="square" lIns="94615" tIns="50800" rIns="94615" bIns="25400" rtlCol="0" anchor="t">
            <a:normAutofit/>
          </a:bodyPr>
          <a:lstStyle/>
          <a:p>
            <a:pPr algn="ctr" indent="0" marL="0">
              <a:lnSpc>
                <a:spcPts val="1680"/>
              </a:lnSpc>
              <a:buNone/>
            </a:pPr>
            <a:r>
              <a:rPr lang="en-US" sz="1200" spc="95"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3530600" y="2211933"/>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Final under the register. Use as written.</a:t>
            </a:r>
            <a:endParaRPr lang="en-US" sz="1500" dirty="0"/>
          </a:p>
        </p:txBody>
      </p:sp>
      <p:sp>
        <p:nvSpPr>
          <p:cNvPr id="7" name="Shape 5"/>
          <p:cNvSpPr/>
          <p:nvPr/>
        </p:nvSpPr>
        <p:spPr>
          <a:xfrm>
            <a:off x="812800" y="2640856"/>
            <a:ext cx="10566400" cy="0"/>
          </a:xfrm>
          <a:prstGeom prst="line">
            <a:avLst/>
          </a:prstGeom>
          <a:noFill/>
          <a:ln w="6350">
            <a:solidFill>
              <a:srgbClr val="BCACA7"/>
            </a:solidFill>
            <a:prstDash val="solid"/>
          </a:ln>
        </p:spPr>
        <p:txBody>
          <a:bodyPr/>
          <a:p/>
        </p:txBody>
      </p:sp>
      <p:sp>
        <p:nvSpPr>
          <p:cNvPr id="8" name="Text 6"/>
          <p:cNvSpPr/>
          <p:nvPr/>
        </p:nvSpPr>
        <p:spPr>
          <a:xfrm>
            <a:off x="819150" y="2790081"/>
            <a:ext cx="2400300" cy="302220"/>
          </a:xfrm>
          <a:prstGeom prst="rect">
            <a:avLst/>
          </a:prstGeom>
          <a:noFill/>
          <a:ln w="12700">
            <a:solidFill>
              <a:srgbClr val="12171D"/>
            </a:solidFill>
            <a:prstDash val="solid"/>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9" name="Text 7"/>
          <p:cNvSpPr/>
          <p:nvPr/>
        </p:nvSpPr>
        <p:spPr>
          <a:xfrm>
            <a:off x="3530600" y="281260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Approved, with a condition still open.</a:t>
            </a:r>
            <a:endParaRPr lang="en-US" sz="1500" dirty="0"/>
          </a:p>
        </p:txBody>
      </p:sp>
      <p:sp>
        <p:nvSpPr>
          <p:cNvPr id="10" name="Shape 8"/>
          <p:cNvSpPr/>
          <p:nvPr/>
        </p:nvSpPr>
        <p:spPr>
          <a:xfrm>
            <a:off x="812800" y="3241526"/>
            <a:ext cx="10566400" cy="0"/>
          </a:xfrm>
          <a:prstGeom prst="line">
            <a:avLst/>
          </a:prstGeom>
          <a:noFill/>
          <a:ln w="6350">
            <a:solidFill>
              <a:srgbClr val="BCACA7"/>
            </a:solidFill>
            <a:prstDash val="solid"/>
          </a:ln>
        </p:spPr>
        <p:txBody>
          <a:bodyPr/>
          <a:p/>
        </p:txBody>
      </p:sp>
      <p:sp>
        <p:nvSpPr>
          <p:cNvPr id="11" name="Text 9"/>
          <p:cNvSpPr/>
          <p:nvPr/>
        </p:nvSpPr>
        <p:spPr>
          <a:xfrm>
            <a:off x="819150" y="3390751"/>
            <a:ext cx="2400300" cy="302220"/>
          </a:xfrm>
          <a:prstGeom prst="rect">
            <a:avLst/>
          </a:prstGeom>
          <a:noFill/>
          <a:ln w="12700">
            <a:solidFill>
              <a:srgbClr val="12171D"/>
            </a:solidFill>
            <a:prstDash val="dash"/>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2" name="Text 10"/>
          <p:cNvSpPr/>
          <p:nvPr/>
        </p:nvSpPr>
        <p:spPr>
          <a:xfrm>
            <a:off x="3530600" y="341327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Evidence, native QA or testing outstanding. Never shown as final.</a:t>
            </a:r>
            <a:endParaRPr lang="en-US" sz="1500" dirty="0"/>
          </a:p>
        </p:txBody>
      </p:sp>
      <p:sp>
        <p:nvSpPr>
          <p:cNvPr id="13" name="Shape 11"/>
          <p:cNvSpPr/>
          <p:nvPr/>
        </p:nvSpPr>
        <p:spPr>
          <a:xfrm>
            <a:off x="812800" y="3842196"/>
            <a:ext cx="10566400" cy="0"/>
          </a:xfrm>
          <a:prstGeom prst="line">
            <a:avLst/>
          </a:prstGeom>
          <a:noFill/>
          <a:ln w="6350">
            <a:solidFill>
              <a:srgbClr val="BCACA7"/>
            </a:solidFill>
            <a:prstDash val="solid"/>
          </a:ln>
        </p:spPr>
        <p:txBody>
          <a:bodyPr/>
          <a:p/>
        </p:txBody>
      </p:sp>
      <p:sp>
        <p:nvSpPr>
          <p:cNvPr id="14" name="Shape 12"/>
          <p:cNvSpPr/>
          <p:nvPr/>
        </p:nvSpPr>
        <p:spPr>
          <a:xfrm>
            <a:off x="812800" y="4442867"/>
            <a:ext cx="10566400" cy="0"/>
          </a:xfrm>
          <a:prstGeom prst="line">
            <a:avLst/>
          </a:prstGeom>
          <a:noFill/>
          <a:ln w="6350">
            <a:solidFill>
              <a:srgbClr val="BCACA7"/>
            </a:solidFill>
            <a:prstDash val="solid"/>
          </a:ln>
        </p:spPr>
        <p:txBody>
          <a:bodyPr/>
          <a:p/>
        </p:txBody>
      </p:sp>
      <p:sp>
        <p:nvSpPr>
          <p:cNvPr id="15" name="Text 13"/>
          <p:cNvSpPr/>
          <p:nvPr/>
        </p:nvSpPr>
        <p:spPr>
          <a:xfrm>
            <a:off x="819150" y="3991421"/>
            <a:ext cx="2400300" cy="302220"/>
          </a:xfrm>
          <a:prstGeom prst="rect">
            <a:avLst/>
          </a:prstGeom>
          <a:noFill/>
          <a:ln w="12700">
            <a:solidFill>
              <a:srgbClr val="12171D"/>
            </a:solidFill>
            <a:prstDash val="sysDot"/>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REFERENCE</a:t>
            </a:r>
            <a:endParaRPr lang="en-US" sz="1200" dirty="0"/>
          </a:p>
        </p:txBody>
      </p:sp>
      <p:sp>
        <p:nvSpPr>
          <p:cNvPr id="16" name="Text 14"/>
          <p:cNvSpPr/>
          <p:nvPr/>
        </p:nvSpPr>
        <p:spPr>
          <a:xfrm>
            <a:off x="3530600" y="401394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Study or inspiration. Not a GEM standard.</a:t>
            </a:r>
            <a:endParaRPr lang="en-US" sz="1500" dirty="0"/>
          </a:p>
        </p:txBody>
      </p:sp>
      <p:sp>
        <p:nvSpPr>
          <p:cNvPr id="17" name="Text 15"/>
          <p:cNvSpPr/>
          <p:nvPr/>
        </p:nvSpPr>
        <p:spPr>
          <a:xfrm>
            <a:off x="812800" y="4700042"/>
            <a:ext cx="10883392" cy="141732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Shape carries the meaning as well as the word: filled, solid, dashed, dotted. Placeholders read [PENDING], [TO BE VERIFIED] or [REQUIRES OWNER]. Concepts read CONCEPT / NOT PRODUCTION ARTWORK or CONCEPT / NOT PRODUCTION PHOTOGRAPHY. Further labels: PENDING PRODUCTION MASTER, PENDING LOCALIZATION APPROVAL, PROJECT-SPECIFIC / REQUIRES SITE VALIDATION. Edition states: WORKING EDITION, RELEASE CANDIDATE (RC), APPROVED. An edition becomes APPROVED only by Brand Owner authorization (AC20).</a:t>
            </a:r>
            <a:endParaRPr lang="en-US" sz="1300" dirty="0"/>
          </a:p>
        </p:txBody>
      </p:sp>
      <p:sp>
        <p:nvSpPr>
          <p:cNvPr id="18" name="Text 1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INTRODUCTION</a:t>
            </a:r>
            <a:endParaRPr lang="en-US" sz="1200" dirty="0"/>
          </a:p>
        </p:txBody>
      </p:sp>
      <p:sp>
        <p:nvSpPr>
          <p:cNvPr id="19" name="Text 1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01</a:t>
            </a:r>
            <a:endParaRPr lang="en-US" sz="1400" dirty="0"/>
          </a:p>
        </p:txBody>
      </p:sp>
      <p:sp>
        <p:nvSpPr>
          <p:cNvPr id="4" name="Text 1"/>
          <p:cNvSpPr/>
          <p:nvPr>
            <p:ph type="title"/>
          </p:nvPr>
        </p:nvSpPr>
        <p:spPr>
          <a:xfrm>
            <a:off x="812800" y="2540000"/>
            <a:ext cx="719455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BRAND</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The idea, four principles, positioning, audiences and architecture.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CACA7"/>
        </a:solidFill>
      </p:bgPr>
    </p:bg>
    <p:spTree>
      <p:nvGrpSpPr>
        <p:cNvPr id="1" name=""/>
        <p:cNvGrpSpPr/>
        <p:nvPr/>
      </p:nvGrpSpPr>
      <p:grpSpPr>
        <a:xfrm>
          <a:off x="0" y="0"/>
          <a:ext cx="0" cy="0"/>
          <a:chOff x="0" y="0"/>
          <a:chExt cx="0" cy="0"/>
        </a:xfrm>
      </p:grpSpPr>
      <p:pic>
        <p:nvPicPr>
          <p:cNvPr id="2" name="Image 0" descr="Beige field with one cropped ring line, decorative." title="Beige field with one cropped ring line, decorative.">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BRAND IDEA</a:t>
            </a:r>
            <a:endParaRPr lang="en-US" sz="1200" dirty="0"/>
          </a:p>
        </p:txBody>
      </p:sp>
      <p:sp>
        <p:nvSpPr>
          <p:cNvPr id="4" name="Text 1"/>
          <p:cNvSpPr/>
          <p:nvPr>
            <p:ph type="title"/>
          </p:nvPr>
        </p:nvSpPr>
        <p:spPr>
          <a:xfrm>
            <a:off x="812800" y="2724912"/>
            <a:ext cx="9156700" cy="1890713"/>
          </a:xfrm>
          <a:prstGeom prst="rect">
            <a:avLst/>
          </a:prstGeom>
          <a:noFill/>
          <a:ln/>
        </p:spPr>
        <p:txBody>
          <a:bodyPr wrap="square" lIns="0" tIns="0" rIns="0" bIns="0" rtlCol="0" anchor="t">
            <a:normAutofit/>
          </a:bodyPr>
          <a:lstStyle/>
          <a:p>
            <a:pPr algn="l" indent="0" marL="0">
              <a:lnSpc>
                <a:spcPts val="7344"/>
              </a:lnSpc>
              <a:buNone/>
            </a:pPr>
            <a:r>
              <a:rPr lang="en-US" sz="6800" b="0" i="0" spc="135" kern="0" dirty="0">
                <a:solidFill>
                  <a:srgbClr val="12171D"/>
                </a:solidFill>
                <a:latin typeface="Jost" pitchFamily="34" charset="0"/>
                <a:ea typeface="Jost" pitchFamily="34" charset="-122"/>
                <a:cs typeface="Jost" pitchFamily="34" charset="-120"/>
              </a:rPr>
              <a:t>Every arrival, precisely composed.</a:t>
            </a:r>
            <a:endParaRPr lang="en-US" sz="6800" dirty="0"/>
          </a:p>
        </p:txBody>
      </p:sp>
      <p:sp>
        <p:nvSpPr>
          <p:cNvPr id="5" name="Text 2"/>
          <p:cNvSpPr/>
          <p:nvPr/>
        </p:nvSpPr>
        <p:spPr>
          <a:xfrm>
            <a:off x="812800" y="4927600"/>
            <a:ext cx="5363210"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2171D"/>
                </a:solidFill>
                <a:latin typeface="Inter" pitchFamily="34" charset="0"/>
                <a:ea typeface="Inter" pitchFamily="34" charset="-122"/>
                <a:cs typeface="Inter" pitchFamily="34" charset="-120"/>
              </a:rPr>
              <a:t>Hospitality is a sequence of moments. GEM gives each one its proportion, its timing, its space and its detail.</a:t>
            </a:r>
            <a:endParaRPr lang="en-US" sz="16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FIVE QUALITIES OF AN ARRIVAL</a:t>
            </a:r>
            <a:endParaRPr lang="en-US" sz="1200" dirty="0"/>
          </a:p>
        </p:txBody>
      </p:sp>
      <p:sp>
        <p:nvSpPr>
          <p:cNvPr id="3" name="Text 1"/>
          <p:cNvSpPr/>
          <p:nvPr>
            <p:ph type="title"/>
          </p:nvPr>
        </p:nvSpPr>
        <p:spPr>
          <a:xfrm>
            <a:off x="812800" y="1203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Composed means each part is in measure.</a:t>
            </a:r>
            <a:endParaRPr lang="en-US" sz="3600" dirty="0"/>
          </a:p>
        </p:txBody>
      </p:sp>
      <p:sp>
        <p:nvSpPr>
          <p:cNvPr id="4" name="Shape 2"/>
          <p:cNvSpPr/>
          <p:nvPr/>
        </p:nvSpPr>
        <p:spPr>
          <a:xfrm>
            <a:off x="812800" y="4414044"/>
            <a:ext cx="1930400" cy="0"/>
          </a:xfrm>
          <a:prstGeom prst="line">
            <a:avLst/>
          </a:prstGeom>
          <a:noFill/>
          <a:ln w="19050">
            <a:solidFill>
              <a:srgbClr val="12171D"/>
            </a:solidFill>
            <a:prstDash val="solid"/>
          </a:ln>
        </p:spPr>
        <p:txBody>
          <a:bodyPr/>
          <a:p/>
        </p:txBody>
      </p:sp>
      <p:sp>
        <p:nvSpPr>
          <p:cNvPr id="5" name="Text 3"/>
          <p:cNvSpPr/>
          <p:nvPr/>
        </p:nvSpPr>
        <p:spPr>
          <a:xfrm>
            <a:off x="812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Proportion</a:t>
            </a:r>
            <a:endParaRPr lang="en-US" sz="2200" dirty="0"/>
          </a:p>
        </p:txBody>
      </p:sp>
      <p:sp>
        <p:nvSpPr>
          <p:cNvPr id="6" name="Text 4"/>
          <p:cNvSpPr/>
          <p:nvPr/>
        </p:nvSpPr>
        <p:spPr>
          <a:xfrm>
            <a:off x="812800" y="5068689"/>
            <a:ext cx="198831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Every element in right relation to the next.</a:t>
            </a:r>
            <a:endParaRPr lang="en-US" sz="1400" dirty="0"/>
          </a:p>
        </p:txBody>
      </p:sp>
      <p:sp>
        <p:nvSpPr>
          <p:cNvPr id="7" name="Shape 5"/>
          <p:cNvSpPr/>
          <p:nvPr/>
        </p:nvSpPr>
        <p:spPr>
          <a:xfrm>
            <a:off x="2971800" y="4414044"/>
            <a:ext cx="1930400" cy="0"/>
          </a:xfrm>
          <a:prstGeom prst="line">
            <a:avLst/>
          </a:prstGeom>
          <a:noFill/>
          <a:ln w="19050">
            <a:solidFill>
              <a:srgbClr val="12171D"/>
            </a:solidFill>
            <a:prstDash val="solid"/>
          </a:ln>
        </p:spPr>
        <p:txBody>
          <a:bodyPr/>
          <a:p/>
        </p:txBody>
      </p:sp>
      <p:sp>
        <p:nvSpPr>
          <p:cNvPr id="8" name="Text 6"/>
          <p:cNvSpPr/>
          <p:nvPr/>
        </p:nvSpPr>
        <p:spPr>
          <a:xfrm>
            <a:off x="2971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Timing</a:t>
            </a:r>
            <a:endParaRPr lang="en-US" sz="2200" dirty="0"/>
          </a:p>
        </p:txBody>
      </p:sp>
      <p:sp>
        <p:nvSpPr>
          <p:cNvPr id="9" name="Text 7"/>
          <p:cNvSpPr/>
          <p:nvPr/>
        </p:nvSpPr>
        <p:spPr>
          <a:xfrm>
            <a:off x="2971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The right moment, never rushed, never late.</a:t>
            </a:r>
            <a:endParaRPr lang="en-US" sz="1400" dirty="0"/>
          </a:p>
        </p:txBody>
      </p:sp>
      <p:sp>
        <p:nvSpPr>
          <p:cNvPr id="10" name="Shape 8"/>
          <p:cNvSpPr/>
          <p:nvPr/>
        </p:nvSpPr>
        <p:spPr>
          <a:xfrm>
            <a:off x="5130800" y="4414044"/>
            <a:ext cx="1930400" cy="0"/>
          </a:xfrm>
          <a:prstGeom prst="line">
            <a:avLst/>
          </a:prstGeom>
          <a:noFill/>
          <a:ln w="19050">
            <a:solidFill>
              <a:srgbClr val="12171D"/>
            </a:solidFill>
            <a:prstDash val="solid"/>
          </a:ln>
        </p:spPr>
        <p:txBody>
          <a:bodyPr/>
          <a:p/>
        </p:txBody>
      </p:sp>
      <p:sp>
        <p:nvSpPr>
          <p:cNvPr id="11" name="Text 9"/>
          <p:cNvSpPr/>
          <p:nvPr/>
        </p:nvSpPr>
        <p:spPr>
          <a:xfrm>
            <a:off x="5130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Space</a:t>
            </a:r>
            <a:endParaRPr lang="en-US" sz="2200" dirty="0"/>
          </a:p>
        </p:txBody>
      </p:sp>
      <p:sp>
        <p:nvSpPr>
          <p:cNvPr id="12" name="Text 10"/>
          <p:cNvSpPr/>
          <p:nvPr/>
        </p:nvSpPr>
        <p:spPr>
          <a:xfrm>
            <a:off x="5130800" y="5068689"/>
            <a:ext cx="198831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Room to arrive, to look, to breathe.</a:t>
            </a:r>
            <a:endParaRPr lang="en-US" sz="1400" dirty="0"/>
          </a:p>
        </p:txBody>
      </p:sp>
      <p:sp>
        <p:nvSpPr>
          <p:cNvPr id="13" name="Shape 11"/>
          <p:cNvSpPr/>
          <p:nvPr/>
        </p:nvSpPr>
        <p:spPr>
          <a:xfrm>
            <a:off x="7289800" y="4414044"/>
            <a:ext cx="1930400" cy="0"/>
          </a:xfrm>
          <a:prstGeom prst="line">
            <a:avLst/>
          </a:prstGeom>
          <a:noFill/>
          <a:ln w="19050">
            <a:solidFill>
              <a:srgbClr val="12171D"/>
            </a:solidFill>
            <a:prstDash val="solid"/>
          </a:ln>
        </p:spPr>
        <p:txBody>
          <a:bodyPr/>
          <a:p/>
        </p:txBody>
      </p:sp>
      <p:sp>
        <p:nvSpPr>
          <p:cNvPr id="14" name="Text 12"/>
          <p:cNvSpPr/>
          <p:nvPr/>
        </p:nvSpPr>
        <p:spPr>
          <a:xfrm>
            <a:off x="7289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Detail</a:t>
            </a:r>
            <a:endParaRPr lang="en-US" sz="2200" dirty="0"/>
          </a:p>
        </p:txBody>
      </p:sp>
      <p:sp>
        <p:nvSpPr>
          <p:cNvPr id="15" name="Text 13"/>
          <p:cNvSpPr/>
          <p:nvPr/>
        </p:nvSpPr>
        <p:spPr>
          <a:xfrm>
            <a:off x="7289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Correct, verified, resolved down to the edge.</a:t>
            </a:r>
            <a:endParaRPr lang="en-US" sz="1400" dirty="0"/>
          </a:p>
        </p:txBody>
      </p:sp>
      <p:sp>
        <p:nvSpPr>
          <p:cNvPr id="16" name="Shape 14"/>
          <p:cNvSpPr/>
          <p:nvPr/>
        </p:nvSpPr>
        <p:spPr>
          <a:xfrm>
            <a:off x="9448800" y="4414044"/>
            <a:ext cx="1930400" cy="0"/>
          </a:xfrm>
          <a:prstGeom prst="line">
            <a:avLst/>
          </a:prstGeom>
          <a:noFill/>
          <a:ln w="19050">
            <a:solidFill>
              <a:srgbClr val="12171D"/>
            </a:solidFill>
            <a:prstDash val="solid"/>
          </a:ln>
        </p:spPr>
        <p:txBody>
          <a:bodyPr/>
          <a:p/>
        </p:txBody>
      </p:sp>
      <p:sp>
        <p:nvSpPr>
          <p:cNvPr id="17" name="Text 15"/>
          <p:cNvSpPr/>
          <p:nvPr/>
        </p:nvSpPr>
        <p:spPr>
          <a:xfrm>
            <a:off x="9448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Restraint</a:t>
            </a:r>
            <a:endParaRPr lang="en-US" sz="2200" dirty="0"/>
          </a:p>
        </p:txBody>
      </p:sp>
      <p:sp>
        <p:nvSpPr>
          <p:cNvPr id="18" name="Text 16"/>
          <p:cNvSpPr/>
          <p:nvPr/>
        </p:nvSpPr>
        <p:spPr>
          <a:xfrm>
            <a:off x="9448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Nothing added that does not serve the guest.</a:t>
            </a:r>
            <a:endParaRPr lang="en-US" sz="14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Rendered reference study: a ring pressed into a warm uncoated surface. Concept, not production photography." title="Rendered reference study: a ring pressed into a warm uncoate">    </p:cNvPr>
          <p:cNvPicPr>
            <a:picLocks noChangeAspect="1"/>
          </p:cNvPicPr>
          <p:nvPr/>
        </p:nvPicPr>
        <p:blipFill>
          <a:blip r:embed="rId1"/>
          <a:srcRect l="22222" r="22222" t="0" b="0"/>
          <a:stretch/>
        </p:blipFill>
        <p:spPr>
          <a:xfrm>
            <a:off x="0" y="0"/>
            <a:ext cx="6096000" cy="6858000"/>
          </a:xfrm>
          <a:prstGeom prst="rect">
            <a:avLst/>
          </a:prstGeom>
        </p:spPr>
      </p:pic>
      <p:sp>
        <p:nvSpPr>
          <p:cNvPr id="3" name="Text 0"/>
          <p:cNvSpPr/>
          <p:nvPr/>
        </p:nvSpPr>
        <p:spPr>
          <a:xfrm>
            <a:off x="6705600" y="812800"/>
            <a:ext cx="4813808"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12171D"/>
                </a:solidFill>
                <a:latin typeface="Jost" pitchFamily="34" charset="0"/>
                <a:ea typeface="Jost" pitchFamily="34" charset="-122"/>
                <a:cs typeface="Jost" pitchFamily="34" charset="-120"/>
              </a:rPr>
              <a:t>PRINCIPLE 01</a:t>
            </a:r>
            <a:endParaRPr lang="en-US" sz="1400" dirty="0"/>
          </a:p>
        </p:txBody>
      </p:sp>
      <p:sp>
        <p:nvSpPr>
          <p:cNvPr id="4" name="Text 1"/>
          <p:cNvSpPr/>
          <p:nvPr>
            <p:ph type="title"/>
          </p:nvPr>
        </p:nvSpPr>
        <p:spPr>
          <a:xfrm>
            <a:off x="6705600" y="1264890"/>
            <a:ext cx="4813808"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12171D"/>
                </a:solidFill>
                <a:latin typeface="Jost" pitchFamily="34" charset="0"/>
                <a:ea typeface="Jost" pitchFamily="34" charset="-122"/>
                <a:cs typeface="Jost" pitchFamily="34" charset="-120"/>
              </a:rPr>
              <a:t>PRECISION OVER DECORATION</a:t>
            </a:r>
            <a:endParaRPr lang="en-US" sz="3400" dirty="0"/>
          </a:p>
        </p:txBody>
      </p:sp>
      <p:sp>
        <p:nvSpPr>
          <p:cNvPr id="5" name="Text 2"/>
          <p:cNvSpPr/>
          <p:nvPr/>
        </p:nvSpPr>
        <p:spPr>
          <a:xfrm>
            <a:off x="6705600" y="2418011"/>
            <a:ext cx="4813808"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One fine line, correctly placed, says more than a surface of ornament.</a:t>
            </a:r>
            <a:endParaRPr lang="en-US" sz="1500" dirty="0"/>
          </a:p>
        </p:txBody>
      </p:sp>
      <p:sp>
        <p:nvSpPr>
          <p:cNvPr id="6" name="Shape 3"/>
          <p:cNvSpPr/>
          <p:nvPr/>
        </p:nvSpPr>
        <p:spPr>
          <a:xfrm>
            <a:off x="6705600" y="3739753"/>
            <a:ext cx="4673600" cy="0"/>
          </a:xfrm>
          <a:prstGeom prst="line">
            <a:avLst/>
          </a:prstGeom>
          <a:noFill/>
          <a:ln w="6350">
            <a:solidFill>
              <a:srgbClr val="BCACA7"/>
            </a:solidFill>
            <a:prstDash val="solid"/>
          </a:ln>
        </p:spPr>
        <p:txBody>
          <a:bodyPr/>
          <a:p/>
        </p:txBody>
      </p:sp>
      <p:sp>
        <p:nvSpPr>
          <p:cNvPr id="7" name="Text 4"/>
          <p:cNvSpPr/>
          <p:nvPr/>
        </p:nvSpPr>
        <p:spPr>
          <a:xfrm>
            <a:off x="6705600" y="3869928"/>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8" name="Text 5"/>
          <p:cNvSpPr/>
          <p:nvPr/>
        </p:nvSpPr>
        <p:spPr>
          <a:xfrm>
            <a:off x="6705600" y="4210248"/>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If an element does not carry meaning, function or proportion, remove it.</a:t>
            </a:r>
            <a:endParaRPr lang="en-US" sz="1400" dirty="0"/>
          </a:p>
        </p:txBody>
      </p:sp>
      <p:sp>
        <p:nvSpPr>
          <p:cNvPr id="9" name="Shape 6"/>
          <p:cNvSpPr/>
          <p:nvPr/>
        </p:nvSpPr>
        <p:spPr>
          <a:xfrm>
            <a:off x="6705600" y="4855964"/>
            <a:ext cx="4673600" cy="0"/>
          </a:xfrm>
          <a:prstGeom prst="line">
            <a:avLst/>
          </a:prstGeom>
          <a:noFill/>
          <a:ln w="6350">
            <a:solidFill>
              <a:srgbClr val="BCACA7"/>
            </a:solidFill>
            <a:prstDash val="solid"/>
          </a:ln>
        </p:spPr>
        <p:txBody>
          <a:bodyPr/>
          <a:p/>
        </p:txBody>
      </p:sp>
      <p:sp>
        <p:nvSpPr>
          <p:cNvPr id="10" name="Text 7"/>
          <p:cNvSpPr/>
          <p:nvPr/>
        </p:nvSpPr>
        <p:spPr>
          <a:xfrm>
            <a:off x="6705600" y="4986139"/>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 USE</a:t>
            </a:r>
            <a:endParaRPr lang="en-US" sz="1200" dirty="0"/>
          </a:p>
        </p:txBody>
      </p:sp>
      <p:sp>
        <p:nvSpPr>
          <p:cNvPr id="11" name="Text 8"/>
          <p:cNvSpPr/>
          <p:nvPr/>
        </p:nvSpPr>
        <p:spPr>
          <a:xfrm>
            <a:off x="6705600" y="5326459"/>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A deboss instead of a pattern. A hairline instead of a box. A verified fact instead of an adjective.</a:t>
            </a:r>
            <a:endParaRPr lang="en-US" sz="1400" dirty="0"/>
          </a:p>
        </p:txBody>
      </p:sp>
      <p:sp>
        <p:nvSpPr>
          <p:cNvPr id="12" name="Text 9"/>
          <p:cNvSpPr/>
          <p:nvPr/>
        </p:nvSpPr>
        <p:spPr>
          <a:xfrm>
            <a:off x="6705600" y="6024959"/>
            <a:ext cx="3924300" cy="452041"/>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REFERENCE · CONCEPT / NOT PRODUCTION PHOTOGRAPHY</a:t>
            </a:r>
            <a:endParaRPr lang="en-US" sz="1200" dirty="0"/>
          </a:p>
        </p:txBody>
      </p:sp>
      <p:sp>
        <p:nvSpPr>
          <p:cNvPr id="13" name="Text 10"/>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PRINCIPLE 02</a:t>
            </a:r>
            <a:endParaRPr lang="en-US" sz="1400" dirty="0"/>
          </a:p>
        </p:txBody>
      </p:sp>
      <p:sp>
        <p:nvSpPr>
          <p:cNvPr id="4" name="Text 1"/>
          <p:cNvSpPr/>
          <p:nvPr>
            <p:ph type="title"/>
          </p:nvPr>
        </p:nvSpPr>
        <p:spPr>
          <a:xfrm>
            <a:off x="812800" y="4445000"/>
            <a:ext cx="7194550" cy="50036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FFFFFF"/>
                </a:solidFill>
                <a:latin typeface="Jost" pitchFamily="34" charset="0"/>
                <a:ea typeface="Jost" pitchFamily="34" charset="-122"/>
                <a:cs typeface="Jost" pitchFamily="34" charset="-120"/>
              </a:rPr>
              <a:t>RESTRAINT IS THE LUXURY</a:t>
            </a:r>
            <a:endParaRPr lang="en-US" sz="3400" dirty="0"/>
          </a:p>
        </p:txBody>
      </p:sp>
      <p:sp>
        <p:nvSpPr>
          <p:cNvPr id="5" name="Text 2"/>
          <p:cNvSpPr/>
          <p:nvPr/>
        </p:nvSpPr>
        <p:spPr>
          <a:xfrm>
            <a:off x="812800" y="5270500"/>
            <a:ext cx="627888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BCACA7"/>
                </a:solidFill>
                <a:latin typeface="Inter" pitchFamily="34" charset="0"/>
                <a:ea typeface="Inter" pitchFamily="34" charset="-122"/>
                <a:cs typeface="Inter" pitchFamily="34" charset="-120"/>
              </a:rPr>
              <a:t>Rule: say less, show less, and let what remains be exact. Empty space is a decision.</a:t>
            </a:r>
            <a:endParaRPr lang="en-US" sz="15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12171D"/>
                </a:solidFill>
                <a:latin typeface="Jost" pitchFamily="34" charset="0"/>
                <a:ea typeface="Jost" pitchFamily="34" charset="-122"/>
                <a:cs typeface="Jost" pitchFamily="34" charset="-120"/>
              </a:rPr>
              <a:t>PRINCIPLE 03</a:t>
            </a:r>
            <a:endParaRPr lang="en-US" sz="1400" dirty="0"/>
          </a:p>
        </p:txBody>
      </p:sp>
      <p:sp>
        <p:nvSpPr>
          <p:cNvPr id="3" name="Text 1"/>
          <p:cNvSpPr/>
          <p:nvPr>
            <p:ph type="title"/>
          </p:nvPr>
        </p:nvSpPr>
        <p:spPr>
          <a:xfrm>
            <a:off x="812800" y="1264890"/>
            <a:ext cx="4185920"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12171D"/>
                </a:solidFill>
                <a:latin typeface="Jost" pitchFamily="34" charset="0"/>
                <a:ea typeface="Jost" pitchFamily="34" charset="-122"/>
                <a:cs typeface="Jost" pitchFamily="34" charset="-120"/>
              </a:rPr>
              <a:t>GEOMETRY IS THE LANGUAGE</a:t>
            </a:r>
            <a:endParaRPr lang="en-US" sz="3400" dirty="0"/>
          </a:p>
        </p:txBody>
      </p:sp>
      <p:sp>
        <p:nvSpPr>
          <p:cNvPr id="4" name="Text 2"/>
          <p:cNvSpPr/>
          <p:nvPr/>
        </p:nvSpPr>
        <p:spPr>
          <a:xfrm>
            <a:off x="812800" y="2418011"/>
            <a:ext cx="4185920"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Ring, arc, quarter and spark are the whole vocabulary. Every supporting shape derives from the mark.</a:t>
            </a:r>
            <a:endParaRPr lang="en-US" sz="1500" dirty="0"/>
          </a:p>
        </p:txBody>
      </p:sp>
      <p:sp>
        <p:nvSpPr>
          <p:cNvPr id="5" name="Shape 3"/>
          <p:cNvSpPr/>
          <p:nvPr/>
        </p:nvSpPr>
        <p:spPr>
          <a:xfrm>
            <a:off x="812800" y="4566444"/>
            <a:ext cx="4064000" cy="0"/>
          </a:xfrm>
          <a:prstGeom prst="line">
            <a:avLst/>
          </a:prstGeom>
          <a:noFill/>
          <a:ln w="6350">
            <a:solidFill>
              <a:srgbClr val="BCACA7"/>
            </a:solidFill>
            <a:prstDash val="solid"/>
          </a:ln>
        </p:spPr>
        <p:txBody>
          <a:bodyPr/>
          <a:p/>
        </p:txBody>
      </p:sp>
      <p:sp>
        <p:nvSpPr>
          <p:cNvPr id="6" name="Text 4"/>
          <p:cNvSpPr/>
          <p:nvPr/>
        </p:nvSpPr>
        <p:spPr>
          <a:xfrm>
            <a:off x="812800" y="4696619"/>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7" name="Text 5"/>
          <p:cNvSpPr/>
          <p:nvPr/>
        </p:nvSpPr>
        <p:spPr>
          <a:xfrm>
            <a:off x="812800" y="5011539"/>
            <a:ext cx="41859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No borrowed shapes. If it is not ring, arc, quarter or spark, it is not a GEM device.</a:t>
            </a:r>
            <a:endParaRPr lang="en-US" sz="1400" dirty="0"/>
          </a:p>
        </p:txBody>
      </p:sp>
      <p:sp>
        <p:nvSpPr>
          <p:cNvPr id="8" name="Text 6"/>
          <p:cNvSpPr/>
          <p:nvPr/>
        </p:nvSpPr>
        <p:spPr>
          <a:xfrm>
            <a:off x="812800" y="56286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Schematic of the vocabulary. Not the master artwork.</a:t>
            </a:r>
            <a:endParaRPr lang="en-US" sz="1200" dirty="0"/>
          </a:p>
        </p:txBody>
      </p:sp>
      <p:pic>
        <p:nvPicPr>
          <p:cNvPr id="9" name="Image 0" descr="Schematic of the four device forms: ring, opening arc, quarter mass and four-point spark. Not the master artwork." title="Schematic of the four device forms: ring, opening arc, quart">    </p:cNvPr>
          <p:cNvPicPr>
            <a:picLocks noChangeAspect="1"/>
          </p:cNvPicPr>
          <p:nvPr/>
        </p:nvPicPr>
        <p:blipFill>
          <a:blip r:embed="rId1"/>
          <a:srcRect l="0" r="0" t="0" b="0"/>
          <a:stretch/>
        </p:blipFill>
        <p:spPr>
          <a:xfrm>
            <a:off x="5283200" y="812800"/>
            <a:ext cx="5892800" cy="5232400"/>
          </a:xfrm>
          <a:prstGeom prst="rect">
            <a:avLst/>
          </a:prstGeom>
        </p:spPr>
      </p:pic>
      <p:sp>
        <p:nvSpPr>
          <p:cNvPr id="10" name="Text 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1"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71D"/>
        </a:solidFill>
      </p:bgPr>
    </p:bg>
    <p:spTree>
      <p:nvGrpSpPr>
        <p:cNvPr id="1" name=""/>
        <p:cNvGrpSpPr/>
        <p:nvPr/>
      </p:nvGrpSpPr>
      <p:grpSpPr>
        <a:xfrm>
          <a:off x="0" y="0"/>
          <a:ext cx="0" cy="0"/>
          <a:chOff x="0" y="0"/>
          <a:chExt cx="0" cy="0"/>
        </a:xfrm>
      </p:grpSpPr>
      <p:pic>
        <p:nvPicPr>
          <p:cNvPr id="2" name="Image 0" descr="Rendered reference study: a lit doorway threshold in a dark field. Concept, not production photography." title="Rendered reference study: a lit doorway threshold in a dark ">    </p:cNvPr>
          <p:cNvPicPr>
            <a:picLocks noChangeAspect="1"/>
          </p:cNvPicPr>
          <p:nvPr/>
        </p:nvPicPr>
        <p:blipFill>
          <a:blip r:embed="rId1"/>
          <a:srcRect l="0" r="0" t="5000" b="5000"/>
          <a:stretch/>
        </p:blipFill>
        <p:spPr>
          <a:xfrm>
            <a:off x="0" y="0"/>
            <a:ext cx="12192000" cy="6858000"/>
          </a:xfrm>
          <a:prstGeom prst="rect">
            <a:avLst/>
          </a:prstGeom>
        </p:spPr>
      </p:pic>
      <p:sp>
        <p:nvSpPr>
          <p:cNvPr id="3" name="Text 0"/>
          <p:cNvSpPr/>
          <p:nvPr/>
        </p:nvSpPr>
        <p:spPr>
          <a:xfrm>
            <a:off x="812800" y="812800"/>
            <a:ext cx="39243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PRINCIPLE 04</a:t>
            </a:r>
            <a:endParaRPr lang="en-US" sz="1400" dirty="0"/>
          </a:p>
        </p:txBody>
      </p:sp>
      <p:sp>
        <p:nvSpPr>
          <p:cNvPr id="4" name="Text 1"/>
          <p:cNvSpPr/>
          <p:nvPr>
            <p:ph type="title"/>
          </p:nvPr>
        </p:nvSpPr>
        <p:spPr>
          <a:xfrm>
            <a:off x="812800" y="2667000"/>
            <a:ext cx="4055110"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FFFFFF"/>
                </a:solidFill>
                <a:latin typeface="Jost" pitchFamily="34" charset="0"/>
                <a:ea typeface="Jost" pitchFamily="34" charset="-122"/>
                <a:cs typeface="Jost" pitchFamily="34" charset="-120"/>
              </a:rPr>
              <a:t>SPACE IS PART OF THE IDENTITY</a:t>
            </a:r>
            <a:endParaRPr lang="en-US" sz="3400" dirty="0"/>
          </a:p>
        </p:txBody>
      </p:sp>
      <p:sp>
        <p:nvSpPr>
          <p:cNvPr id="5" name="Text 2"/>
          <p:cNvSpPr/>
          <p:nvPr/>
        </p:nvSpPr>
        <p:spPr>
          <a:xfrm>
            <a:off x="812800" y="4445000"/>
            <a:ext cx="379349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FFFFF"/>
                </a:solidFill>
                <a:latin typeface="Inter" pitchFamily="34" charset="0"/>
                <a:ea typeface="Inter" pitchFamily="34" charset="-122"/>
                <a:cs typeface="Inter" pitchFamily="34" charset="-120"/>
              </a:rPr>
              <a:t>Rule: protect the empty field. Clearspace is not left over; it is designed.</a:t>
            </a:r>
            <a:endParaRPr lang="en-US" sz="15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POSITIONING</a:t>
            </a:r>
            <a:endParaRPr lang="en-US" sz="1200" dirty="0"/>
          </a:p>
        </p:txBody>
      </p:sp>
      <p:sp>
        <p:nvSpPr>
          <p:cNvPr id="3" name="Text 1"/>
          <p:cNvSpPr/>
          <p:nvPr/>
        </p:nvSpPr>
        <p:spPr>
          <a:xfrm>
            <a:off x="812800" y="1254720"/>
            <a:ext cx="4813808" cy="52829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12171D"/>
                </a:solidFill>
                <a:latin typeface="Jost" pitchFamily="34" charset="0"/>
                <a:ea typeface="Jost" pitchFamily="34" charset="-122"/>
                <a:cs typeface="Jost" pitchFamily="34" charset="-120"/>
              </a:rPr>
              <a:t>GEM IS</a:t>
            </a:r>
            <a:endParaRPr lang="en-US" sz="3600" dirty="0"/>
          </a:p>
        </p:txBody>
      </p:sp>
      <p:sp>
        <p:nvSpPr>
          <p:cNvPr id="4" name="Shape 2"/>
          <p:cNvSpPr/>
          <p:nvPr/>
        </p:nvSpPr>
        <p:spPr>
          <a:xfrm>
            <a:off x="812800" y="1989386"/>
            <a:ext cx="4673600" cy="0"/>
          </a:xfrm>
          <a:prstGeom prst="line">
            <a:avLst/>
          </a:prstGeom>
          <a:noFill/>
          <a:ln w="6350">
            <a:solidFill>
              <a:srgbClr val="BCACA7"/>
            </a:solidFill>
            <a:prstDash val="solid"/>
          </a:ln>
        </p:spPr>
        <p:txBody>
          <a:bodyPr/>
          <a:p/>
        </p:txBody>
      </p:sp>
      <p:sp>
        <p:nvSpPr>
          <p:cNvPr id="5" name="Text 3"/>
          <p:cNvSpPr/>
          <p:nvPr/>
        </p:nvSpPr>
        <p:spPr>
          <a:xfrm>
            <a:off x="812800" y="211956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A hospitality supplier and partner.</a:t>
            </a:r>
            <a:endParaRPr lang="en-US" sz="1600" dirty="0"/>
          </a:p>
        </p:txBody>
      </p:sp>
      <p:sp>
        <p:nvSpPr>
          <p:cNvPr id="6" name="Shape 4"/>
          <p:cNvSpPr/>
          <p:nvPr/>
        </p:nvSpPr>
        <p:spPr>
          <a:xfrm>
            <a:off x="812800" y="2635796"/>
            <a:ext cx="4673600" cy="0"/>
          </a:xfrm>
          <a:prstGeom prst="line">
            <a:avLst/>
          </a:prstGeom>
          <a:noFill/>
          <a:ln w="6350">
            <a:solidFill>
              <a:srgbClr val="BCACA7"/>
            </a:solidFill>
            <a:prstDash val="solid"/>
          </a:ln>
        </p:spPr>
        <p:txBody>
          <a:bodyPr/>
          <a:p/>
        </p:txBody>
      </p:sp>
      <p:sp>
        <p:nvSpPr>
          <p:cNvPr id="7" name="Text 5"/>
          <p:cNvSpPr/>
          <p:nvPr/>
        </p:nvSpPr>
        <p:spPr>
          <a:xfrm>
            <a:off x="812800" y="2765971"/>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One master brand, applied the same way everywhere.</a:t>
            </a:r>
            <a:endParaRPr lang="en-US" sz="1600" dirty="0"/>
          </a:p>
        </p:txBody>
      </p:sp>
      <p:sp>
        <p:nvSpPr>
          <p:cNvPr id="8" name="Shape 6"/>
          <p:cNvSpPr/>
          <p:nvPr/>
        </p:nvSpPr>
        <p:spPr>
          <a:xfrm>
            <a:off x="812800" y="3566666"/>
            <a:ext cx="4673600" cy="0"/>
          </a:xfrm>
          <a:prstGeom prst="line">
            <a:avLst/>
          </a:prstGeom>
          <a:noFill/>
          <a:ln w="6350">
            <a:solidFill>
              <a:srgbClr val="BCACA7"/>
            </a:solidFill>
            <a:prstDash val="solid"/>
          </a:ln>
        </p:spPr>
        <p:txBody>
          <a:bodyPr/>
          <a:p/>
        </p:txBody>
      </p:sp>
      <p:sp>
        <p:nvSpPr>
          <p:cNvPr id="9" name="Text 7"/>
          <p:cNvSpPr/>
          <p:nvPr/>
        </p:nvSpPr>
        <p:spPr>
          <a:xfrm>
            <a:off x="812800" y="369684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Precise, restrained and specific in what it says.</a:t>
            </a:r>
            <a:endParaRPr lang="en-US" sz="1600" dirty="0"/>
          </a:p>
        </p:txBody>
      </p:sp>
      <p:sp>
        <p:nvSpPr>
          <p:cNvPr id="10" name="Shape 8"/>
          <p:cNvSpPr/>
          <p:nvPr/>
        </p:nvSpPr>
        <p:spPr>
          <a:xfrm>
            <a:off x="812800" y="4213076"/>
            <a:ext cx="4673600" cy="0"/>
          </a:xfrm>
          <a:prstGeom prst="line">
            <a:avLst/>
          </a:prstGeom>
          <a:noFill/>
          <a:ln w="6350">
            <a:solidFill>
              <a:srgbClr val="BCACA7"/>
            </a:solidFill>
            <a:prstDash val="solid"/>
          </a:ln>
        </p:spPr>
        <p:txBody>
          <a:bodyPr/>
          <a:p/>
        </p:txBody>
      </p:sp>
      <p:sp>
        <p:nvSpPr>
          <p:cNvPr id="11" name="Text 9"/>
          <p:cNvSpPr/>
          <p:nvPr/>
        </p:nvSpPr>
        <p:spPr>
          <a:xfrm>
            <a:off x="812800" y="434325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Bilingual by design for Saudi/GCC hospitality.</a:t>
            </a:r>
            <a:endParaRPr lang="en-US" sz="1600" dirty="0"/>
          </a:p>
        </p:txBody>
      </p:sp>
      <p:sp>
        <p:nvSpPr>
          <p:cNvPr id="12" name="Shape 10"/>
          <p:cNvSpPr/>
          <p:nvPr/>
        </p:nvSpPr>
        <p:spPr>
          <a:xfrm>
            <a:off x="6096000" y="0"/>
            <a:ext cx="6096000" cy="6858000"/>
          </a:xfrm>
          <a:prstGeom prst="rect">
            <a:avLst/>
          </a:prstGeom>
          <a:solidFill>
            <a:srgbClr val="12171D"/>
          </a:solidFill>
          <a:ln/>
        </p:spPr>
        <p:txBody>
          <a:bodyPr/>
          <a:p/>
        </p:txBody>
      </p:sp>
      <p:sp>
        <p:nvSpPr>
          <p:cNvPr id="13" name="Text 11"/>
          <p:cNvSpPr/>
          <p:nvPr/>
        </p:nvSpPr>
        <p:spPr>
          <a:xfrm>
            <a:off x="67056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AND</a:t>
            </a:r>
            <a:endParaRPr lang="en-US" sz="1200" dirty="0"/>
          </a:p>
        </p:txBody>
      </p:sp>
      <p:sp>
        <p:nvSpPr>
          <p:cNvPr id="14" name="Text 12"/>
          <p:cNvSpPr/>
          <p:nvPr/>
        </p:nvSpPr>
        <p:spPr>
          <a:xfrm>
            <a:off x="6705600" y="1254720"/>
            <a:ext cx="4813808" cy="52829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FFFFFF"/>
                </a:solidFill>
                <a:latin typeface="Jost" pitchFamily="34" charset="0"/>
                <a:ea typeface="Jost" pitchFamily="34" charset="-122"/>
                <a:cs typeface="Jost" pitchFamily="34" charset="-120"/>
              </a:rPr>
              <a:t>GEM IS NOT</a:t>
            </a:r>
            <a:endParaRPr lang="en-US" sz="3600" dirty="0"/>
          </a:p>
        </p:txBody>
      </p:sp>
      <p:sp>
        <p:nvSpPr>
          <p:cNvPr id="15" name="Shape 13"/>
          <p:cNvSpPr/>
          <p:nvPr/>
        </p:nvSpPr>
        <p:spPr>
          <a:xfrm>
            <a:off x="6705600" y="1989386"/>
            <a:ext cx="4673600" cy="0"/>
          </a:xfrm>
          <a:prstGeom prst="line">
            <a:avLst/>
          </a:prstGeom>
          <a:noFill/>
          <a:ln w="6350">
            <a:solidFill>
              <a:srgbClr val="BCACA7"/>
            </a:solidFill>
            <a:prstDash val="solid"/>
          </a:ln>
        </p:spPr>
        <p:txBody>
          <a:bodyPr/>
          <a:p/>
        </p:txBody>
      </p:sp>
      <p:sp>
        <p:nvSpPr>
          <p:cNvPr id="16" name="Text 14"/>
          <p:cNvSpPr/>
          <p:nvPr/>
        </p:nvSpPr>
        <p:spPr>
          <a:xfrm>
            <a:off x="6705600" y="211956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hotel operator.</a:t>
            </a:r>
            <a:endParaRPr lang="en-US" sz="1600" dirty="0"/>
          </a:p>
        </p:txBody>
      </p:sp>
      <p:sp>
        <p:nvSpPr>
          <p:cNvPr id="17" name="Shape 15"/>
          <p:cNvSpPr/>
          <p:nvPr/>
        </p:nvSpPr>
        <p:spPr>
          <a:xfrm>
            <a:off x="6705600" y="2635796"/>
            <a:ext cx="4673600" cy="0"/>
          </a:xfrm>
          <a:prstGeom prst="line">
            <a:avLst/>
          </a:prstGeom>
          <a:noFill/>
          <a:ln w="6350">
            <a:solidFill>
              <a:srgbClr val="BCACA7"/>
            </a:solidFill>
            <a:prstDash val="solid"/>
          </a:ln>
        </p:spPr>
        <p:txBody>
          <a:bodyPr/>
          <a:p/>
        </p:txBody>
      </p:sp>
      <p:sp>
        <p:nvSpPr>
          <p:cNvPr id="18" name="Text 16"/>
          <p:cNvSpPr/>
          <p:nvPr/>
        </p:nvSpPr>
        <p:spPr>
          <a:xfrm>
            <a:off x="6705600" y="276597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decorative luxury brand.</a:t>
            </a:r>
            <a:endParaRPr lang="en-US" sz="1600" dirty="0"/>
          </a:p>
        </p:txBody>
      </p:sp>
      <p:sp>
        <p:nvSpPr>
          <p:cNvPr id="19" name="Shape 17"/>
          <p:cNvSpPr/>
          <p:nvPr/>
        </p:nvSpPr>
        <p:spPr>
          <a:xfrm>
            <a:off x="6705600" y="3282206"/>
            <a:ext cx="4673600" cy="0"/>
          </a:xfrm>
          <a:prstGeom prst="line">
            <a:avLst/>
          </a:prstGeom>
          <a:noFill/>
          <a:ln w="6350">
            <a:solidFill>
              <a:srgbClr val="BCACA7"/>
            </a:solidFill>
            <a:prstDash val="solid"/>
          </a:ln>
        </p:spPr>
        <p:txBody>
          <a:bodyPr/>
          <a:p/>
        </p:txBody>
      </p:sp>
      <p:sp>
        <p:nvSpPr>
          <p:cNvPr id="20" name="Text 18"/>
          <p:cNvSpPr/>
          <p:nvPr/>
        </p:nvSpPr>
        <p:spPr>
          <a:xfrm>
            <a:off x="6705600" y="341238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family of separate sub-brands.</a:t>
            </a:r>
            <a:endParaRPr lang="en-US" sz="1600" dirty="0"/>
          </a:p>
        </p:txBody>
      </p:sp>
      <p:sp>
        <p:nvSpPr>
          <p:cNvPr id="21" name="Shape 19"/>
          <p:cNvSpPr/>
          <p:nvPr/>
        </p:nvSpPr>
        <p:spPr>
          <a:xfrm>
            <a:off x="6705600" y="3928616"/>
            <a:ext cx="4673600" cy="0"/>
          </a:xfrm>
          <a:prstGeom prst="line">
            <a:avLst/>
          </a:prstGeom>
          <a:noFill/>
          <a:ln w="6350">
            <a:solidFill>
              <a:srgbClr val="BCACA7"/>
            </a:solidFill>
            <a:prstDash val="solid"/>
          </a:ln>
        </p:spPr>
        <p:txBody>
          <a:bodyPr/>
          <a:p/>
        </p:txBody>
      </p:sp>
      <p:sp>
        <p:nvSpPr>
          <p:cNvPr id="22" name="Text 20"/>
          <p:cNvSpPr/>
          <p:nvPr/>
        </p:nvSpPr>
        <p:spPr>
          <a:xfrm>
            <a:off x="6705600" y="405879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source of unverified claims.</a:t>
            </a:r>
            <a:endParaRPr lang="en-US" sz="1600" dirty="0"/>
          </a:p>
        </p:txBody>
      </p:sp>
      <p:sp>
        <p:nvSpPr>
          <p:cNvPr id="23" name="Text 21"/>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ROLE IN HOSPITALITY</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The calm of things being right.</a:t>
            </a:r>
            <a:endParaRPr lang="en-US" sz="3600" dirty="0"/>
          </a:p>
        </p:txBody>
      </p:sp>
      <p:sp>
        <p:nvSpPr>
          <p:cNvPr id="4" name="Shape 2"/>
          <p:cNvSpPr/>
          <p:nvPr/>
        </p:nvSpPr>
        <p:spPr>
          <a:xfrm>
            <a:off x="812800" y="2046536"/>
            <a:ext cx="3318917" cy="0"/>
          </a:xfrm>
          <a:prstGeom prst="line">
            <a:avLst/>
          </a:prstGeom>
          <a:noFill/>
          <a:ln w="19050">
            <a:solidFill>
              <a:srgbClr val="12171D"/>
            </a:solidFill>
            <a:prstDash val="solid"/>
          </a:ln>
        </p:spPr>
        <p:txBody>
          <a:bodyPr/>
          <a:p/>
        </p:txBody>
      </p:sp>
      <p:sp>
        <p:nvSpPr>
          <p:cNvPr id="5" name="Text 3"/>
          <p:cNvSpPr/>
          <p:nvPr/>
        </p:nvSpPr>
        <p:spPr>
          <a:xfrm>
            <a:off x="812800" y="223386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EMOTIONAL PROMISE</a:t>
            </a:r>
            <a:endParaRPr lang="en-US" sz="1200" dirty="0"/>
          </a:p>
        </p:txBody>
      </p:sp>
      <p:sp>
        <p:nvSpPr>
          <p:cNvPr id="6" name="Text 4"/>
          <p:cNvSpPr/>
          <p:nvPr/>
        </p:nvSpPr>
        <p:spPr>
          <a:xfrm>
            <a:off x="812800" y="2574181"/>
            <a:ext cx="3418484" cy="69592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Guests feel looked after without being told.</a:t>
            </a:r>
            <a:endParaRPr lang="en-US" sz="2200" dirty="0"/>
          </a:p>
        </p:txBody>
      </p:sp>
      <p:sp>
        <p:nvSpPr>
          <p:cNvPr id="7" name="Shape 5"/>
          <p:cNvSpPr/>
          <p:nvPr/>
        </p:nvSpPr>
        <p:spPr>
          <a:xfrm>
            <a:off x="4436517" y="2046536"/>
            <a:ext cx="3318966" cy="0"/>
          </a:xfrm>
          <a:prstGeom prst="line">
            <a:avLst/>
          </a:prstGeom>
          <a:noFill/>
          <a:ln w="19050">
            <a:solidFill>
              <a:srgbClr val="12171D"/>
            </a:solidFill>
            <a:prstDash val="solid"/>
          </a:ln>
        </p:spPr>
        <p:txBody>
          <a:bodyPr/>
          <a:p/>
        </p:txBody>
      </p:sp>
      <p:sp>
        <p:nvSpPr>
          <p:cNvPr id="8" name="Text 6"/>
          <p:cNvSpPr/>
          <p:nvPr/>
        </p:nvSpPr>
        <p:spPr>
          <a:xfrm>
            <a:off x="4436517" y="2233861"/>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FUNCTIONAL VALUE</a:t>
            </a:r>
            <a:endParaRPr lang="en-US" sz="1200" dirty="0"/>
          </a:p>
        </p:txBody>
      </p:sp>
      <p:sp>
        <p:nvSpPr>
          <p:cNvPr id="9" name="Text 7"/>
          <p:cNvSpPr/>
          <p:nvPr/>
        </p:nvSpPr>
        <p:spPr>
          <a:xfrm>
            <a:off x="4436517" y="2574181"/>
            <a:ext cx="3418535" cy="10311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One coherent identity across objects, language and space.</a:t>
            </a:r>
            <a:endParaRPr lang="en-US" sz="2200" dirty="0"/>
          </a:p>
        </p:txBody>
      </p:sp>
      <p:sp>
        <p:nvSpPr>
          <p:cNvPr id="10" name="Shape 8"/>
          <p:cNvSpPr/>
          <p:nvPr/>
        </p:nvSpPr>
        <p:spPr>
          <a:xfrm>
            <a:off x="8060283" y="2046536"/>
            <a:ext cx="3318917" cy="0"/>
          </a:xfrm>
          <a:prstGeom prst="line">
            <a:avLst/>
          </a:prstGeom>
          <a:noFill/>
          <a:ln w="19050">
            <a:solidFill>
              <a:srgbClr val="12171D"/>
            </a:solidFill>
            <a:prstDash val="solid"/>
          </a:ln>
        </p:spPr>
        <p:txBody>
          <a:bodyPr/>
          <a:p/>
        </p:txBody>
      </p:sp>
      <p:sp>
        <p:nvSpPr>
          <p:cNvPr id="11" name="Text 9"/>
          <p:cNvSpPr/>
          <p:nvPr/>
        </p:nvSpPr>
        <p:spPr>
          <a:xfrm>
            <a:off x="8060283" y="223386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MARKET ROLE</a:t>
            </a:r>
            <a:endParaRPr lang="en-US" sz="1200" dirty="0"/>
          </a:p>
        </p:txBody>
      </p:sp>
      <p:sp>
        <p:nvSpPr>
          <p:cNvPr id="12" name="Text 10"/>
          <p:cNvSpPr/>
          <p:nvPr/>
        </p:nvSpPr>
        <p:spPr>
          <a:xfrm>
            <a:off x="8060283" y="2574181"/>
            <a:ext cx="3418484" cy="10311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Supplier and partner to those who run and build hospitality.</a:t>
            </a:r>
            <a:endParaRPr lang="en-US" sz="2200" dirty="0"/>
          </a:p>
        </p:txBody>
      </p:sp>
      <p:sp>
        <p:nvSpPr>
          <p:cNvPr id="13" name="Text 11"/>
          <p:cNvSpPr/>
          <p:nvPr/>
        </p:nvSpPr>
        <p:spPr>
          <a:xfrm>
            <a:off x="812800" y="5363270"/>
            <a:ext cx="85026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Commercial scope, capabilities and proof points are CONDITIONAL until commercial validation closes (VAL-01). No capability is claimed in this manual.</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AUDIENCES</a:t>
            </a:r>
            <a:endParaRPr lang="en-US" sz="1200" dirty="0"/>
          </a:p>
        </p:txBody>
      </p:sp>
      <p:sp>
        <p:nvSpPr>
          <p:cNvPr id="3" name="Text 1"/>
          <p:cNvSpPr/>
          <p:nvPr>
            <p:ph type="title"/>
          </p:nvPr>
        </p:nvSpPr>
        <p:spPr>
          <a:xfrm>
            <a:off x="812800" y="1203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FFFFFF"/>
                </a:solidFill>
                <a:latin typeface="Jost" pitchFamily="34" charset="0"/>
                <a:ea typeface="Jost" pitchFamily="34" charset="-122"/>
                <a:cs typeface="Jost" pitchFamily="34" charset="-120"/>
              </a:rPr>
              <a:t>Five audiences. One personality.</a:t>
            </a:r>
            <a:endParaRPr lang="en-US" sz="3600" dirty="0"/>
          </a:p>
        </p:txBody>
      </p:sp>
      <p:sp>
        <p:nvSpPr>
          <p:cNvPr id="4" name="Shape 2"/>
          <p:cNvSpPr/>
          <p:nvPr/>
        </p:nvSpPr>
        <p:spPr>
          <a:xfrm>
            <a:off x="812800" y="4401245"/>
            <a:ext cx="1950690" cy="0"/>
          </a:xfrm>
          <a:prstGeom prst="line">
            <a:avLst/>
          </a:prstGeom>
          <a:noFill/>
          <a:ln w="19050">
            <a:solidFill>
              <a:srgbClr val="BCACA7"/>
            </a:solidFill>
            <a:prstDash val="solid"/>
          </a:ln>
        </p:spPr>
        <p:txBody>
          <a:bodyPr/>
          <a:p/>
        </p:txBody>
      </p:sp>
      <p:sp>
        <p:nvSpPr>
          <p:cNvPr id="5" name="Text 3"/>
          <p:cNvSpPr/>
          <p:nvPr/>
        </p:nvSpPr>
        <p:spPr>
          <a:xfrm>
            <a:off x="812800" y="4563170"/>
            <a:ext cx="2009211"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GUEST</a:t>
            </a:r>
            <a:endParaRPr lang="en-US" sz="2000" dirty="0"/>
          </a:p>
        </p:txBody>
      </p:sp>
      <p:sp>
        <p:nvSpPr>
          <p:cNvPr id="6" name="Text 4"/>
          <p:cNvSpPr/>
          <p:nvPr/>
        </p:nvSpPr>
        <p:spPr>
          <a:xfrm>
            <a:off x="812800" y="5007670"/>
            <a:ext cx="2009211"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to feel welcome and unhurried.</a:t>
            </a:r>
            <a:endParaRPr lang="en-US" sz="1300" dirty="0"/>
          </a:p>
        </p:txBody>
      </p:sp>
      <p:sp>
        <p:nvSpPr>
          <p:cNvPr id="7" name="Shape 5"/>
          <p:cNvSpPr/>
          <p:nvPr/>
        </p:nvSpPr>
        <p:spPr>
          <a:xfrm>
            <a:off x="2966690" y="4401245"/>
            <a:ext cx="1950740" cy="0"/>
          </a:xfrm>
          <a:prstGeom prst="line">
            <a:avLst/>
          </a:prstGeom>
          <a:noFill/>
          <a:ln w="19050">
            <a:solidFill>
              <a:srgbClr val="BCACA7"/>
            </a:solidFill>
            <a:prstDash val="solid"/>
          </a:ln>
        </p:spPr>
        <p:txBody>
          <a:bodyPr/>
          <a:p/>
        </p:txBody>
      </p:sp>
      <p:sp>
        <p:nvSpPr>
          <p:cNvPr id="8" name="Text 6"/>
          <p:cNvSpPr/>
          <p:nvPr/>
        </p:nvSpPr>
        <p:spPr>
          <a:xfrm>
            <a:off x="2966690" y="4563170"/>
            <a:ext cx="2009262"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PROCUREMENT</a:t>
            </a:r>
            <a:endParaRPr lang="en-US" sz="2000" dirty="0"/>
          </a:p>
        </p:txBody>
      </p:sp>
      <p:sp>
        <p:nvSpPr>
          <p:cNvPr id="9" name="Text 7"/>
          <p:cNvSpPr/>
          <p:nvPr/>
        </p:nvSpPr>
        <p:spPr>
          <a:xfrm>
            <a:off x="2966690" y="5007670"/>
            <a:ext cx="20092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specification and certainty.</a:t>
            </a:r>
            <a:endParaRPr lang="en-US" sz="1300" dirty="0"/>
          </a:p>
        </p:txBody>
      </p:sp>
      <p:sp>
        <p:nvSpPr>
          <p:cNvPr id="10" name="Shape 8"/>
          <p:cNvSpPr/>
          <p:nvPr/>
        </p:nvSpPr>
        <p:spPr>
          <a:xfrm>
            <a:off x="5120630" y="4401245"/>
            <a:ext cx="1950690" cy="0"/>
          </a:xfrm>
          <a:prstGeom prst="line">
            <a:avLst/>
          </a:prstGeom>
          <a:noFill/>
          <a:ln w="19050">
            <a:solidFill>
              <a:srgbClr val="BCACA7"/>
            </a:solidFill>
            <a:prstDash val="solid"/>
          </a:ln>
        </p:spPr>
        <p:txBody>
          <a:bodyPr/>
          <a:p/>
        </p:txBody>
      </p:sp>
      <p:sp>
        <p:nvSpPr>
          <p:cNvPr id="11" name="Text 9"/>
          <p:cNvSpPr/>
          <p:nvPr/>
        </p:nvSpPr>
        <p:spPr>
          <a:xfrm>
            <a:off x="5120630" y="4563170"/>
            <a:ext cx="2009211"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OPERATIONS</a:t>
            </a:r>
            <a:endParaRPr lang="en-US" sz="2000" dirty="0"/>
          </a:p>
        </p:txBody>
      </p:sp>
      <p:sp>
        <p:nvSpPr>
          <p:cNvPr id="12" name="Text 10"/>
          <p:cNvSpPr/>
          <p:nvPr/>
        </p:nvSpPr>
        <p:spPr>
          <a:xfrm>
            <a:off x="5120630" y="5007670"/>
            <a:ext cx="2009211"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clarity it can repeat daily.</a:t>
            </a:r>
            <a:endParaRPr lang="en-US" sz="1300" dirty="0"/>
          </a:p>
        </p:txBody>
      </p:sp>
      <p:sp>
        <p:nvSpPr>
          <p:cNvPr id="13" name="Shape 11"/>
          <p:cNvSpPr/>
          <p:nvPr/>
        </p:nvSpPr>
        <p:spPr>
          <a:xfrm>
            <a:off x="7274520" y="4401245"/>
            <a:ext cx="1950740" cy="0"/>
          </a:xfrm>
          <a:prstGeom prst="line">
            <a:avLst/>
          </a:prstGeom>
          <a:noFill/>
          <a:ln w="19050">
            <a:solidFill>
              <a:srgbClr val="BCACA7"/>
            </a:solidFill>
            <a:prstDash val="solid"/>
          </a:ln>
        </p:spPr>
        <p:txBody>
          <a:bodyPr/>
          <a:p/>
        </p:txBody>
      </p:sp>
      <p:sp>
        <p:nvSpPr>
          <p:cNvPr id="14" name="Text 12"/>
          <p:cNvSpPr/>
          <p:nvPr/>
        </p:nvSpPr>
        <p:spPr>
          <a:xfrm>
            <a:off x="7274520" y="4563170"/>
            <a:ext cx="2009262" cy="7366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BRAND &amp; DESIGN</a:t>
            </a:r>
            <a:endParaRPr lang="en-US" sz="2000" dirty="0"/>
          </a:p>
        </p:txBody>
      </p:sp>
      <p:sp>
        <p:nvSpPr>
          <p:cNvPr id="15" name="Text 13"/>
          <p:cNvSpPr/>
          <p:nvPr/>
        </p:nvSpPr>
        <p:spPr>
          <a:xfrm>
            <a:off x="7274520" y="5363270"/>
            <a:ext cx="20092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rules it can apply without guessing.</a:t>
            </a:r>
            <a:endParaRPr lang="en-US" sz="1300" dirty="0"/>
          </a:p>
        </p:txBody>
      </p:sp>
      <p:sp>
        <p:nvSpPr>
          <p:cNvPr id="16" name="Shape 14"/>
          <p:cNvSpPr/>
          <p:nvPr/>
        </p:nvSpPr>
        <p:spPr>
          <a:xfrm>
            <a:off x="9428460" y="4401245"/>
            <a:ext cx="1950740" cy="0"/>
          </a:xfrm>
          <a:prstGeom prst="line">
            <a:avLst/>
          </a:prstGeom>
          <a:noFill/>
          <a:ln w="19050">
            <a:solidFill>
              <a:srgbClr val="BCACA7"/>
            </a:solidFill>
            <a:prstDash val="solid"/>
          </a:ln>
        </p:spPr>
        <p:txBody>
          <a:bodyPr/>
          <a:p/>
        </p:txBody>
      </p:sp>
      <p:sp>
        <p:nvSpPr>
          <p:cNvPr id="17" name="Text 15"/>
          <p:cNvSpPr/>
          <p:nvPr/>
        </p:nvSpPr>
        <p:spPr>
          <a:xfrm>
            <a:off x="9428460" y="4563170"/>
            <a:ext cx="2009262"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OWNERS</a:t>
            </a:r>
            <a:endParaRPr lang="en-US" sz="2000" dirty="0"/>
          </a:p>
        </p:txBody>
      </p:sp>
      <p:sp>
        <p:nvSpPr>
          <p:cNvPr id="18" name="Text 16"/>
          <p:cNvSpPr/>
          <p:nvPr/>
        </p:nvSpPr>
        <p:spPr>
          <a:xfrm>
            <a:off x="9428460" y="5007670"/>
            <a:ext cx="2009262"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a standard that scales across properties.</a:t>
            </a:r>
            <a:endParaRPr lang="en-US" sz="13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BRAND</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ONE PERSONALITY, FIVE REGISTERS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The voice adjusts its detail, never its character.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050"/>
          <a:ext cx="10553700" cy="2476500"/>
        </p:xfrm>
        <a:graphic>
          <a:graphicData uri="http://schemas.openxmlformats.org/drawingml/2006/table">
            <a:tbl>
              <a:tblPr/>
              <a:tblGrid>
                <a:gridCol w="2532888"/>
                <a:gridCol w="8020812"/>
              </a:tblGrid>
              <a:tr h="412750">
                <a:tc>
                  <a:txBody>
                    <a:bodyPr/>
                    <a:lstStyle/>
                    <a:p>
                      <a:pPr indent="0" marL="0">
                        <a:lnSpc>
                          <a:spcPts val="2100"/>
                        </a:lnSpc>
                        <a:buNone/>
                      </a:pPr>
                      <a:r>
                        <a:rPr lang="en-US" sz="1500" b="1" dirty="0">
                          <a:solidFill>
                            <a:srgbClr val="12171D"/>
                          </a:solidFill>
                          <a:latin typeface="Inter" pitchFamily="34" charset="0"/>
                          <a:ea typeface="Inter" pitchFamily="34" charset="-122"/>
                          <a:cs typeface="Inter" pitchFamily="34" charset="-120"/>
                        </a:rPr>
                        <a:t>Audience</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12171D"/>
                          </a:solidFill>
                          <a:latin typeface="Inter" pitchFamily="34" charset="0"/>
                          <a:ea typeface="Inter" pitchFamily="34" charset="-122"/>
                          <a:cs typeface="Inter" pitchFamily="34" charset="-120"/>
                        </a:rPr>
                        <a:t>How GEM says it</a:t>
                      </a:r>
                      <a:endParaRPr lang="en-US" sz="1500" dirty="0">
                        <a:latin typeface="Inter" charset="0"/>
                        <a:ea typeface="Inter" charset="0"/>
                        <a:cs typeface="Inter"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Guest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Your room is ready. Take your time.</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Procurement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Name, size and artwork version are stated on every sheet.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Operations</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One reference for every item. Nothing to interpret.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Brand and design</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Use the approved artwork. Check the status before you send.</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Owners and developers</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One identity, applied the same way in every property.</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6481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Illustrative lines written for this manual, not approved campaign copy.</a:t>
            </a:r>
            <a:endParaRPr lang="en-US" sz="12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BRAND ARCHITECTURE</a:t>
            </a:r>
            <a:endParaRPr lang="en-US" sz="1200" dirty="0"/>
          </a:p>
        </p:txBody>
      </p:sp>
      <p:sp>
        <p:nvSpPr>
          <p:cNvPr id="3" name="Text 1"/>
          <p:cNvSpPr/>
          <p:nvPr>
            <p:ph type="title"/>
          </p:nvPr>
        </p:nvSpPr>
        <p:spPr>
          <a:xfrm>
            <a:off x="812800" y="1229320"/>
            <a:ext cx="6069584" cy="103118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One master brand. Streams are described, not branded.</a:t>
            </a:r>
            <a:endParaRPr lang="en-US" sz="3600" dirty="0"/>
          </a:p>
        </p:txBody>
      </p:sp>
      <p:sp>
        <p:nvSpPr>
          <p:cNvPr id="4" name="Text 2"/>
          <p:cNvSpPr/>
          <p:nvPr/>
        </p:nvSpPr>
        <p:spPr>
          <a:xfrm>
            <a:off x="812800" y="4984750"/>
            <a:ext cx="6069584"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Amenities &amp; Packaging is the primary approved B2B stream under GEM. It uses the same logo, palette and typography, with a descriptive line set in type.</a:t>
            </a:r>
            <a:endParaRPr lang="en-US" sz="1500" dirty="0"/>
          </a:p>
        </p:txBody>
      </p:sp>
      <p:sp>
        <p:nvSpPr>
          <p:cNvPr id="5" name="Shape 3"/>
          <p:cNvSpPr/>
          <p:nvPr/>
        </p:nvSpPr>
        <p:spPr>
          <a:xfrm>
            <a:off x="7315200" y="812800"/>
            <a:ext cx="4064000" cy="1302841"/>
          </a:xfrm>
          <a:prstGeom prst="rect">
            <a:avLst/>
          </a:prstGeom>
          <a:solidFill>
            <a:srgbClr val="12171D"/>
          </a:solidFill>
          <a:ln/>
        </p:spPr>
        <p:txBody>
          <a:bodyPr/>
          <a:p/>
        </p:txBody>
      </p:sp>
      <p:sp>
        <p:nvSpPr>
          <p:cNvPr id="6" name="Text 4"/>
          <p:cNvSpPr/>
          <p:nvPr/>
        </p:nvSpPr>
        <p:spPr>
          <a:xfrm>
            <a:off x="7569200" y="1092200"/>
            <a:ext cx="3662680" cy="519559"/>
          </a:xfrm>
          <a:prstGeom prst="rect">
            <a:avLst/>
          </a:prstGeom>
          <a:noFill/>
          <a:ln/>
        </p:spPr>
        <p:txBody>
          <a:bodyPr wrap="square" lIns="0" tIns="0" rIns="0" bIns="0" rtlCol="0" anchor="t">
            <a:normAutofit/>
          </a:bodyPr>
          <a:lstStyle/>
          <a:p>
            <a:pPr algn="l" indent="0" marL="0">
              <a:lnSpc>
                <a:spcPts val="3920"/>
              </a:lnSpc>
              <a:buNone/>
            </a:pPr>
            <a:r>
              <a:rPr lang="en-US" sz="2800" spc="110" kern="0" dirty="0">
                <a:solidFill>
                  <a:srgbClr val="FFFFFF"/>
                </a:solidFill>
                <a:latin typeface="Jost" pitchFamily="34" charset="0"/>
                <a:ea typeface="Jost" pitchFamily="34" charset="-122"/>
                <a:cs typeface="Jost" pitchFamily="34" charset="-120"/>
              </a:rPr>
              <a:t>GEM™</a:t>
            </a:r>
            <a:endParaRPr lang="en-US" sz="2800" dirty="0"/>
          </a:p>
        </p:txBody>
      </p:sp>
      <p:sp>
        <p:nvSpPr>
          <p:cNvPr id="7" name="Text 5"/>
          <p:cNvSpPr/>
          <p:nvPr/>
        </p:nvSpPr>
        <p:spPr>
          <a:xfrm>
            <a:off x="7569200" y="1624459"/>
            <a:ext cx="3662680" cy="23718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BCACA7"/>
                </a:solidFill>
                <a:latin typeface="Inter" pitchFamily="34" charset="0"/>
                <a:ea typeface="Inter" pitchFamily="34" charset="-122"/>
                <a:cs typeface="Inter" pitchFamily="34" charset="-120"/>
              </a:rPr>
              <a:t>Master brand</a:t>
            </a:r>
            <a:endParaRPr lang="en-US" sz="1196" dirty="0"/>
          </a:p>
        </p:txBody>
      </p:sp>
      <p:sp>
        <p:nvSpPr>
          <p:cNvPr id="8" name="Shape 6"/>
          <p:cNvSpPr/>
          <p:nvPr/>
        </p:nvSpPr>
        <p:spPr>
          <a:xfrm>
            <a:off x="9337675" y="2115641"/>
            <a:ext cx="19050" cy="457200"/>
          </a:xfrm>
          <a:prstGeom prst="rect">
            <a:avLst/>
          </a:prstGeom>
          <a:solidFill>
            <a:srgbClr val="12171D"/>
          </a:solidFill>
          <a:ln/>
        </p:spPr>
        <p:txBody>
          <a:bodyPr/>
          <a:p/>
        </p:txBody>
      </p:sp>
      <p:sp>
        <p:nvSpPr>
          <p:cNvPr id="9" name="Shape 7"/>
          <p:cNvSpPr/>
          <p:nvPr/>
        </p:nvSpPr>
        <p:spPr>
          <a:xfrm>
            <a:off x="7315200" y="2572841"/>
            <a:ext cx="4064000" cy="1514723"/>
          </a:xfrm>
          <a:prstGeom prst="rect">
            <a:avLst/>
          </a:prstGeom>
          <a:solidFill>
            <a:srgbClr val="BCACA7"/>
          </a:solidFill>
          <a:ln/>
        </p:spPr>
        <p:txBody>
          <a:bodyPr/>
          <a:p/>
        </p:txBody>
      </p:sp>
      <p:sp>
        <p:nvSpPr>
          <p:cNvPr id="10" name="Text 8"/>
          <p:cNvSpPr/>
          <p:nvPr/>
        </p:nvSpPr>
        <p:spPr>
          <a:xfrm>
            <a:off x="7569200" y="2852241"/>
            <a:ext cx="3810000" cy="731441"/>
          </a:xfrm>
          <a:prstGeom prst="rect">
            <a:avLst/>
          </a:prstGeom>
          <a:noFill/>
          <a:ln/>
        </p:spPr>
        <p:txBody>
          <a:bodyPr wrap="square" lIns="0" tIns="0" rIns="0" bIns="0" rtlCol="0" anchor="t">
            <a:normAutofit/>
          </a:bodyPr>
          <a:lstStyle/>
          <a:p>
            <a:pPr algn="l" indent="0" marL="0">
              <a:lnSpc>
                <a:spcPts val="2783"/>
              </a:lnSpc>
              <a:buNone/>
            </a:pPr>
            <a:r>
              <a:rPr lang="en-US" sz="1988" dirty="0">
                <a:solidFill>
                  <a:srgbClr val="12171D"/>
                </a:solidFill>
                <a:latin typeface="Jost" pitchFamily="34" charset="0"/>
                <a:ea typeface="Jost" pitchFamily="34" charset="-122"/>
                <a:cs typeface="Jost" pitchFamily="34" charset="-120"/>
              </a:rPr>
              <a:t>GEM™ — Amenities &amp; Packaging</a:t>
            </a:r>
            <a:endParaRPr lang="en-US" sz="1988" dirty="0"/>
          </a:p>
        </p:txBody>
      </p:sp>
      <p:sp>
        <p:nvSpPr>
          <p:cNvPr id="11" name="Text 9"/>
          <p:cNvSpPr/>
          <p:nvPr/>
        </p:nvSpPr>
        <p:spPr>
          <a:xfrm>
            <a:off x="7569200" y="3596382"/>
            <a:ext cx="3662680" cy="23718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12171D"/>
                </a:solidFill>
                <a:latin typeface="Inter" pitchFamily="34" charset="0"/>
                <a:ea typeface="Inter" pitchFamily="34" charset="-122"/>
                <a:cs typeface="Inter" pitchFamily="34" charset="-120"/>
              </a:rPr>
              <a:t>Descriptive stream, APPROVED</a:t>
            </a:r>
            <a:endParaRPr lang="en-US" sz="1196" dirty="0"/>
          </a:p>
        </p:txBody>
      </p:sp>
      <p:sp>
        <p:nvSpPr>
          <p:cNvPr id="12" name="Shape 10"/>
          <p:cNvSpPr/>
          <p:nvPr/>
        </p:nvSpPr>
        <p:spPr>
          <a:xfrm>
            <a:off x="9337675" y="4087564"/>
            <a:ext cx="19050" cy="457200"/>
          </a:xfrm>
          <a:prstGeom prst="rect">
            <a:avLst/>
          </a:prstGeom>
          <a:solidFill>
            <a:srgbClr val="12171D"/>
          </a:solidFill>
          <a:ln/>
        </p:spPr>
        <p:txBody>
          <a:bodyPr/>
          <a:p/>
        </p:txBody>
      </p:sp>
      <p:sp>
        <p:nvSpPr>
          <p:cNvPr id="13" name="Shape 11"/>
          <p:cNvSpPr/>
          <p:nvPr/>
        </p:nvSpPr>
        <p:spPr>
          <a:xfrm>
            <a:off x="7321550" y="4551114"/>
            <a:ext cx="4051300" cy="1284536"/>
          </a:xfrm>
          <a:prstGeom prst="rect">
            <a:avLst/>
          </a:prstGeom>
          <a:noFill/>
          <a:ln w="12700">
            <a:solidFill>
              <a:srgbClr val="12171D"/>
            </a:solidFill>
            <a:prstDash val="dash"/>
          </a:ln>
        </p:spPr>
        <p:txBody>
          <a:bodyPr/>
          <a:p/>
        </p:txBody>
      </p:sp>
      <p:sp>
        <p:nvSpPr>
          <p:cNvPr id="14" name="Text 12"/>
          <p:cNvSpPr/>
          <p:nvPr/>
        </p:nvSpPr>
        <p:spPr>
          <a:xfrm>
            <a:off x="7581900" y="4786064"/>
            <a:ext cx="3636518" cy="37842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71D"/>
                </a:solidFill>
                <a:latin typeface="Jost" pitchFamily="34" charset="0"/>
                <a:ea typeface="Jost" pitchFamily="34" charset="-122"/>
                <a:cs typeface="Jost" pitchFamily="34" charset="-120"/>
              </a:rPr>
              <a:t>GEM™ — [future stream]</a:t>
            </a:r>
            <a:endParaRPr lang="en-US" sz="2000" dirty="0"/>
          </a:p>
        </p:txBody>
      </p:sp>
      <p:sp>
        <p:nvSpPr>
          <p:cNvPr id="15" name="Text 13"/>
          <p:cNvSpPr/>
          <p:nvPr/>
        </p:nvSpPr>
        <p:spPr>
          <a:xfrm>
            <a:off x="7581900" y="5177185"/>
            <a:ext cx="3636518" cy="4489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 No other divisions are defined.</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RULES FOR ANY STREAM</a:t>
            </a:r>
            <a:endParaRPr lang="en-US" sz="1200" dirty="0"/>
          </a:p>
        </p:txBody>
      </p:sp>
      <p:sp>
        <p:nvSpPr>
          <p:cNvPr id="3" name="Text 1"/>
          <p:cNvSpPr/>
          <p:nvPr>
            <p:ph type="title"/>
          </p:nvPr>
        </p:nvSpPr>
        <p:spPr>
          <a:xfrm>
            <a:off x="812800" y="1229320"/>
            <a:ext cx="5284724"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A new stream inherits the identity. It never forks it.</a:t>
            </a:r>
            <a:endParaRPr lang="en-US" sz="3200" dirty="0"/>
          </a:p>
        </p:txBody>
      </p:sp>
      <p:sp>
        <p:nvSpPr>
          <p:cNvPr id="4" name="Text 2"/>
          <p:cNvSpPr/>
          <p:nvPr/>
        </p:nvSpPr>
        <p:spPr>
          <a:xfrm>
            <a:off x="812800" y="2326580"/>
            <a:ext cx="528472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Any future stream follows the same rules, and is added through brand governance.</a:t>
            </a:r>
            <a:endParaRPr lang="en-US" sz="1400" dirty="0"/>
          </a:p>
        </p:txBody>
      </p:sp>
      <p:sp>
        <p:nvSpPr>
          <p:cNvPr id="5" name="Shape 3"/>
          <p:cNvSpPr/>
          <p:nvPr/>
        </p:nvSpPr>
        <p:spPr>
          <a:xfrm>
            <a:off x="6553200" y="1905000"/>
            <a:ext cx="4826000" cy="0"/>
          </a:xfrm>
          <a:prstGeom prst="line">
            <a:avLst/>
          </a:prstGeom>
          <a:noFill/>
          <a:ln w="6350">
            <a:solidFill>
              <a:srgbClr val="BCACA7"/>
            </a:solidFill>
            <a:prstDash val="solid"/>
          </a:ln>
        </p:spPr>
        <p:txBody>
          <a:bodyPr/>
          <a:p/>
        </p:txBody>
      </p:sp>
      <p:sp>
        <p:nvSpPr>
          <p:cNvPr id="6" name="Text 4"/>
          <p:cNvSpPr/>
          <p:nvPr/>
        </p:nvSpPr>
        <p:spPr>
          <a:xfrm>
            <a:off x="6553200" y="2035175"/>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Name it descriptively: GEM™ — [Stream].</a:t>
            </a:r>
            <a:endParaRPr lang="en-US" sz="1500" dirty="0"/>
          </a:p>
        </p:txBody>
      </p:sp>
      <p:sp>
        <p:nvSpPr>
          <p:cNvPr id="7" name="Shape 5"/>
          <p:cNvSpPr/>
          <p:nvPr/>
        </p:nvSpPr>
        <p:spPr>
          <a:xfrm>
            <a:off x="6553200" y="2422525"/>
            <a:ext cx="4826000" cy="0"/>
          </a:xfrm>
          <a:prstGeom prst="line">
            <a:avLst/>
          </a:prstGeom>
          <a:noFill/>
          <a:ln w="6350">
            <a:solidFill>
              <a:srgbClr val="BCACA7"/>
            </a:solidFill>
            <a:prstDash val="solid"/>
          </a:ln>
        </p:spPr>
        <p:txBody>
          <a:bodyPr/>
          <a:p/>
        </p:txBody>
      </p:sp>
      <p:sp>
        <p:nvSpPr>
          <p:cNvPr id="8" name="Text 6"/>
          <p:cNvSpPr/>
          <p:nvPr/>
        </p:nvSpPr>
        <p:spPr>
          <a:xfrm>
            <a:off x="6553200" y="2552700"/>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Keep the one logo, one symbol, one palette.</a:t>
            </a:r>
            <a:endParaRPr lang="en-US" sz="1500" dirty="0"/>
          </a:p>
        </p:txBody>
      </p:sp>
      <p:sp>
        <p:nvSpPr>
          <p:cNvPr id="9" name="Shape 7"/>
          <p:cNvSpPr/>
          <p:nvPr/>
        </p:nvSpPr>
        <p:spPr>
          <a:xfrm>
            <a:off x="6553200" y="2940050"/>
            <a:ext cx="4826000" cy="0"/>
          </a:xfrm>
          <a:prstGeom prst="line">
            <a:avLst/>
          </a:prstGeom>
          <a:noFill/>
          <a:ln w="6350">
            <a:solidFill>
              <a:srgbClr val="BCACA7"/>
            </a:solidFill>
            <a:prstDash val="solid"/>
          </a:ln>
        </p:spPr>
        <p:txBody>
          <a:bodyPr/>
          <a:p/>
        </p:txBody>
      </p:sp>
      <p:sp>
        <p:nvSpPr>
          <p:cNvPr id="10" name="Text 8"/>
          <p:cNvSpPr/>
          <p:nvPr/>
        </p:nvSpPr>
        <p:spPr>
          <a:xfrm>
            <a:off x="6553200" y="3070225"/>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Set the line in Jost or Inter, never as a logo.</a:t>
            </a:r>
            <a:endParaRPr lang="en-US" sz="1500" dirty="0"/>
          </a:p>
        </p:txBody>
      </p:sp>
      <p:sp>
        <p:nvSpPr>
          <p:cNvPr id="11" name="Shape 9"/>
          <p:cNvSpPr/>
          <p:nvPr/>
        </p:nvSpPr>
        <p:spPr>
          <a:xfrm>
            <a:off x="6553200" y="3457575"/>
            <a:ext cx="4826000" cy="0"/>
          </a:xfrm>
          <a:prstGeom prst="line">
            <a:avLst/>
          </a:prstGeom>
          <a:noFill/>
          <a:ln w="6350">
            <a:solidFill>
              <a:srgbClr val="BCACA7"/>
            </a:solidFill>
            <a:prstDash val="solid"/>
          </a:ln>
        </p:spPr>
        <p:txBody>
          <a:bodyPr/>
          <a:p/>
        </p:txBody>
      </p:sp>
      <p:sp>
        <p:nvSpPr>
          <p:cNvPr id="12" name="Text 10"/>
          <p:cNvSpPr/>
          <p:nvPr/>
        </p:nvSpPr>
        <p:spPr>
          <a:xfrm>
            <a:off x="6553200" y="3587750"/>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Prove any capability before claiming it.</a:t>
            </a:r>
            <a:endParaRPr lang="en-US" sz="1500" dirty="0"/>
          </a:p>
        </p:txBody>
      </p:sp>
      <p:sp>
        <p:nvSpPr>
          <p:cNvPr id="13" name="Shape 11"/>
          <p:cNvSpPr/>
          <p:nvPr/>
        </p:nvSpPr>
        <p:spPr>
          <a:xfrm>
            <a:off x="6553200" y="3975100"/>
            <a:ext cx="4826000" cy="0"/>
          </a:xfrm>
          <a:prstGeom prst="line">
            <a:avLst/>
          </a:prstGeom>
          <a:noFill/>
          <a:ln w="6350">
            <a:solidFill>
              <a:srgbClr val="BCACA7"/>
            </a:solidFill>
            <a:prstDash val="solid"/>
          </a:ln>
        </p:spPr>
        <p:txBody>
          <a:bodyPr/>
          <a:p/>
        </p:txBody>
      </p:sp>
      <p:sp>
        <p:nvSpPr>
          <p:cNvPr id="14" name="Shape 12"/>
          <p:cNvSpPr/>
          <p:nvPr/>
        </p:nvSpPr>
        <p:spPr>
          <a:xfrm>
            <a:off x="6553200" y="4749800"/>
            <a:ext cx="4826000" cy="0"/>
          </a:xfrm>
          <a:prstGeom prst="line">
            <a:avLst/>
          </a:prstGeom>
          <a:noFill/>
          <a:ln w="6350">
            <a:solidFill>
              <a:srgbClr val="BCACA7"/>
            </a:solidFill>
            <a:prstDash val="solid"/>
          </a:ln>
        </p:spPr>
        <p:txBody>
          <a:bodyPr/>
          <a:p/>
        </p:txBody>
      </p:sp>
      <p:sp>
        <p:nvSpPr>
          <p:cNvPr id="15" name="Text 13"/>
          <p:cNvSpPr/>
          <p:nvPr/>
        </p:nvSpPr>
        <p:spPr>
          <a:xfrm>
            <a:off x="6553200" y="4105275"/>
            <a:ext cx="497078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Approve through the Brand Owner. [REQUIRES OWNER]</a:t>
            </a:r>
            <a:endParaRPr lang="en-US" sz="15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BRAND</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260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02</a:t>
            </a:r>
            <a:endParaRPr lang="en-US" sz="1400" dirty="0"/>
          </a:p>
        </p:txBody>
      </p:sp>
      <p:sp>
        <p:nvSpPr>
          <p:cNvPr id="4" name="Text 1"/>
          <p:cNvSpPr/>
          <p:nvPr>
            <p:ph type="title"/>
          </p:nvPr>
        </p:nvSpPr>
        <p:spPr>
          <a:xfrm>
            <a:off x="4826000" y="2540000"/>
            <a:ext cx="65405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VOICE</a:t>
            </a:r>
            <a:endParaRPr lang="en-US" sz="7200" dirty="0"/>
          </a:p>
        </p:txBody>
      </p:sp>
      <p:sp>
        <p:nvSpPr>
          <p:cNvPr id="5" name="Text 2"/>
          <p:cNvSpPr/>
          <p:nvPr/>
        </p:nvSpPr>
        <p:spPr>
          <a:xfrm>
            <a:off x="4826000" y="3810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How GEM sounds, and the two lines that are fixed.</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VERBAL IDENTITY · TONE</a:t>
            </a:r>
            <a:endParaRPr lang="en-US" sz="1200" dirty="0"/>
          </a:p>
        </p:txBody>
      </p:sp>
      <p:sp>
        <p:nvSpPr>
          <p:cNvPr id="3" name="Shape 1"/>
          <p:cNvSpPr/>
          <p:nvPr/>
        </p:nvSpPr>
        <p:spPr>
          <a:xfrm>
            <a:off x="812800" y="2166045"/>
            <a:ext cx="10566400" cy="0"/>
          </a:xfrm>
          <a:prstGeom prst="line">
            <a:avLst/>
          </a:prstGeom>
          <a:noFill/>
          <a:ln w="6350">
            <a:solidFill>
              <a:srgbClr val="BCACA7"/>
            </a:solidFill>
            <a:prstDash val="solid"/>
          </a:ln>
        </p:spPr>
        <p:txBody>
          <a:bodyPr/>
          <a:p/>
        </p:txBody>
      </p:sp>
      <p:sp>
        <p:nvSpPr>
          <p:cNvPr id="4" name="Text 2"/>
          <p:cNvSpPr/>
          <p:nvPr/>
        </p:nvSpPr>
        <p:spPr>
          <a:xfrm>
            <a:off x="812800" y="230892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Measured.</a:t>
            </a:r>
            <a:endParaRPr lang="en-US" sz="4000" dirty="0"/>
          </a:p>
        </p:txBody>
      </p:sp>
      <p:sp>
        <p:nvSpPr>
          <p:cNvPr id="5" name="Text 3"/>
          <p:cNvSpPr/>
          <p:nvPr/>
        </p:nvSpPr>
        <p:spPr>
          <a:xfrm>
            <a:off x="7467600" y="258832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Short sentences. No hurry.</a:t>
            </a:r>
            <a:endParaRPr lang="en-US" sz="1400" dirty="0"/>
          </a:p>
        </p:txBody>
      </p:sp>
      <p:sp>
        <p:nvSpPr>
          <p:cNvPr id="6" name="Shape 4"/>
          <p:cNvSpPr/>
          <p:nvPr/>
        </p:nvSpPr>
        <p:spPr>
          <a:xfrm>
            <a:off x="812800" y="3035995"/>
            <a:ext cx="10566400" cy="0"/>
          </a:xfrm>
          <a:prstGeom prst="line">
            <a:avLst/>
          </a:prstGeom>
          <a:noFill/>
          <a:ln w="6350">
            <a:solidFill>
              <a:srgbClr val="BCACA7"/>
            </a:solidFill>
            <a:prstDash val="solid"/>
          </a:ln>
        </p:spPr>
        <p:txBody>
          <a:bodyPr/>
          <a:p/>
        </p:txBody>
      </p:sp>
      <p:sp>
        <p:nvSpPr>
          <p:cNvPr id="7" name="Text 5"/>
          <p:cNvSpPr/>
          <p:nvPr/>
        </p:nvSpPr>
        <p:spPr>
          <a:xfrm>
            <a:off x="812800" y="317887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Warm, not effusive.</a:t>
            </a:r>
            <a:endParaRPr lang="en-US" sz="4000" dirty="0"/>
          </a:p>
        </p:txBody>
      </p:sp>
      <p:sp>
        <p:nvSpPr>
          <p:cNvPr id="8" name="Text 6"/>
          <p:cNvSpPr/>
          <p:nvPr/>
        </p:nvSpPr>
        <p:spPr>
          <a:xfrm>
            <a:off x="7467600" y="345827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Welcome without exclamation.</a:t>
            </a:r>
            <a:endParaRPr lang="en-US" sz="1400" dirty="0"/>
          </a:p>
        </p:txBody>
      </p:sp>
      <p:sp>
        <p:nvSpPr>
          <p:cNvPr id="9" name="Shape 7"/>
          <p:cNvSpPr/>
          <p:nvPr/>
        </p:nvSpPr>
        <p:spPr>
          <a:xfrm>
            <a:off x="812800" y="3905945"/>
            <a:ext cx="10566400" cy="0"/>
          </a:xfrm>
          <a:prstGeom prst="line">
            <a:avLst/>
          </a:prstGeom>
          <a:noFill/>
          <a:ln w="6350">
            <a:solidFill>
              <a:srgbClr val="BCACA7"/>
            </a:solidFill>
            <a:prstDash val="solid"/>
          </a:ln>
        </p:spPr>
        <p:txBody>
          <a:bodyPr/>
          <a:p/>
        </p:txBody>
      </p:sp>
      <p:sp>
        <p:nvSpPr>
          <p:cNvPr id="10" name="Text 8"/>
          <p:cNvSpPr/>
          <p:nvPr/>
        </p:nvSpPr>
        <p:spPr>
          <a:xfrm>
            <a:off x="812800" y="404882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Quietly confident.</a:t>
            </a:r>
            <a:endParaRPr lang="en-US" sz="4000" dirty="0"/>
          </a:p>
        </p:txBody>
      </p:sp>
      <p:sp>
        <p:nvSpPr>
          <p:cNvPr id="11" name="Text 9"/>
          <p:cNvSpPr/>
          <p:nvPr/>
        </p:nvSpPr>
        <p:spPr>
          <a:xfrm>
            <a:off x="7467600" y="432822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State rather than sell.</a:t>
            </a:r>
            <a:endParaRPr lang="en-US" sz="1400" dirty="0"/>
          </a:p>
        </p:txBody>
      </p:sp>
      <p:sp>
        <p:nvSpPr>
          <p:cNvPr id="12" name="Shape 10"/>
          <p:cNvSpPr/>
          <p:nvPr/>
        </p:nvSpPr>
        <p:spPr>
          <a:xfrm>
            <a:off x="812800" y="4775895"/>
            <a:ext cx="10566400" cy="0"/>
          </a:xfrm>
          <a:prstGeom prst="line">
            <a:avLst/>
          </a:prstGeom>
          <a:noFill/>
          <a:ln w="6350">
            <a:solidFill>
              <a:srgbClr val="BCACA7"/>
            </a:solidFill>
            <a:prstDash val="solid"/>
          </a:ln>
        </p:spPr>
        <p:txBody>
          <a:bodyPr/>
          <a:p/>
        </p:txBody>
      </p:sp>
      <p:sp>
        <p:nvSpPr>
          <p:cNvPr id="13" name="Shape 11"/>
          <p:cNvSpPr/>
          <p:nvPr/>
        </p:nvSpPr>
        <p:spPr>
          <a:xfrm>
            <a:off x="812800" y="5838825"/>
            <a:ext cx="10566400" cy="0"/>
          </a:xfrm>
          <a:prstGeom prst="line">
            <a:avLst/>
          </a:prstGeom>
          <a:noFill/>
          <a:ln w="6350">
            <a:solidFill>
              <a:srgbClr val="BCACA7"/>
            </a:solidFill>
            <a:prstDash val="solid"/>
          </a:ln>
        </p:spPr>
        <p:txBody>
          <a:bodyPr/>
          <a:p/>
        </p:txBody>
      </p:sp>
      <p:sp>
        <p:nvSpPr>
          <p:cNvPr id="14" name="Text 12"/>
          <p:cNvSpPr/>
          <p:nvPr/>
        </p:nvSpPr>
        <p:spPr>
          <a:xfrm>
            <a:off x="812800" y="491877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Precise about detail.</a:t>
            </a:r>
            <a:endParaRPr lang="en-US" sz="4000" dirty="0"/>
          </a:p>
        </p:txBody>
      </p:sp>
      <p:sp>
        <p:nvSpPr>
          <p:cNvPr id="15" name="Text 13"/>
          <p:cNvSpPr/>
          <p:nvPr/>
        </p:nvSpPr>
        <p:spPr>
          <a:xfrm>
            <a:off x="7467600" y="5198170"/>
            <a:ext cx="402894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Facts, verified. Never an adjective in place of one.</a:t>
            </a:r>
            <a:endParaRPr lang="en-US" sz="14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VOCABULARY · USE</a:t>
            </a:r>
            <a:endParaRPr lang="en-US" sz="1200" dirty="0"/>
          </a:p>
        </p:txBody>
      </p:sp>
      <p:sp>
        <p:nvSpPr>
          <p:cNvPr id="3" name="Text 1"/>
          <p:cNvSpPr/>
          <p:nvPr/>
        </p:nvSpPr>
        <p:spPr>
          <a:xfrm>
            <a:off x="812800" y="12293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arrival</a:t>
            </a:r>
            <a:endParaRPr lang="en-US" sz="3000" dirty="0"/>
          </a:p>
        </p:txBody>
      </p:sp>
      <p:sp>
        <p:nvSpPr>
          <p:cNvPr id="4" name="Text 2"/>
          <p:cNvSpPr/>
          <p:nvPr/>
        </p:nvSpPr>
        <p:spPr>
          <a:xfrm>
            <a:off x="812800" y="17246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stay</a:t>
            </a:r>
            <a:endParaRPr lang="en-US" sz="3000" dirty="0"/>
          </a:p>
        </p:txBody>
      </p:sp>
      <p:sp>
        <p:nvSpPr>
          <p:cNvPr id="5" name="Text 3"/>
          <p:cNvSpPr/>
          <p:nvPr/>
        </p:nvSpPr>
        <p:spPr>
          <a:xfrm>
            <a:off x="812800" y="22199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proportion</a:t>
            </a:r>
            <a:endParaRPr lang="en-US" sz="3000" dirty="0"/>
          </a:p>
        </p:txBody>
      </p:sp>
      <p:sp>
        <p:nvSpPr>
          <p:cNvPr id="6" name="Text 4"/>
          <p:cNvSpPr/>
          <p:nvPr/>
        </p:nvSpPr>
        <p:spPr>
          <a:xfrm>
            <a:off x="812800" y="27152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composed · measured</a:t>
            </a:r>
            <a:endParaRPr lang="en-US" sz="3000" dirty="0"/>
          </a:p>
        </p:txBody>
      </p:sp>
      <p:sp>
        <p:nvSpPr>
          <p:cNvPr id="7" name="Text 5"/>
          <p:cNvSpPr/>
          <p:nvPr/>
        </p:nvSpPr>
        <p:spPr>
          <a:xfrm>
            <a:off x="812800" y="32105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quiet · exact</a:t>
            </a:r>
            <a:endParaRPr lang="en-US" sz="3000" dirty="0"/>
          </a:p>
        </p:txBody>
      </p:sp>
      <p:sp>
        <p:nvSpPr>
          <p:cNvPr id="8" name="Text 6"/>
          <p:cNvSpPr/>
          <p:nvPr/>
        </p:nvSpPr>
        <p:spPr>
          <a:xfrm>
            <a:off x="812800" y="37058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welcome · crafted</a:t>
            </a:r>
            <a:endParaRPr lang="en-US" sz="3000" dirty="0"/>
          </a:p>
        </p:txBody>
      </p:sp>
      <p:sp>
        <p:nvSpPr>
          <p:cNvPr id="9" name="Shape 7"/>
          <p:cNvSpPr/>
          <p:nvPr/>
        </p:nvSpPr>
        <p:spPr>
          <a:xfrm>
            <a:off x="6096000" y="0"/>
            <a:ext cx="6096000" cy="6858000"/>
          </a:xfrm>
          <a:prstGeom prst="rect">
            <a:avLst/>
          </a:prstGeom>
          <a:solidFill>
            <a:srgbClr val="12171D"/>
          </a:solidFill>
          <a:ln/>
        </p:spPr>
        <p:txBody>
          <a:bodyPr/>
          <a:p/>
        </p:txBody>
      </p:sp>
      <p:sp>
        <p:nvSpPr>
          <p:cNvPr id="10" name="Text 8"/>
          <p:cNvSpPr/>
          <p:nvPr/>
        </p:nvSpPr>
        <p:spPr>
          <a:xfrm>
            <a:off x="67056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VOCABULARY · AVOID</a:t>
            </a:r>
            <a:endParaRPr lang="en-US" sz="1200" dirty="0"/>
          </a:p>
        </p:txBody>
      </p:sp>
      <p:sp>
        <p:nvSpPr>
          <p:cNvPr id="11" name="Text 9"/>
          <p:cNvSpPr/>
          <p:nvPr/>
        </p:nvSpPr>
        <p:spPr>
          <a:xfrm>
            <a:off x="6705600" y="12293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luxurious</a:t>
            </a:r>
            <a:endParaRPr lang="en-US" sz="3000" dirty="0"/>
          </a:p>
        </p:txBody>
      </p:sp>
      <p:sp>
        <p:nvSpPr>
          <p:cNvPr id="12" name="Text 10"/>
          <p:cNvSpPr/>
          <p:nvPr/>
        </p:nvSpPr>
        <p:spPr>
          <a:xfrm>
            <a:off x="6705600" y="17246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world-class</a:t>
            </a:r>
            <a:endParaRPr lang="en-US" sz="3000" dirty="0"/>
          </a:p>
        </p:txBody>
      </p:sp>
      <p:sp>
        <p:nvSpPr>
          <p:cNvPr id="13" name="Text 11"/>
          <p:cNvSpPr/>
          <p:nvPr/>
        </p:nvSpPr>
        <p:spPr>
          <a:xfrm>
            <a:off x="6705600" y="22199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indulge · pamper</a:t>
            </a:r>
            <a:endParaRPr lang="en-US" sz="3000" dirty="0"/>
          </a:p>
        </p:txBody>
      </p:sp>
      <p:sp>
        <p:nvSpPr>
          <p:cNvPr id="14" name="Text 12"/>
          <p:cNvSpPr/>
          <p:nvPr/>
        </p:nvSpPr>
        <p:spPr>
          <a:xfrm>
            <a:off x="6705600" y="27152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oasis · escape</a:t>
            </a:r>
            <a:endParaRPr lang="en-US" sz="3000" dirty="0"/>
          </a:p>
        </p:txBody>
      </p:sp>
      <p:sp>
        <p:nvSpPr>
          <p:cNvPr id="15" name="Text 13"/>
          <p:cNvSpPr/>
          <p:nvPr/>
        </p:nvSpPr>
        <p:spPr>
          <a:xfrm>
            <a:off x="6705600" y="32105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unforgettable</a:t>
            </a:r>
            <a:endParaRPr lang="en-US" sz="3000" dirty="0"/>
          </a:p>
        </p:txBody>
      </p:sp>
      <p:sp>
        <p:nvSpPr>
          <p:cNvPr id="16" name="Text 14"/>
          <p:cNvSpPr/>
          <p:nvPr/>
        </p:nvSpPr>
        <p:spPr>
          <a:xfrm>
            <a:off x="6705600" y="37058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best</a:t>
            </a:r>
            <a:endParaRPr lang="en-US" sz="3000" dirty="0"/>
          </a:p>
        </p:txBody>
      </p:sp>
      <p:sp>
        <p:nvSpPr>
          <p:cNvPr id="17" name="Text 15"/>
          <p:cNvSpPr/>
          <p:nvPr/>
        </p:nvSpPr>
        <p:spPr>
          <a:xfrm>
            <a:off x="6705600" y="4366220"/>
            <a:ext cx="4813808"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 superlatives such as leading or number one without independent evidence.</a:t>
            </a:r>
            <a:endParaRPr lang="en-US" sz="1300" dirty="0"/>
          </a:p>
        </p:txBody>
      </p:sp>
      <p:sp>
        <p:nvSpPr>
          <p:cNvPr id="18" name="Text 1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19" name="Text 1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GUEST-FACING LANGUAGE</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Four moments, one measured voice.</a:t>
            </a:r>
            <a:endParaRPr lang="en-US" sz="3200" dirty="0"/>
          </a:p>
        </p:txBody>
      </p:sp>
      <p:sp>
        <p:nvSpPr>
          <p:cNvPr id="4" name="Shape 2"/>
          <p:cNvSpPr/>
          <p:nvPr/>
        </p:nvSpPr>
        <p:spPr>
          <a:xfrm>
            <a:off x="812800" y="1930350"/>
            <a:ext cx="5207000" cy="1273721"/>
          </a:xfrm>
          <a:prstGeom prst="rect">
            <a:avLst/>
          </a:prstGeom>
          <a:solidFill>
            <a:srgbClr val="FFFFFF"/>
          </a:solidFill>
          <a:ln/>
        </p:spPr>
        <p:txBody>
          <a:bodyPr/>
          <a:p/>
        </p:txBody>
      </p:sp>
      <p:sp>
        <p:nvSpPr>
          <p:cNvPr id="5" name="Text 3"/>
          <p:cNvSpPr/>
          <p:nvPr/>
        </p:nvSpPr>
        <p:spPr>
          <a:xfrm>
            <a:off x="1066800" y="2133550"/>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HEADLINE</a:t>
            </a:r>
            <a:endParaRPr lang="en-US" sz="1200" dirty="0"/>
          </a:p>
        </p:txBody>
      </p:sp>
      <p:sp>
        <p:nvSpPr>
          <p:cNvPr id="6" name="Text 4"/>
          <p:cNvSpPr/>
          <p:nvPr/>
        </p:nvSpPr>
        <p:spPr>
          <a:xfrm>
            <a:off x="1066800" y="239767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Welcome. Your room is ready.</a:t>
            </a:r>
            <a:endParaRPr lang="en-US" sz="2200" dirty="0"/>
          </a:p>
        </p:txBody>
      </p:sp>
      <p:sp>
        <p:nvSpPr>
          <p:cNvPr id="7" name="Shape 5"/>
          <p:cNvSpPr/>
          <p:nvPr/>
        </p:nvSpPr>
        <p:spPr>
          <a:xfrm>
            <a:off x="6172200" y="1930350"/>
            <a:ext cx="5207000" cy="1273721"/>
          </a:xfrm>
          <a:prstGeom prst="rect">
            <a:avLst/>
          </a:prstGeom>
          <a:solidFill>
            <a:srgbClr val="FFFFFF"/>
          </a:solidFill>
          <a:ln/>
        </p:spPr>
        <p:txBody>
          <a:bodyPr/>
          <a:p/>
        </p:txBody>
      </p:sp>
      <p:sp>
        <p:nvSpPr>
          <p:cNvPr id="8" name="Text 6"/>
          <p:cNvSpPr/>
          <p:nvPr/>
        </p:nvSpPr>
        <p:spPr>
          <a:xfrm>
            <a:off x="6426200" y="2133550"/>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CONFIRMED</a:t>
            </a:r>
            <a:endParaRPr lang="en-US" sz="1200" dirty="0"/>
          </a:p>
        </p:txBody>
      </p:sp>
      <p:sp>
        <p:nvSpPr>
          <p:cNvPr id="9" name="Text 7"/>
          <p:cNvSpPr/>
          <p:nvPr/>
        </p:nvSpPr>
        <p:spPr>
          <a:xfrm>
            <a:off x="6426200" y="239767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Booking confirmed.</a:t>
            </a:r>
            <a:endParaRPr lang="en-US" sz="2200" dirty="0"/>
          </a:p>
        </p:txBody>
      </p:sp>
      <p:sp>
        <p:nvSpPr>
          <p:cNvPr id="10" name="Text 8"/>
          <p:cNvSpPr/>
          <p:nvPr/>
        </p:nvSpPr>
        <p:spPr>
          <a:xfrm>
            <a:off x="6426200" y="2769741"/>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Reference: [booking ID]</a:t>
            </a:r>
            <a:endParaRPr lang="en-US" sz="1300" dirty="0"/>
          </a:p>
        </p:txBody>
      </p:sp>
      <p:sp>
        <p:nvSpPr>
          <p:cNvPr id="11" name="Shape 9"/>
          <p:cNvSpPr/>
          <p:nvPr/>
        </p:nvSpPr>
        <p:spPr>
          <a:xfrm>
            <a:off x="819150" y="3362821"/>
            <a:ext cx="5194300" cy="1261021"/>
          </a:xfrm>
          <a:prstGeom prst="rect">
            <a:avLst/>
          </a:prstGeom>
          <a:solidFill>
            <a:srgbClr val="FFFFFF"/>
          </a:solidFill>
          <a:ln w="12700">
            <a:solidFill>
              <a:srgbClr val="12171D"/>
            </a:solidFill>
            <a:prstDash val="solid"/>
          </a:ln>
        </p:spPr>
        <p:txBody>
          <a:bodyPr/>
          <a:p/>
        </p:txBody>
      </p:sp>
      <p:sp>
        <p:nvSpPr>
          <p:cNvPr id="12" name="Text 10"/>
          <p:cNvSpPr/>
          <p:nvPr/>
        </p:nvSpPr>
        <p:spPr>
          <a:xfrm>
            <a:off x="1066800" y="3559671"/>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ERROR</a:t>
            </a:r>
            <a:endParaRPr lang="en-US" sz="1200" dirty="0"/>
          </a:p>
        </p:txBody>
      </p:sp>
      <p:sp>
        <p:nvSpPr>
          <p:cNvPr id="13" name="Text 11"/>
          <p:cNvSpPr/>
          <p:nvPr/>
        </p:nvSpPr>
        <p:spPr>
          <a:xfrm>
            <a:off x="1066800" y="382379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Availability has changed.</a:t>
            </a:r>
            <a:endParaRPr lang="en-US" sz="2200" dirty="0"/>
          </a:p>
        </p:txBody>
      </p:sp>
      <p:sp>
        <p:nvSpPr>
          <p:cNvPr id="14" name="Text 12"/>
          <p:cNvSpPr/>
          <p:nvPr/>
        </p:nvSpPr>
        <p:spPr>
          <a:xfrm>
            <a:off x="1066800" y="4195862"/>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Review your room selection.</a:t>
            </a:r>
            <a:endParaRPr lang="en-US" sz="1300" dirty="0"/>
          </a:p>
        </p:txBody>
      </p:sp>
      <p:sp>
        <p:nvSpPr>
          <p:cNvPr id="15" name="Shape 13"/>
          <p:cNvSpPr/>
          <p:nvPr/>
        </p:nvSpPr>
        <p:spPr>
          <a:xfrm>
            <a:off x="6172200" y="3356471"/>
            <a:ext cx="5207000" cy="1273721"/>
          </a:xfrm>
          <a:prstGeom prst="rect">
            <a:avLst/>
          </a:prstGeom>
          <a:solidFill>
            <a:srgbClr val="FFFFFF"/>
          </a:solidFill>
          <a:ln/>
        </p:spPr>
        <p:txBody>
          <a:bodyPr/>
          <a:p/>
        </p:txBody>
      </p:sp>
      <p:sp>
        <p:nvSpPr>
          <p:cNvPr id="16" name="Text 14"/>
          <p:cNvSpPr/>
          <p:nvPr/>
        </p:nvSpPr>
        <p:spPr>
          <a:xfrm>
            <a:off x="6426200" y="3559671"/>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SERVICE RECOVERY</a:t>
            </a:r>
            <a:endParaRPr lang="en-US" sz="1200" dirty="0"/>
          </a:p>
        </p:txBody>
      </p:sp>
      <p:sp>
        <p:nvSpPr>
          <p:cNvPr id="17" name="Text 15"/>
          <p:cNvSpPr/>
          <p:nvPr/>
        </p:nvSpPr>
        <p:spPr>
          <a:xfrm>
            <a:off x="6426200" y="382379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We're sorry the room wasn't ready.</a:t>
            </a:r>
            <a:endParaRPr lang="en-US" sz="2200" dirty="0"/>
          </a:p>
        </p:txBody>
      </p:sp>
      <p:sp>
        <p:nvSpPr>
          <p:cNvPr id="18" name="Text 16"/>
          <p:cNvSpPr/>
          <p:nvPr/>
        </p:nvSpPr>
        <p:spPr>
          <a:xfrm>
            <a:off x="6426200" y="4195862"/>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We have noted it and [action].</a:t>
            </a:r>
            <a:endParaRPr lang="en-US" sz="1300" dirty="0"/>
          </a:p>
        </p:txBody>
      </p:sp>
      <p:sp>
        <p:nvSpPr>
          <p:cNvPr id="19" name="Text 17"/>
          <p:cNvSpPr/>
          <p:nvPr/>
        </p:nvSpPr>
        <p:spPr>
          <a:xfrm>
            <a:off x="812800" y="48587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Working examples. [action] is supplied by the property; no compensation is stated.</a:t>
            </a:r>
            <a:endParaRPr lang="en-US" sz="1200" dirty="0"/>
          </a:p>
        </p:txBody>
      </p:sp>
      <p:sp>
        <p:nvSpPr>
          <p:cNvPr id="20"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B2B, EMAIL AND PACKAGING LANGUAGE</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Procurement language states; it does not persuade.</a:t>
            </a:r>
            <a:endParaRPr lang="en-US" sz="3200" dirty="0"/>
          </a:p>
        </p:txBody>
      </p:sp>
      <p:sp>
        <p:nvSpPr>
          <p:cNvPr id="4" name="Shape 2"/>
          <p:cNvSpPr/>
          <p:nvPr/>
        </p:nvSpPr>
        <p:spPr>
          <a:xfrm>
            <a:off x="812800" y="1990675"/>
            <a:ext cx="2451100" cy="0"/>
          </a:xfrm>
          <a:prstGeom prst="line">
            <a:avLst/>
          </a:prstGeom>
          <a:noFill/>
          <a:ln w="19050">
            <a:solidFill>
              <a:srgbClr val="12171D"/>
            </a:solidFill>
            <a:prstDash val="solid"/>
          </a:ln>
        </p:spPr>
        <p:txBody>
          <a:bodyPr/>
          <a:p/>
        </p:txBody>
      </p:sp>
      <p:sp>
        <p:nvSpPr>
          <p:cNvPr id="5" name="Text 3"/>
          <p:cNvSpPr/>
          <p:nvPr/>
        </p:nvSpPr>
        <p:spPr>
          <a:xfrm>
            <a:off x="8128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ENQUIRY</a:t>
            </a:r>
            <a:endParaRPr lang="en-US" sz="1200" dirty="0"/>
          </a:p>
        </p:txBody>
      </p:sp>
      <p:sp>
        <p:nvSpPr>
          <p:cNvPr id="6" name="Text 4"/>
          <p:cNvSpPr/>
          <p:nvPr/>
        </p:nvSpPr>
        <p:spPr>
          <a:xfrm>
            <a:off x="812800" y="2454821"/>
            <a:ext cx="2524633" cy="604441"/>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Tell us about your property or project.</a:t>
            </a:r>
            <a:endParaRPr lang="en-US" sz="1900" dirty="0"/>
          </a:p>
        </p:txBody>
      </p:sp>
      <p:sp>
        <p:nvSpPr>
          <p:cNvPr id="7" name="Text 5"/>
          <p:cNvSpPr/>
          <p:nvPr/>
        </p:nvSpPr>
        <p:spPr>
          <a:xfrm>
            <a:off x="812800" y="3122761"/>
            <a:ext cx="2524633"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We'll reply to [email address].</a:t>
            </a:r>
            <a:endParaRPr lang="en-US" sz="1300" dirty="0"/>
          </a:p>
        </p:txBody>
      </p:sp>
      <p:sp>
        <p:nvSpPr>
          <p:cNvPr id="8" name="Shape 6"/>
          <p:cNvSpPr/>
          <p:nvPr/>
        </p:nvSpPr>
        <p:spPr>
          <a:xfrm>
            <a:off x="3517900" y="1990675"/>
            <a:ext cx="2451100" cy="0"/>
          </a:xfrm>
          <a:prstGeom prst="line">
            <a:avLst/>
          </a:prstGeom>
          <a:noFill/>
          <a:ln w="19050">
            <a:solidFill>
              <a:srgbClr val="12171D"/>
            </a:solidFill>
            <a:prstDash val="solid"/>
          </a:ln>
        </p:spPr>
        <p:txBody>
          <a:bodyPr/>
          <a:p/>
        </p:txBody>
      </p:sp>
      <p:sp>
        <p:nvSpPr>
          <p:cNvPr id="9" name="Text 7"/>
          <p:cNvSpPr/>
          <p:nvPr/>
        </p:nvSpPr>
        <p:spPr>
          <a:xfrm>
            <a:off x="35179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QUOTATION</a:t>
            </a:r>
            <a:endParaRPr lang="en-US" sz="1200" dirty="0"/>
          </a:p>
        </p:txBody>
      </p:sp>
      <p:sp>
        <p:nvSpPr>
          <p:cNvPr id="10" name="Text 8"/>
          <p:cNvSpPr/>
          <p:nvPr/>
        </p:nvSpPr>
        <p:spPr>
          <a:xfrm>
            <a:off x="3517900" y="2454821"/>
            <a:ext cx="2524633" cy="31492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Request a quotation.</a:t>
            </a:r>
            <a:endParaRPr lang="en-US" sz="1900" dirty="0"/>
          </a:p>
        </p:txBody>
      </p:sp>
      <p:sp>
        <p:nvSpPr>
          <p:cNvPr id="11" name="Text 9"/>
          <p:cNvSpPr/>
          <p:nvPr/>
        </p:nvSpPr>
        <p:spPr>
          <a:xfrm>
            <a:off x="3517900" y="283324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Reference: [ID]. Price: [PENDING].</a:t>
            </a:r>
            <a:endParaRPr lang="en-US" sz="1300" dirty="0"/>
          </a:p>
        </p:txBody>
      </p:sp>
      <p:sp>
        <p:nvSpPr>
          <p:cNvPr id="12" name="Shape 10"/>
          <p:cNvSpPr/>
          <p:nvPr/>
        </p:nvSpPr>
        <p:spPr>
          <a:xfrm>
            <a:off x="6223000" y="1990675"/>
            <a:ext cx="2451100" cy="0"/>
          </a:xfrm>
          <a:prstGeom prst="line">
            <a:avLst/>
          </a:prstGeom>
          <a:noFill/>
          <a:ln w="19050">
            <a:solidFill>
              <a:srgbClr val="12171D"/>
            </a:solidFill>
            <a:prstDash val="solid"/>
          </a:ln>
        </p:spPr>
        <p:txBody>
          <a:bodyPr/>
          <a:p/>
        </p:txBody>
      </p:sp>
      <p:sp>
        <p:nvSpPr>
          <p:cNvPr id="13" name="Text 11"/>
          <p:cNvSpPr/>
          <p:nvPr/>
        </p:nvSpPr>
        <p:spPr>
          <a:xfrm>
            <a:off x="62230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EMAIL</a:t>
            </a:r>
            <a:endParaRPr lang="en-US" sz="1200" dirty="0"/>
          </a:p>
        </p:txBody>
      </p:sp>
      <p:sp>
        <p:nvSpPr>
          <p:cNvPr id="14" name="Text 12"/>
          <p:cNvSpPr/>
          <p:nvPr/>
        </p:nvSpPr>
        <p:spPr>
          <a:xfrm>
            <a:off x="6223000" y="2454821"/>
            <a:ext cx="2524633" cy="604441"/>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Your sampling request is received.</a:t>
            </a:r>
            <a:endParaRPr lang="en-US" sz="1900" dirty="0"/>
          </a:p>
        </p:txBody>
      </p:sp>
      <p:sp>
        <p:nvSpPr>
          <p:cNvPr id="15" name="Text 13"/>
          <p:cNvSpPr/>
          <p:nvPr/>
        </p:nvSpPr>
        <p:spPr>
          <a:xfrm>
            <a:off x="6223000" y="312276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We will confirm the details here.</a:t>
            </a:r>
            <a:endParaRPr lang="en-US" sz="1300" dirty="0"/>
          </a:p>
        </p:txBody>
      </p:sp>
      <p:sp>
        <p:nvSpPr>
          <p:cNvPr id="16" name="Shape 14"/>
          <p:cNvSpPr/>
          <p:nvPr/>
        </p:nvSpPr>
        <p:spPr>
          <a:xfrm>
            <a:off x="8928100" y="1990675"/>
            <a:ext cx="2451100" cy="0"/>
          </a:xfrm>
          <a:prstGeom prst="line">
            <a:avLst/>
          </a:prstGeom>
          <a:noFill/>
          <a:ln w="19050">
            <a:solidFill>
              <a:srgbClr val="12171D"/>
            </a:solidFill>
            <a:prstDash val="solid"/>
          </a:ln>
        </p:spPr>
        <p:txBody>
          <a:bodyPr/>
          <a:p/>
        </p:txBody>
      </p:sp>
      <p:sp>
        <p:nvSpPr>
          <p:cNvPr id="17" name="Text 15"/>
          <p:cNvSpPr/>
          <p:nvPr/>
        </p:nvSpPr>
        <p:spPr>
          <a:xfrm>
            <a:off x="89281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PACKAGING</a:t>
            </a:r>
            <a:endParaRPr lang="en-US" sz="1200" dirty="0"/>
          </a:p>
        </p:txBody>
      </p:sp>
      <p:sp>
        <p:nvSpPr>
          <p:cNvPr id="18" name="Text 16"/>
          <p:cNvSpPr/>
          <p:nvPr/>
        </p:nvSpPr>
        <p:spPr>
          <a:xfrm>
            <a:off x="8928100" y="2454821"/>
            <a:ext cx="2524633" cy="31492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Shampoo</a:t>
            </a:r>
            <a:endParaRPr lang="en-US" sz="1900" dirty="0"/>
          </a:p>
        </p:txBody>
      </p:sp>
      <p:sp>
        <p:nvSpPr>
          <p:cNvPr id="19" name="Text 17"/>
          <p:cNvSpPr/>
          <p:nvPr/>
        </p:nvSpPr>
        <p:spPr>
          <a:xfrm>
            <a:off x="8928100" y="283324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[PENDING] mL · Artwork version [PENDING]</a:t>
            </a:r>
            <a:endParaRPr lang="en-US" sz="1300" dirty="0"/>
          </a:p>
        </p:txBody>
      </p:sp>
      <p:sp>
        <p:nvSpPr>
          <p:cNvPr id="20" name="Text 18"/>
          <p:cNvSpPr/>
          <p:nvPr/>
        </p:nvSpPr>
        <p:spPr>
          <a:xfrm>
            <a:off x="812800" y="38554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price, delivery time, minimum order, origin or sustainability statement appears until the owner supplies and verifies it.</a:t>
            </a:r>
            <a:endParaRPr lang="en-US" sz="12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TAGLINES AND SIGNATURE LANGUAGE</a:t>
            </a:r>
            <a:endParaRPr lang="en-US" sz="1200" dirty="0"/>
          </a:p>
        </p:txBody>
      </p:sp>
      <p:sp>
        <p:nvSpPr>
          <p:cNvPr id="3" name="Text 1"/>
          <p:cNvSpPr/>
          <p:nvPr/>
        </p:nvSpPr>
        <p:spPr>
          <a:xfrm>
            <a:off x="812800" y="21648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PRIMARY · FIXED</a:t>
            </a:r>
            <a:endParaRPr lang="en-US" sz="1200" dirty="0"/>
          </a:p>
        </p:txBody>
      </p:sp>
      <p:sp>
        <p:nvSpPr>
          <p:cNvPr id="4" name="Text 2"/>
          <p:cNvSpPr/>
          <p:nvPr/>
        </p:nvSpPr>
        <p:spPr>
          <a:xfrm>
            <a:off x="812800" y="2479725"/>
            <a:ext cx="10883392" cy="463550"/>
          </a:xfrm>
          <a:prstGeom prst="rect">
            <a:avLst/>
          </a:prstGeom>
          <a:noFill/>
          <a:ln/>
        </p:spPr>
        <p:txBody>
          <a:bodyPr wrap="square" lIns="0" tIns="0" rIns="0" bIns="0" rtlCol="0" anchor="t">
            <a:normAutofit/>
          </a:bodyPr>
          <a:lstStyle/>
          <a:p>
            <a:pPr algn="l" indent="0" marL="0">
              <a:lnSpc>
                <a:spcPts val="3450"/>
              </a:lnSpc>
              <a:buNone/>
            </a:pPr>
            <a:r>
              <a:rPr lang="en-US" sz="3000" spc="540" kern="0" dirty="0">
                <a:solidFill>
                  <a:srgbClr val="FFFFFF"/>
                </a:solidFill>
                <a:latin typeface="Jost" pitchFamily="34" charset="0"/>
                <a:ea typeface="Jost" pitchFamily="34" charset="-122"/>
                <a:cs typeface="Jost" pitchFamily="34" charset="-120"/>
              </a:rPr>
              <a:t>HOSPITALITY, IN PERFECT PROPORTION</a:t>
            </a:r>
            <a:endParaRPr lang="en-US" sz="3000" dirty="0"/>
          </a:p>
        </p:txBody>
      </p:sp>
      <p:sp>
        <p:nvSpPr>
          <p:cNvPr id="5" name="Text 3"/>
          <p:cNvSpPr/>
          <p:nvPr/>
        </p:nvSpPr>
        <p:spPr>
          <a:xfrm>
            <a:off x="812800" y="327347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SECONDARY · USE SELECTIVELY</a:t>
            </a:r>
            <a:endParaRPr lang="en-US" sz="1200" dirty="0"/>
          </a:p>
        </p:txBody>
      </p:sp>
      <p:sp>
        <p:nvSpPr>
          <p:cNvPr id="6" name="Text 4"/>
          <p:cNvSpPr/>
          <p:nvPr/>
        </p:nvSpPr>
        <p:spPr>
          <a:xfrm>
            <a:off x="812800" y="3588395"/>
            <a:ext cx="10883392" cy="528290"/>
          </a:xfrm>
          <a:prstGeom prst="rect">
            <a:avLst/>
          </a:prstGeom>
          <a:noFill/>
          <a:ln/>
        </p:spPr>
        <p:txBody>
          <a:bodyPr wrap="square" lIns="0" tIns="0" rIns="0" bIns="0" rtlCol="0" anchor="t">
            <a:normAutofit/>
          </a:bodyPr>
          <a:lstStyle/>
          <a:p>
            <a:pPr algn="l" indent="0" marL="0">
              <a:lnSpc>
                <a:spcPts val="3960"/>
              </a:lnSpc>
              <a:buNone/>
            </a:pPr>
            <a:r>
              <a:rPr lang="en-US" sz="3600" spc="70" kern="0" dirty="0">
                <a:solidFill>
                  <a:srgbClr val="FFFFFF"/>
                </a:solidFill>
                <a:latin typeface="Jost" pitchFamily="34" charset="0"/>
                <a:ea typeface="Jost" pitchFamily="34" charset="-122"/>
                <a:cs typeface="Jost" pitchFamily="34" charset="-120"/>
              </a:rPr>
              <a:t>Every arrival, precisely composed.</a:t>
            </a:r>
            <a:endParaRPr lang="en-US" sz="3600" dirty="0"/>
          </a:p>
        </p:txBody>
      </p:sp>
      <p:sp>
        <p:nvSpPr>
          <p:cNvPr id="7" name="Shape 5"/>
          <p:cNvSpPr/>
          <p:nvPr/>
        </p:nvSpPr>
        <p:spPr>
          <a:xfrm>
            <a:off x="812800" y="5233095"/>
            <a:ext cx="5080000" cy="0"/>
          </a:xfrm>
          <a:prstGeom prst="line">
            <a:avLst/>
          </a:prstGeom>
          <a:noFill/>
          <a:ln w="6350">
            <a:solidFill>
              <a:srgbClr val="BCACA7"/>
            </a:solidFill>
            <a:prstDash val="solid"/>
          </a:ln>
        </p:spPr>
        <p:txBody>
          <a:bodyPr/>
          <a:p/>
        </p:txBody>
      </p:sp>
      <p:sp>
        <p:nvSpPr>
          <p:cNvPr id="8" name="Text 6"/>
          <p:cNvSpPr/>
          <p:nvPr/>
        </p:nvSpPr>
        <p:spPr>
          <a:xfrm>
            <a:off x="812800" y="5363270"/>
            <a:ext cx="523240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Primary. Capitals, Jost, tracking .18em, one line. The signature of the brand.</a:t>
            </a:r>
            <a:endParaRPr lang="en-US" sz="1300" dirty="0"/>
          </a:p>
        </p:txBody>
      </p:sp>
      <p:sp>
        <p:nvSpPr>
          <p:cNvPr id="9" name="Shape 7"/>
          <p:cNvSpPr/>
          <p:nvPr/>
        </p:nvSpPr>
        <p:spPr>
          <a:xfrm>
            <a:off x="6299200" y="5233095"/>
            <a:ext cx="5080000" cy="0"/>
          </a:xfrm>
          <a:prstGeom prst="line">
            <a:avLst/>
          </a:prstGeom>
          <a:noFill/>
          <a:ln w="6350">
            <a:solidFill>
              <a:srgbClr val="BCACA7"/>
            </a:solidFill>
            <a:prstDash val="solid"/>
          </a:ln>
        </p:spPr>
        <p:txBody>
          <a:bodyPr/>
          <a:p/>
        </p:txBody>
      </p:sp>
      <p:sp>
        <p:nvSpPr>
          <p:cNvPr id="10" name="Text 8"/>
          <p:cNvSpPr/>
          <p:nvPr/>
        </p:nvSpPr>
        <p:spPr>
          <a:xfrm>
            <a:off x="6299200" y="5363270"/>
            <a:ext cx="523240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Secondary. Sentence case, Jost 400. At most once in a composition, and never beside the primary at equal weight.</a:t>
            </a:r>
            <a:endParaRPr lang="en-US" sz="13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VOICE</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TREATMENT</a:t>
            </a:r>
            <a:endParaRPr lang="en-US" sz="1200" dirty="0"/>
          </a:p>
        </p:txBody>
      </p:sp>
      <p:sp>
        <p:nvSpPr>
          <p:cNvPr id="3" name="Text 1"/>
          <p:cNvSpPr/>
          <p:nvPr>
            <p:ph type="title"/>
          </p:nvPr>
        </p:nvSpPr>
        <p:spPr>
          <a:xfrm>
            <a:off x="812800" y="1203920"/>
            <a:ext cx="4892294"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Set it once, set it right.</a:t>
            </a:r>
            <a:endParaRPr lang="en-US" sz="3000" dirty="0"/>
          </a:p>
        </p:txBody>
      </p:sp>
      <p:sp>
        <p:nvSpPr>
          <p:cNvPr id="4" name="Text 2"/>
          <p:cNvSpPr/>
          <p:nvPr/>
        </p:nvSpPr>
        <p:spPr>
          <a:xfrm>
            <a:off x="812800" y="18008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Where. Covers, closing pages, section statements, secondary zones of packaging, campaign sign-off.</a:t>
            </a:r>
            <a:endParaRPr lang="en-US" sz="1400" dirty="0"/>
          </a:p>
        </p:txBody>
      </p:sp>
      <p:sp>
        <p:nvSpPr>
          <p:cNvPr id="5" name="Text 3"/>
          <p:cNvSpPr/>
          <p:nvPr/>
        </p:nvSpPr>
        <p:spPr>
          <a:xfrm>
            <a:off x="812800" y="25120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How. Clear of the logo by at least two u. It is not permanently locked to the logo.</a:t>
            </a:r>
            <a:endParaRPr lang="en-US" sz="1400" dirty="0"/>
          </a:p>
        </p:txBody>
      </p:sp>
      <p:sp>
        <p:nvSpPr>
          <p:cNvPr id="6" name="Text 4"/>
          <p:cNvSpPr/>
          <p:nvPr/>
        </p:nvSpPr>
        <p:spPr>
          <a:xfrm>
            <a:off x="812800" y="32232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Language. English only until an Arabic line is approved: PENDING LOCALIZATION APPROVAL.</a:t>
            </a:r>
            <a:endParaRPr lang="en-US" sz="1400" dirty="0"/>
          </a:p>
        </p:txBody>
      </p:sp>
      <p:sp>
        <p:nvSpPr>
          <p:cNvPr id="7" name="Shape 5"/>
          <p:cNvSpPr/>
          <p:nvPr/>
        </p:nvSpPr>
        <p:spPr>
          <a:xfrm>
            <a:off x="6178550" y="1497409"/>
            <a:ext cx="5194300" cy="810220"/>
          </a:xfrm>
          <a:prstGeom prst="rect">
            <a:avLst/>
          </a:prstGeom>
          <a:noFill/>
          <a:ln w="12700">
            <a:solidFill>
              <a:srgbClr val="12171D"/>
            </a:solidFill>
            <a:prstDash val="solid"/>
          </a:ln>
        </p:spPr>
        <p:txBody>
          <a:bodyPr/>
          <a:p/>
        </p:txBody>
      </p:sp>
      <p:sp>
        <p:nvSpPr>
          <p:cNvPr id="8" name="Text 6"/>
          <p:cNvSpPr/>
          <p:nvPr/>
        </p:nvSpPr>
        <p:spPr>
          <a:xfrm>
            <a:off x="6362700" y="1643459"/>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CORRECT</a:t>
            </a:r>
            <a:endParaRPr lang="en-US" sz="1200" dirty="0"/>
          </a:p>
        </p:txBody>
      </p:sp>
      <p:sp>
        <p:nvSpPr>
          <p:cNvPr id="9" name="Text 7"/>
          <p:cNvSpPr/>
          <p:nvPr/>
        </p:nvSpPr>
        <p:spPr>
          <a:xfrm>
            <a:off x="6362700" y="189488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pc="270" kern="0" dirty="0">
                <a:solidFill>
                  <a:srgbClr val="12171D"/>
                </a:solidFill>
                <a:latin typeface="Jost" pitchFamily="34" charset="0"/>
                <a:ea typeface="Jost" pitchFamily="34" charset="-122"/>
                <a:cs typeface="Jost" pitchFamily="34" charset="-120"/>
              </a:rPr>
              <a:t>HOSPITALITY, IN PERFECT PROPORTION</a:t>
            </a:r>
            <a:endParaRPr lang="en-US" sz="1500" dirty="0"/>
          </a:p>
        </p:txBody>
      </p:sp>
      <p:sp>
        <p:nvSpPr>
          <p:cNvPr id="10" name="Shape 8"/>
          <p:cNvSpPr/>
          <p:nvPr/>
        </p:nvSpPr>
        <p:spPr>
          <a:xfrm>
            <a:off x="6178550" y="2447330"/>
            <a:ext cx="5194300" cy="810220"/>
          </a:xfrm>
          <a:prstGeom prst="rect">
            <a:avLst/>
          </a:prstGeom>
          <a:noFill/>
          <a:ln w="12700">
            <a:solidFill>
              <a:srgbClr val="12171D"/>
            </a:solidFill>
            <a:prstDash val="dash"/>
          </a:ln>
        </p:spPr>
        <p:txBody>
          <a:bodyPr/>
          <a:p/>
        </p:txBody>
      </p:sp>
      <p:sp>
        <p:nvSpPr>
          <p:cNvPr id="11" name="Text 9"/>
          <p:cNvSpPr/>
          <p:nvPr/>
        </p:nvSpPr>
        <p:spPr>
          <a:xfrm>
            <a:off x="6362700" y="259338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LOWERCASED</a:t>
            </a:r>
            <a:endParaRPr lang="en-US" sz="1200" dirty="0"/>
          </a:p>
        </p:txBody>
      </p:sp>
      <p:sp>
        <p:nvSpPr>
          <p:cNvPr id="12" name="Text 10"/>
          <p:cNvSpPr/>
          <p:nvPr/>
        </p:nvSpPr>
        <p:spPr>
          <a:xfrm>
            <a:off x="6362700" y="284480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trike="sngStrike" dirty="0">
                <a:solidFill>
                  <a:srgbClr val="12171D"/>
                </a:solidFill>
                <a:latin typeface="Jost" pitchFamily="34" charset="0"/>
                <a:ea typeface="Jost" pitchFamily="34" charset="-122"/>
                <a:cs typeface="Jost" pitchFamily="34" charset="-120"/>
              </a:rPr>
              <a:t>Hospitality, in perfect proportion</a:t>
            </a:r>
            <a:endParaRPr lang="en-US" sz="1500" dirty="0"/>
          </a:p>
        </p:txBody>
      </p:sp>
      <p:sp>
        <p:nvSpPr>
          <p:cNvPr id="13" name="Shape 11"/>
          <p:cNvSpPr/>
          <p:nvPr/>
        </p:nvSpPr>
        <p:spPr>
          <a:xfrm>
            <a:off x="6178550" y="3397250"/>
            <a:ext cx="5194300" cy="810220"/>
          </a:xfrm>
          <a:prstGeom prst="rect">
            <a:avLst/>
          </a:prstGeom>
          <a:noFill/>
          <a:ln w="12700">
            <a:solidFill>
              <a:srgbClr val="12171D"/>
            </a:solidFill>
            <a:prstDash val="dash"/>
          </a:ln>
        </p:spPr>
        <p:txBody>
          <a:bodyPr/>
          <a:p/>
        </p:txBody>
      </p:sp>
      <p:sp>
        <p:nvSpPr>
          <p:cNvPr id="14" name="Text 12"/>
          <p:cNvSpPr/>
          <p:nvPr/>
        </p:nvSpPr>
        <p:spPr>
          <a:xfrm>
            <a:off x="6362700" y="35433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SHORTENED</a:t>
            </a:r>
            <a:endParaRPr lang="en-US" sz="1200" dirty="0"/>
          </a:p>
        </p:txBody>
      </p:sp>
      <p:sp>
        <p:nvSpPr>
          <p:cNvPr id="15" name="Text 13"/>
          <p:cNvSpPr/>
          <p:nvPr/>
        </p:nvSpPr>
        <p:spPr>
          <a:xfrm>
            <a:off x="6362700" y="379472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trike="sngStrike" spc="270" kern="0" dirty="0">
                <a:solidFill>
                  <a:srgbClr val="12171D"/>
                </a:solidFill>
                <a:latin typeface="Jost" pitchFamily="34" charset="0"/>
                <a:ea typeface="Jost" pitchFamily="34" charset="-122"/>
                <a:cs typeface="Jost" pitchFamily="34" charset="-120"/>
              </a:rPr>
              <a:t>IN PERFECT PROPORTION</a:t>
            </a:r>
            <a:endParaRPr lang="en-US" sz="1500" dirty="0"/>
          </a:p>
        </p:txBody>
      </p:sp>
      <p:sp>
        <p:nvSpPr>
          <p:cNvPr id="16" name="Shape 14"/>
          <p:cNvSpPr/>
          <p:nvPr/>
        </p:nvSpPr>
        <p:spPr>
          <a:xfrm>
            <a:off x="6178550" y="4347170"/>
            <a:ext cx="5194300" cy="810220"/>
          </a:xfrm>
          <a:prstGeom prst="rect">
            <a:avLst/>
          </a:prstGeom>
          <a:noFill/>
          <a:ln w="12700">
            <a:solidFill>
              <a:srgbClr val="12171D"/>
            </a:solidFill>
            <a:prstDash val="dash"/>
          </a:ln>
        </p:spPr>
        <p:txBody>
          <a:bodyPr/>
          <a:p/>
        </p:txBody>
      </p:sp>
      <p:sp>
        <p:nvSpPr>
          <p:cNvPr id="17" name="Text 15"/>
          <p:cNvSpPr/>
          <p:nvPr/>
        </p:nvSpPr>
        <p:spPr>
          <a:xfrm>
            <a:off x="6362700" y="449322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RETIRED TRACKING</a:t>
            </a:r>
            <a:endParaRPr lang="en-US" sz="1200" dirty="0"/>
          </a:p>
        </p:txBody>
      </p:sp>
      <p:sp>
        <p:nvSpPr>
          <p:cNvPr id="18" name="Text 16"/>
          <p:cNvSpPr/>
          <p:nvPr/>
        </p:nvSpPr>
        <p:spPr>
          <a:xfrm>
            <a:off x="6362700" y="4744641"/>
            <a:ext cx="4970780" cy="292100"/>
          </a:xfrm>
          <a:prstGeom prst="rect">
            <a:avLst/>
          </a:prstGeom>
          <a:noFill/>
          <a:ln/>
        </p:spPr>
        <p:txBody>
          <a:bodyPr wrap="none" lIns="0" tIns="0" rIns="0" bIns="0" rtlCol="0" anchor="t">
            <a:normAutofit/>
          </a:bodyPr>
          <a:lstStyle/>
          <a:p>
            <a:pPr algn="l" indent="0" marL="0">
              <a:lnSpc>
                <a:spcPts val="2100"/>
              </a:lnSpc>
              <a:buNone/>
            </a:pPr>
            <a:r>
              <a:rPr lang="en-US" sz="1500" strike="sngStrike" spc="450" kern="0" dirty="0">
                <a:solidFill>
                  <a:srgbClr val="12171D"/>
                </a:solidFill>
                <a:latin typeface="Jost" pitchFamily="34" charset="0"/>
                <a:ea typeface="Jost" pitchFamily="34" charset="-122"/>
                <a:cs typeface="Jost" pitchFamily="34" charset="-120"/>
              </a:rPr>
              <a:t>HOSPITALITY, IN</a:t>
            </a:r>
            <a:endParaRPr lang="en-US" sz="15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03</a:t>
            </a:r>
            <a:endParaRPr lang="en-US" sz="1400" dirty="0"/>
          </a:p>
        </p:txBody>
      </p:sp>
      <p:sp>
        <p:nvSpPr>
          <p:cNvPr id="4" name="Text 1"/>
          <p:cNvSpPr/>
          <p:nvPr>
            <p:ph type="title"/>
          </p:nvPr>
        </p:nvSpPr>
        <p:spPr>
          <a:xfrm>
            <a:off x="812800" y="2540000"/>
            <a:ext cx="719455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IDENTITY</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Logo, colour, type, Arabic, composition and the graphic language.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812800"/>
            <a:ext cx="5715000" cy="5029200"/>
          </a:xfrm>
          <a:prstGeom prst="rect">
            <a:avLst/>
          </a:prstGeom>
          <a:solidFill>
            <a:srgbClr val="12171D"/>
          </a:solidFill>
          <a:ln/>
        </p:spPr>
        <p:txBody>
          <a:bodyPr/>
          <a:p/>
        </p:txBody>
      </p:sp>
      <p:sp>
        <p:nvSpPr>
          <p:cNvPr id="3" name="Text 1"/>
          <p:cNvSpPr/>
          <p:nvPr/>
        </p:nvSpPr>
        <p:spPr>
          <a:xfrm>
            <a:off x="1117600" y="1117600"/>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PRIMARY HORIZONTAL SIGNATURE</a:t>
            </a:r>
            <a:endParaRPr lang="en-US" sz="1200" dirty="0"/>
          </a:p>
        </p:txBody>
      </p:sp>
      <p:pic>
        <p:nvPicPr>
          <p:cNvPr id="4" name="Image 0" descr="Primary horizontal signature, Beige on Ink, supplied raster." title="Primary horizontal signature, Beige on Ink, supplied raster.">    </p:cNvPr>
          <p:cNvPicPr>
            <a:picLocks noChangeAspect="1"/>
          </p:cNvPicPr>
          <p:nvPr/>
        </p:nvPicPr>
        <p:blipFill>
          <a:blip r:embed="rId1"/>
          <a:srcRect l="0" r="0" t="-24" b="-24"/>
          <a:stretch/>
        </p:blipFill>
        <p:spPr>
          <a:xfrm>
            <a:off x="1117600" y="2552700"/>
            <a:ext cx="4572000" cy="1447800"/>
          </a:xfrm>
          <a:prstGeom prst="rect">
            <a:avLst/>
          </a:prstGeom>
        </p:spPr>
      </p:pic>
      <p:sp>
        <p:nvSpPr>
          <p:cNvPr id="5" name="Text 2"/>
          <p:cNvSpPr/>
          <p:nvPr/>
        </p:nvSpPr>
        <p:spPr>
          <a:xfrm>
            <a:off x="1123950" y="5228630"/>
            <a:ext cx="2763391" cy="302220"/>
          </a:xfrm>
          <a:prstGeom prst="rect">
            <a:avLst/>
          </a:prstGeom>
          <a:noFill/>
          <a:ln w="12700">
            <a:solidFill>
              <a:srgbClr val="BCACA7"/>
            </a:solidFill>
            <a:prstDash val="dash"/>
          </a:ln>
        </p:spPr>
        <p:txBody>
          <a:bodyPr wrap="none" lIns="0" tIns="0" rIns="0" bIns="0" rtlCol="0" anchor="ctr">
            <a:normAutofit/>
          </a:bodyPr>
          <a:lstStyle/>
          <a:p>
            <a:pPr algn="ctr" indent="0" marL="0">
              <a:lnSpc>
                <a:spcPts val="1680"/>
              </a:lnSpc>
              <a:buNone/>
            </a:pPr>
            <a:r>
              <a:rPr lang="en-US" sz="1200" spc="50" kern="0" dirty="0">
                <a:solidFill>
                  <a:srgbClr val="BCACA7"/>
                </a:solidFill>
                <a:latin typeface="Inter" pitchFamily="34" charset="0"/>
                <a:ea typeface="Inter" pitchFamily="34" charset="-122"/>
                <a:cs typeface="Inter" pitchFamily="34" charset="-120"/>
              </a:rPr>
              <a:t>PENDING PRODUCTION MASTER</a:t>
            </a:r>
            <a:endParaRPr lang="en-US" sz="1200" dirty="0"/>
          </a:p>
        </p:txBody>
      </p:sp>
      <p:sp>
        <p:nvSpPr>
          <p:cNvPr id="6" name="Shape 3"/>
          <p:cNvSpPr/>
          <p:nvPr/>
        </p:nvSpPr>
        <p:spPr>
          <a:xfrm>
            <a:off x="6686550" y="819150"/>
            <a:ext cx="4686300" cy="2438400"/>
          </a:xfrm>
          <a:prstGeom prst="rect">
            <a:avLst/>
          </a:prstGeom>
          <a:solidFill>
            <a:srgbClr val="FFFFFF"/>
          </a:solidFill>
          <a:ln w="12700">
            <a:solidFill>
              <a:srgbClr val="BCACA7"/>
            </a:solidFill>
            <a:prstDash val="solid"/>
          </a:ln>
        </p:spPr>
        <p:txBody>
          <a:bodyPr/>
          <a:p/>
        </p:txBody>
      </p:sp>
      <p:sp>
        <p:nvSpPr>
          <p:cNvPr id="7" name="Text 4"/>
          <p:cNvSpPr/>
          <p:nvPr/>
        </p:nvSpPr>
        <p:spPr>
          <a:xfrm>
            <a:off x="6921500" y="1054100"/>
            <a:ext cx="43428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MONOCHROME</a:t>
            </a:r>
            <a:endParaRPr lang="en-US" sz="1200" dirty="0"/>
          </a:p>
        </p:txBody>
      </p:sp>
      <p:pic>
        <p:nvPicPr>
          <p:cNvPr id="8" name="Image 1" descr="Monochrome signature, Black on White, supplied raster." title="Monochrome signature, Black on White, supplied raster.">    </p:cNvPr>
          <p:cNvPicPr>
            <a:picLocks noChangeAspect="1"/>
          </p:cNvPicPr>
          <p:nvPr/>
        </p:nvPicPr>
        <p:blipFill>
          <a:blip r:embed="rId2"/>
          <a:srcRect l="0" r="0" t="-24" b="-24"/>
          <a:stretch/>
        </p:blipFill>
        <p:spPr>
          <a:xfrm>
            <a:off x="6921500" y="1577975"/>
            <a:ext cx="2667000" cy="844550"/>
          </a:xfrm>
          <a:prstGeom prst="rect">
            <a:avLst/>
          </a:prstGeom>
        </p:spPr>
      </p:pic>
      <p:sp>
        <p:nvSpPr>
          <p:cNvPr id="9" name="Text 5"/>
          <p:cNvSpPr/>
          <p:nvPr/>
        </p:nvSpPr>
        <p:spPr>
          <a:xfrm>
            <a:off x="6927850" y="2739430"/>
            <a:ext cx="2579241" cy="276820"/>
          </a:xfrm>
          <a:prstGeom prst="rect">
            <a:avLst/>
          </a:prstGeom>
          <a:noFill/>
          <a:ln w="12700">
            <a:solidFill>
              <a:srgbClr val="12171D"/>
            </a:solidFill>
            <a:prstDash val="dash"/>
          </a:ln>
        </p:spPr>
        <p:txBody>
          <a:bodyPr wrap="none" lIns="0" tIns="0" rIns="0" bIns="0" rtlCol="0" anchor="ctr">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p>
        </p:txBody>
      </p:sp>
      <p:sp>
        <p:nvSpPr>
          <p:cNvPr id="10" name="Shape 6"/>
          <p:cNvSpPr/>
          <p:nvPr/>
        </p:nvSpPr>
        <p:spPr>
          <a:xfrm>
            <a:off x="6680200" y="3416300"/>
            <a:ext cx="4699000" cy="2425700"/>
          </a:xfrm>
          <a:prstGeom prst="rect">
            <a:avLst/>
          </a:prstGeom>
          <a:solidFill>
            <a:srgbClr val="020202"/>
          </a:solidFill>
          <a:ln/>
        </p:spPr>
        <p:txBody>
          <a:bodyPr/>
          <a:p/>
        </p:txBody>
      </p:sp>
      <p:sp>
        <p:nvSpPr>
          <p:cNvPr id="11" name="Text 7"/>
          <p:cNvSpPr/>
          <p:nvPr/>
        </p:nvSpPr>
        <p:spPr>
          <a:xfrm>
            <a:off x="6908800" y="3644900"/>
            <a:ext cx="43690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REVERSED · INK OR BLACK ONLY</a:t>
            </a:r>
            <a:endParaRPr lang="en-US" sz="1200" dirty="0"/>
          </a:p>
        </p:txBody>
      </p:sp>
      <p:pic>
        <p:nvPicPr>
          <p:cNvPr id="12" name="Image 2" descr="Reversed signature, White on Ink, supplied raster." title="Reversed signature, White on Ink, supplied raster.">    </p:cNvPr>
          <p:cNvPicPr>
            <a:picLocks noChangeAspect="1"/>
          </p:cNvPicPr>
          <p:nvPr/>
        </p:nvPicPr>
        <p:blipFill>
          <a:blip r:embed="rId3"/>
          <a:srcRect l="0" r="0" t="-24" b="-24"/>
          <a:stretch/>
        </p:blipFill>
        <p:spPr>
          <a:xfrm>
            <a:off x="6908800" y="4168775"/>
            <a:ext cx="2667000" cy="844550"/>
          </a:xfrm>
          <a:prstGeom prst="rect">
            <a:avLst/>
          </a:prstGeom>
        </p:spPr>
      </p:pic>
      <p:sp>
        <p:nvSpPr>
          <p:cNvPr id="13" name="Text 8"/>
          <p:cNvSpPr/>
          <p:nvPr/>
        </p:nvSpPr>
        <p:spPr>
          <a:xfrm>
            <a:off x="6915150" y="5330230"/>
            <a:ext cx="2579241" cy="276820"/>
          </a:xfrm>
          <a:prstGeom prst="rect">
            <a:avLst/>
          </a:prstGeom>
          <a:noFill/>
          <a:ln w="12700">
            <a:solidFill>
              <a:srgbClr val="BCACA7"/>
            </a:solidFill>
            <a:prstDash val="dash"/>
          </a:ln>
        </p:spPr>
        <p:txBody>
          <a:bodyPr wrap="none" lIns="0" tIns="0" rIns="0" bIns="0" rtlCol="0" anchor="ctr">
            <a:normAutofit/>
          </a:bodyPr>
          <a:lstStyle/>
          <a:p>
            <a:pPr algn="ctr" indent="0" marL="0">
              <a:lnSpc>
                <a:spcPts val="1680"/>
              </a:lnSpc>
              <a:buNone/>
            </a:pPr>
            <a:r>
              <a:rPr lang="en-US" sz="1200" dirty="0">
                <a:solidFill>
                  <a:srgbClr val="BCACA7"/>
                </a:solidFill>
                <a:latin typeface="Inter" pitchFamily="34" charset="0"/>
                <a:ea typeface="Inter" pitchFamily="34" charset="-122"/>
                <a:cs typeface="Inter" pitchFamily="34" charset="-120"/>
              </a:rPr>
              <a:t>PENDING PRODUCTION MASTER</a:t>
            </a:r>
            <a:endParaRPr lang="en-US" sz="1200" dirty="0"/>
          </a:p>
        </p:txBody>
      </p:sp>
      <p:sp>
        <p:nvSpPr>
          <p:cNvPr id="14"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15"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LOGO SET · SUPPLIED AND NOT YET SUPPLIED</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Five artworks exist. The rest are named, not faked.</a:t>
            </a:r>
            <a:endParaRPr lang="en-US" sz="3200" dirty="0"/>
          </a:p>
        </p:txBody>
      </p:sp>
      <p:sp>
        <p:nvSpPr>
          <p:cNvPr id="4" name="Shape 2"/>
          <p:cNvSpPr/>
          <p:nvPr/>
        </p:nvSpPr>
        <p:spPr>
          <a:xfrm>
            <a:off x="812800" y="1930350"/>
            <a:ext cx="2011660" cy="3911650"/>
          </a:xfrm>
          <a:prstGeom prst="rect">
            <a:avLst/>
          </a:prstGeom>
          <a:solidFill>
            <a:srgbClr val="12171D"/>
          </a:solidFill>
          <a:ln/>
        </p:spPr>
        <p:txBody>
          <a:bodyPr/>
          <a:p/>
        </p:txBody>
      </p:sp>
      <p:pic>
        <p:nvPicPr>
          <p:cNvPr id="5" name="Image 0" descr="Standalone symbol, Beige on Ink, supplied raster." title="Standalone symbol, Beige on Ink, supplied raster.">    </p:cNvPr>
          <p:cNvPicPr>
            <a:picLocks noChangeAspect="1"/>
          </p:cNvPicPr>
          <p:nvPr/>
        </p:nvPicPr>
        <p:blipFill>
          <a:blip r:embed="rId1"/>
          <a:srcRect l="0" r="0" t="-59" b="-59"/>
          <a:stretch/>
        </p:blipFill>
        <p:spPr>
          <a:xfrm>
            <a:off x="1183630" y="2082750"/>
            <a:ext cx="1270000" cy="1149350"/>
          </a:xfrm>
          <a:prstGeom prst="rect">
            <a:avLst/>
          </a:prstGeom>
        </p:spPr>
      </p:pic>
      <p:sp>
        <p:nvSpPr>
          <p:cNvPr id="6" name="Text 3"/>
          <p:cNvSpPr/>
          <p:nvPr/>
        </p:nvSpPr>
        <p:spPr>
          <a:xfrm>
            <a:off x="915958" y="5491510"/>
            <a:ext cx="1805345"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BCACA7"/>
                </a:solidFill>
                <a:latin typeface="Inter" pitchFamily="34" charset="0"/>
                <a:ea typeface="Inter" pitchFamily="34" charset="-122"/>
                <a:cs typeface="Inter" pitchFamily="34" charset="-120"/>
              </a:rPr>
              <a:t>Symbol, beige on ink</a:t>
            </a:r>
            <a:endParaRPr lang="en-US" sz="1200" dirty="0"/>
          </a:p>
        </p:txBody>
      </p:sp>
      <p:sp>
        <p:nvSpPr>
          <p:cNvPr id="7" name="Shape 4"/>
          <p:cNvSpPr/>
          <p:nvPr/>
        </p:nvSpPr>
        <p:spPr>
          <a:xfrm>
            <a:off x="2932410" y="1936700"/>
            <a:ext cx="2024410" cy="3898950"/>
          </a:xfrm>
          <a:prstGeom prst="rect">
            <a:avLst/>
          </a:prstGeom>
          <a:solidFill>
            <a:srgbClr val="FFFFFF"/>
          </a:solidFill>
          <a:ln w="12700">
            <a:solidFill>
              <a:srgbClr val="BCACA7"/>
            </a:solidFill>
            <a:prstDash val="solid"/>
          </a:ln>
        </p:spPr>
        <p:txBody>
          <a:bodyPr/>
          <a:p/>
        </p:txBody>
      </p:sp>
      <p:pic>
        <p:nvPicPr>
          <p:cNvPr id="8" name="Image 1" descr="Standalone symbol, Black on White, supplied raster." title="Standalone symbol, Black on White, supplied raster.">    </p:cNvPr>
          <p:cNvPicPr>
            <a:picLocks noChangeAspect="1"/>
          </p:cNvPicPr>
          <p:nvPr/>
        </p:nvPicPr>
        <p:blipFill>
          <a:blip r:embed="rId2"/>
          <a:srcRect l="0" r="0" t="-59" b="-59"/>
          <a:stretch/>
        </p:blipFill>
        <p:spPr>
          <a:xfrm>
            <a:off x="3309590" y="2095450"/>
            <a:ext cx="1270000" cy="1149350"/>
          </a:xfrm>
          <a:prstGeom prst="rect">
            <a:avLst/>
          </a:prstGeom>
        </p:spPr>
      </p:pic>
      <p:sp>
        <p:nvSpPr>
          <p:cNvPr id="9" name="Text 5"/>
          <p:cNvSpPr/>
          <p:nvPr/>
        </p:nvSpPr>
        <p:spPr>
          <a:xfrm>
            <a:off x="2943865" y="5478810"/>
            <a:ext cx="200150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2171D"/>
                </a:solidFill>
                <a:latin typeface="Inter" pitchFamily="34" charset="0"/>
                <a:ea typeface="Inter" pitchFamily="34" charset="-122"/>
                <a:cs typeface="Inter" pitchFamily="34" charset="-120"/>
              </a:rPr>
              <a:t>Symbol, black on white</a:t>
            </a:r>
            <a:endParaRPr lang="en-US" sz="1200" dirty="0"/>
          </a:p>
        </p:txBody>
      </p:sp>
      <p:sp>
        <p:nvSpPr>
          <p:cNvPr id="10" name="Shape 6"/>
          <p:cNvSpPr/>
          <p:nvPr/>
        </p:nvSpPr>
        <p:spPr>
          <a:xfrm>
            <a:off x="5071120" y="1936700"/>
            <a:ext cx="2024360" cy="3898950"/>
          </a:xfrm>
          <a:prstGeom prst="rect">
            <a:avLst/>
          </a:prstGeom>
          <a:noFill/>
          <a:ln w="12700">
            <a:solidFill>
              <a:srgbClr val="12171D"/>
            </a:solidFill>
            <a:prstDash val="dash"/>
          </a:ln>
        </p:spPr>
        <p:txBody>
          <a:bodyPr/>
          <a:p/>
        </p:txBody>
      </p:sp>
      <p:sp>
        <p:nvSpPr>
          <p:cNvPr id="11" name="Text 7"/>
          <p:cNvSpPr/>
          <p:nvPr/>
        </p:nvSpPr>
        <p:spPr>
          <a:xfrm>
            <a:off x="5229870" y="3401715"/>
            <a:ext cx="1758066" cy="521891"/>
          </a:xfrm>
          <a:prstGeom prst="rect">
            <a:avLst/>
          </a:prstGeom>
          <a:noFill/>
          <a:ln/>
        </p:spPr>
        <p:txBody>
          <a:bodyPr wrap="square" lIns="0" tIns="0" rIns="0" bIns="0" rtlCol="0" anchor="t">
            <a:normAutofit/>
          </a:bodyPr>
          <a:lstStyle/>
          <a:p>
            <a:pPr algn="l" indent="0" marL="0">
              <a:lnSpc>
                <a:spcPts val="1955"/>
              </a:lnSpc>
              <a:buNone/>
            </a:pPr>
            <a:r>
              <a:rPr lang="en-US" sz="1700" dirty="0">
                <a:solidFill>
                  <a:srgbClr val="12171D"/>
                </a:solidFill>
                <a:latin typeface="Jost" pitchFamily="34" charset="0"/>
                <a:ea typeface="Jost" pitchFamily="34" charset="-122"/>
                <a:cs typeface="Jost" pitchFamily="34" charset="-120"/>
              </a:rPr>
              <a:t>Stacked configuration</a:t>
            </a:r>
            <a:endParaRPr lang="en-US" sz="1700" dirty="0"/>
          </a:p>
        </p:txBody>
      </p:sp>
      <p:sp>
        <p:nvSpPr>
          <p:cNvPr id="12" name="Text 8"/>
          <p:cNvSpPr/>
          <p:nvPr/>
        </p:nvSpPr>
        <p:spPr>
          <a:xfrm>
            <a:off x="5229870" y="3974405"/>
            <a:ext cx="175806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Not supplied. PENDING PRODUCTION MASTER</a:t>
            </a:r>
            <a:endParaRPr lang="en-US" sz="1200" dirty="0"/>
          </a:p>
        </p:txBody>
      </p:sp>
      <p:sp>
        <p:nvSpPr>
          <p:cNvPr id="13" name="Shape 9"/>
          <p:cNvSpPr/>
          <p:nvPr/>
        </p:nvSpPr>
        <p:spPr>
          <a:xfrm>
            <a:off x="7209780" y="1936700"/>
            <a:ext cx="2024410" cy="3898950"/>
          </a:xfrm>
          <a:prstGeom prst="rect">
            <a:avLst/>
          </a:prstGeom>
          <a:noFill/>
          <a:ln w="12700">
            <a:solidFill>
              <a:srgbClr val="12171D"/>
            </a:solidFill>
            <a:prstDash val="dash"/>
          </a:ln>
        </p:spPr>
        <p:txBody>
          <a:bodyPr/>
          <a:p/>
        </p:txBody>
      </p:sp>
      <p:sp>
        <p:nvSpPr>
          <p:cNvPr id="14" name="Text 10"/>
          <p:cNvSpPr/>
          <p:nvPr/>
        </p:nvSpPr>
        <p:spPr>
          <a:xfrm>
            <a:off x="7368530" y="3401715"/>
            <a:ext cx="1758117" cy="521891"/>
          </a:xfrm>
          <a:prstGeom prst="rect">
            <a:avLst/>
          </a:prstGeom>
          <a:noFill/>
          <a:ln/>
        </p:spPr>
        <p:txBody>
          <a:bodyPr wrap="square" lIns="0" tIns="0" rIns="0" bIns="0" rtlCol="0" anchor="t">
            <a:normAutofit/>
          </a:bodyPr>
          <a:lstStyle/>
          <a:p>
            <a:pPr algn="l" indent="0" marL="0">
              <a:lnSpc>
                <a:spcPts val="1955"/>
              </a:lnSpc>
              <a:buNone/>
            </a:pPr>
            <a:r>
              <a:rPr lang="en-US" sz="1700" dirty="0">
                <a:solidFill>
                  <a:srgbClr val="12171D"/>
                </a:solidFill>
                <a:latin typeface="Jost" pitchFamily="34" charset="0"/>
                <a:ea typeface="Jost" pitchFamily="34" charset="-122"/>
                <a:cs typeface="Jost" pitchFamily="34" charset="-120"/>
              </a:rPr>
              <a:t>Micro, no-spark mark</a:t>
            </a:r>
            <a:endParaRPr lang="en-US" sz="1700" dirty="0"/>
          </a:p>
        </p:txBody>
      </p:sp>
      <p:sp>
        <p:nvSpPr>
          <p:cNvPr id="15" name="Text 11"/>
          <p:cNvSpPr/>
          <p:nvPr/>
        </p:nvSpPr>
        <p:spPr>
          <a:xfrm>
            <a:off x="7368530" y="3974405"/>
            <a:ext cx="175811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Required below 32px. Not supplied. PENDING</a:t>
            </a:r>
            <a:endParaRPr lang="en-US" sz="1200" dirty="0"/>
          </a:p>
        </p:txBody>
      </p:sp>
      <p:sp>
        <p:nvSpPr>
          <p:cNvPr id="16" name="Shape 12"/>
          <p:cNvSpPr/>
          <p:nvPr/>
        </p:nvSpPr>
        <p:spPr>
          <a:xfrm>
            <a:off x="9348490" y="1936700"/>
            <a:ext cx="2024360" cy="3898950"/>
          </a:xfrm>
          <a:prstGeom prst="rect">
            <a:avLst/>
          </a:prstGeom>
          <a:noFill/>
          <a:ln w="12700">
            <a:solidFill>
              <a:srgbClr val="12171D"/>
            </a:solidFill>
            <a:prstDash val="dash"/>
          </a:ln>
        </p:spPr>
        <p:txBody>
          <a:bodyPr/>
          <a:p/>
        </p:txBody>
      </p:sp>
      <p:sp>
        <p:nvSpPr>
          <p:cNvPr id="17" name="Text 13"/>
          <p:cNvSpPr/>
          <p:nvPr/>
        </p:nvSpPr>
        <p:spPr>
          <a:xfrm>
            <a:off x="9507240" y="3426817"/>
            <a:ext cx="1758066" cy="273645"/>
          </a:xfrm>
          <a:prstGeom prst="rect">
            <a:avLst/>
          </a:prstGeom>
          <a:noFill/>
          <a:ln/>
        </p:spPr>
        <p:txBody>
          <a:bodyPr wrap="square" lIns="0" tIns="0" rIns="0" bIns="0" rtlCol="0" anchor="t">
            <a:normAutofit/>
          </a:bodyPr>
          <a:lstStyle/>
          <a:p>
            <a:pPr algn="l" indent="0" marL="0">
              <a:lnSpc>
                <a:spcPts val="1955"/>
              </a:lnSpc>
              <a:buNone/>
            </a:pPr>
            <a:r>
              <a:rPr lang="en-US" sz="1700" dirty="0">
                <a:solidFill>
                  <a:srgbClr val="12171D"/>
                </a:solidFill>
                <a:latin typeface="Jost" pitchFamily="34" charset="0"/>
                <a:ea typeface="Jost" pitchFamily="34" charset="-122"/>
                <a:cs typeface="Jost" pitchFamily="34" charset="-120"/>
              </a:rPr>
              <a:t>Vector masters</a:t>
            </a:r>
            <a:endParaRPr lang="en-US" sz="1700" dirty="0"/>
          </a:p>
        </p:txBody>
      </p:sp>
      <p:sp>
        <p:nvSpPr>
          <p:cNvPr id="18" name="Text 14"/>
          <p:cNvSpPr/>
          <p:nvPr/>
        </p:nvSpPr>
        <p:spPr>
          <a:xfrm>
            <a:off x="9507240" y="3751263"/>
            <a:ext cx="175806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SVG, PDF, EPS, PNG. PENDING PRODUCTION MASTER</a:t>
            </a:r>
            <a:endParaRPr lang="en-US" sz="12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D"/>
        </a:solidFill>
      </p:bgPr>
    </p:bg>
    <p:spTree>
      <p:nvGrpSpPr>
        <p:cNvPr id="1" name=""/>
        <p:cNvGrpSpPr/>
        <p:nvPr/>
      </p:nvGrpSpPr>
      <p:grpSpPr>
        <a:xfrm>
          <a:off x="0" y="0"/>
          <a:ext cx="0" cy="0"/>
          <a:chOff x="0" y="0"/>
          <a:chExt cx="0" cy="0"/>
        </a:xfrm>
      </p:grpSpPr>
      <p:pic>
        <p:nvPicPr>
          <p:cNvPr id="2" name="Image 0" descr="GEM symbol enlarged with construction callouts: G-ring, opening, quarter mass and spark, described from the supplied raster." title="GEM symbol enlarged with construction callouts: G-ring, open">    </p:cNvPr>
          <p:cNvPicPr>
            <a:picLocks noChangeAspect="1"/>
          </p:cNvPicPr>
          <p:nvPr/>
        </p:nvPicPr>
        <p:blipFill>
          <a:blip r:embed="rId1"/>
          <a:srcRect l="-45" r="-45" t="0" b="0"/>
          <a:stretch/>
        </p:blipFill>
        <p:spPr>
          <a:xfrm>
            <a:off x="1016000" y="952500"/>
            <a:ext cx="4064000" cy="3670300"/>
          </a:xfrm>
          <a:prstGeom prst="rect">
            <a:avLst/>
          </a:prstGeom>
        </p:spPr>
      </p:pic>
      <p:pic>
        <p:nvPicPr>
          <p:cNvPr id="3" name="Image 1"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2"/>
          <a:srcRect l="0" r="0" t="0" b="0"/>
          <a:stretch/>
        </p:blipFill>
        <p:spPr>
          <a:xfrm>
            <a:off x="0" y="0"/>
            <a:ext cx="12192000" cy="6858000"/>
          </a:xfrm>
          <a:prstGeom prst="rect">
            <a:avLst/>
          </a:prstGeom>
        </p:spPr>
      </p:pic>
      <p:sp>
        <p:nvSpPr>
          <p:cNvPr id="4" name="Text 0"/>
          <p:cNvSpPr/>
          <p:nvPr/>
        </p:nvSpPr>
        <p:spPr>
          <a:xfrm>
            <a:off x="812800" y="406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LOGO CONSTRUCTION</a:t>
            </a:r>
            <a:endParaRPr lang="en-US" sz="1200" dirty="0"/>
          </a:p>
        </p:txBody>
      </p:sp>
      <p:sp>
        <p:nvSpPr>
          <p:cNvPr id="5" name="Text 1"/>
          <p:cNvSpPr/>
          <p:nvPr/>
        </p:nvSpPr>
        <p:spPr>
          <a:xfrm>
            <a:off x="5969000" y="952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G-ring</a:t>
            </a:r>
            <a:endParaRPr lang="en-US" sz="2200" dirty="0"/>
          </a:p>
        </p:txBody>
      </p:sp>
      <p:sp>
        <p:nvSpPr>
          <p:cNvPr id="6" name="Text 2"/>
          <p:cNvSpPr/>
          <p:nvPr/>
        </p:nvSpPr>
        <p:spPr>
          <a:xfrm>
            <a:off x="5969000" y="1381720"/>
            <a:ext cx="557250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circle that forms the G. Its radius sets the clearspace unit, u.</a:t>
            </a:r>
            <a:endParaRPr lang="en-US" sz="1300" dirty="0"/>
          </a:p>
        </p:txBody>
      </p:sp>
      <p:sp>
        <p:nvSpPr>
          <p:cNvPr id="7" name="Text 3"/>
          <p:cNvSpPr/>
          <p:nvPr/>
        </p:nvSpPr>
        <p:spPr>
          <a:xfrm>
            <a:off x="5969000" y="1968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Opening</a:t>
            </a:r>
            <a:endParaRPr lang="en-US" sz="2200" dirty="0"/>
          </a:p>
        </p:txBody>
      </p:sp>
      <p:sp>
        <p:nvSpPr>
          <p:cNvPr id="8" name="Text 4"/>
          <p:cNvSpPr/>
          <p:nvPr/>
        </p:nvSpPr>
        <p:spPr>
          <a:xfrm>
            <a:off x="5969000" y="239772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Where the ring opens at the upper right. It makes the letter and gives the mark air.</a:t>
            </a:r>
            <a:endParaRPr lang="en-US" sz="1300" dirty="0"/>
          </a:p>
        </p:txBody>
      </p:sp>
      <p:sp>
        <p:nvSpPr>
          <p:cNvPr id="9" name="Text 5"/>
          <p:cNvSpPr/>
          <p:nvPr/>
        </p:nvSpPr>
        <p:spPr>
          <a:xfrm>
            <a:off x="5969000" y="315595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Quarter mass</a:t>
            </a:r>
            <a:endParaRPr lang="en-US" sz="2200" dirty="0"/>
          </a:p>
        </p:txBody>
      </p:sp>
      <p:sp>
        <p:nvSpPr>
          <p:cNvPr id="10" name="Text 6"/>
          <p:cNvSpPr/>
          <p:nvPr/>
        </p:nvSpPr>
        <p:spPr>
          <a:xfrm>
            <a:off x="5969000" y="358517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solid quarter that anchors the lower right and carries the weight of the mark.</a:t>
            </a:r>
            <a:endParaRPr lang="en-US" sz="1300" dirty="0"/>
          </a:p>
        </p:txBody>
      </p:sp>
      <p:sp>
        <p:nvSpPr>
          <p:cNvPr id="11" name="Text 7"/>
          <p:cNvSpPr/>
          <p:nvPr/>
        </p:nvSpPr>
        <p:spPr>
          <a:xfrm>
            <a:off x="5969000" y="4381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Spark</a:t>
            </a:r>
            <a:endParaRPr lang="en-US" sz="2200" dirty="0"/>
          </a:p>
        </p:txBody>
      </p:sp>
      <p:sp>
        <p:nvSpPr>
          <p:cNvPr id="12" name="Text 8"/>
          <p:cNvSpPr/>
          <p:nvPr/>
        </p:nvSpPr>
        <p:spPr>
          <a:xfrm>
            <a:off x="5969000" y="481072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four-point spark at the end of the quarter's edge: the secondary signature.</a:t>
            </a:r>
            <a:endParaRPr lang="en-US" sz="1300" dirty="0"/>
          </a:p>
        </p:txBody>
      </p:sp>
      <p:sp>
        <p:nvSpPr>
          <p:cNvPr id="13" name="Text 9"/>
          <p:cNvSpPr/>
          <p:nvPr/>
        </p:nvSpPr>
        <p:spPr>
          <a:xfrm>
            <a:off x="1016000" y="5270500"/>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Spark. Proportional measurements will be published from the production master only. PENDING PRODUCTION MASTER</a:t>
            </a:r>
            <a:endParaRPr lang="en-US" sz="1200" dirty="0"/>
          </a:p>
        </p:txBody>
      </p:sp>
      <p:sp>
        <p:nvSpPr>
          <p:cNvPr id="14"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CLEARSPACE AND SIZE</a:t>
            </a:r>
            <a:endParaRPr lang="en-US" sz="1200" dirty="0"/>
          </a:p>
        </p:txBody>
      </p:sp>
      <p:sp>
        <p:nvSpPr>
          <p:cNvPr id="3" name="Shape 1"/>
          <p:cNvSpPr/>
          <p:nvPr/>
        </p:nvSpPr>
        <p:spPr>
          <a:xfrm>
            <a:off x="822325" y="1213445"/>
            <a:ext cx="5530850" cy="2755900"/>
          </a:xfrm>
          <a:prstGeom prst="rect">
            <a:avLst/>
          </a:prstGeom>
          <a:solidFill>
            <a:srgbClr val="FFFFFF"/>
          </a:solidFill>
          <a:ln w="19050">
            <a:solidFill>
              <a:srgbClr val="12171D"/>
            </a:solidFill>
            <a:prstDash val="dash"/>
          </a:ln>
        </p:spPr>
        <p:txBody>
          <a:bodyPr/>
          <a:p/>
        </p:txBody>
      </p:sp>
      <p:pic>
        <p:nvPicPr>
          <p:cNvPr id="4" name="Image 0" descr="Primary signature inside the dashed one-u clearspace boundary." title="Primary signature inside the dashed one-u clearspace boundar">    </p:cNvPr>
          <p:cNvPicPr>
            <a:picLocks noChangeAspect="1"/>
          </p:cNvPicPr>
          <p:nvPr/>
        </p:nvPicPr>
        <p:blipFill>
          <a:blip r:embed="rId1"/>
          <a:srcRect l="0" r="0" t="-106" b="-106"/>
          <a:stretch/>
        </p:blipFill>
        <p:spPr>
          <a:xfrm>
            <a:off x="1555750" y="1946870"/>
            <a:ext cx="4064000" cy="1289050"/>
          </a:xfrm>
          <a:prstGeom prst="rect">
            <a:avLst/>
          </a:prstGeom>
        </p:spPr>
      </p:pic>
      <p:sp>
        <p:nvSpPr>
          <p:cNvPr id="5" name="Text 2"/>
          <p:cNvSpPr/>
          <p:nvPr/>
        </p:nvSpPr>
        <p:spPr>
          <a:xfrm>
            <a:off x="812800" y="4156670"/>
            <a:ext cx="65405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The dashed boundary is 1u on every side. u equals the G-ring radius, about half the height of the symbol.</a:t>
            </a:r>
            <a:endParaRPr lang="en-US" sz="1300" dirty="0"/>
          </a:p>
        </p:txBody>
      </p:sp>
      <p:sp>
        <p:nvSpPr>
          <p:cNvPr id="6" name="Text 3"/>
          <p:cNvSpPr/>
          <p:nvPr/>
        </p:nvSpPr>
        <p:spPr>
          <a:xfrm>
            <a:off x="7620000" y="812800"/>
            <a:ext cx="3871976"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12171D"/>
                </a:solidFill>
                <a:latin typeface="Jost" pitchFamily="34" charset="0"/>
                <a:ea typeface="Jost" pitchFamily="34" charset="-122"/>
                <a:cs typeface="Jost" pitchFamily="34" charset="-120"/>
              </a:rPr>
              <a:t>1u minimum.</a:t>
            </a:r>
            <a:endParaRPr lang="en-US" sz="2800" dirty="0"/>
          </a:p>
          <a:p>
            <a:pPr algn="l" indent="0" marL="0">
              <a:lnSpc>
                <a:spcPts val="3080"/>
              </a:lnSpc>
              <a:buNone/>
            </a:pPr>
            <a:r>
              <a:rPr lang="en-US" sz="2800" dirty="0">
                <a:solidFill>
                  <a:srgbClr val="12171D"/>
                </a:solidFill>
                <a:latin typeface="Jost" pitchFamily="34" charset="0"/>
                <a:ea typeface="Jost" pitchFamily="34" charset="-122"/>
                <a:cs typeface="Jost" pitchFamily="34" charset="-120"/>
              </a:rPr>
              <a:t>2u preferred.</a:t>
            </a:r>
            <a:endParaRPr lang="en-US" sz="2800" dirty="0"/>
          </a:p>
        </p:txBody>
      </p:sp>
      <p:sp>
        <p:nvSpPr>
          <p:cNvPr id="7" name="Text 4"/>
          <p:cNvSpPr/>
          <p:nvPr/>
        </p:nvSpPr>
        <p:spPr>
          <a:xfrm>
            <a:off x="7620000" y="1683941"/>
            <a:ext cx="451104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Give the logo two u wherever the layout allows.</a:t>
            </a:r>
            <a:endParaRPr lang="en-US" sz="1300" dirty="0"/>
          </a:p>
        </p:txBody>
      </p:sp>
      <p:sp>
        <p:nvSpPr>
          <p:cNvPr id="8" name="Shape 5"/>
          <p:cNvSpPr/>
          <p:nvPr/>
        </p:nvSpPr>
        <p:spPr>
          <a:xfrm>
            <a:off x="7620000" y="4059734"/>
            <a:ext cx="3759200" cy="0"/>
          </a:xfrm>
          <a:prstGeom prst="line">
            <a:avLst/>
          </a:prstGeom>
          <a:noFill/>
          <a:ln w="6350">
            <a:solidFill>
              <a:srgbClr val="BCACA7"/>
            </a:solidFill>
            <a:prstDash val="solid"/>
          </a:ln>
        </p:spPr>
        <p:txBody>
          <a:bodyPr/>
          <a:p/>
        </p:txBody>
      </p:sp>
      <p:sp>
        <p:nvSpPr>
          <p:cNvPr id="9" name="Text 6"/>
          <p:cNvSpPr/>
          <p:nvPr/>
        </p:nvSpPr>
        <p:spPr>
          <a:xfrm>
            <a:off x="7620000" y="4215309"/>
            <a:ext cx="3871976"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MINIMUM DIGITAL SIZE · ACTUAL PIXELS</a:t>
            </a:r>
            <a:endParaRPr lang="en-US" sz="1200" dirty="0"/>
          </a:p>
        </p:txBody>
      </p:sp>
      <p:pic>
        <p:nvPicPr>
          <p:cNvPr id="10" name="Image 1" descr="Primary lockup at its 120 px minimum digital width." title="Primary lockup at its 120 px minimum digital width.">    </p:cNvPr>
          <p:cNvPicPr>
            <a:picLocks noChangeAspect="1"/>
          </p:cNvPicPr>
          <p:nvPr/>
        </p:nvPicPr>
        <p:blipFill>
          <a:blip r:embed="rId2"/>
          <a:srcRect l="0" r="0" t="-24" b="-24"/>
          <a:stretch/>
        </p:blipFill>
        <p:spPr>
          <a:xfrm>
            <a:off x="7620000" y="4743549"/>
            <a:ext cx="762000" cy="241300"/>
          </a:xfrm>
          <a:prstGeom prst="rect">
            <a:avLst/>
          </a:prstGeom>
        </p:spPr>
      </p:pic>
      <p:sp>
        <p:nvSpPr>
          <p:cNvPr id="11" name="Text 7"/>
          <p:cNvSpPr/>
          <p:nvPr/>
        </p:nvSpPr>
        <p:spPr>
          <a:xfrm>
            <a:off x="7620000" y="5048349"/>
            <a:ext cx="1190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120 px lockup</a:t>
            </a:r>
            <a:endParaRPr lang="en-US" sz="1200" dirty="0"/>
          </a:p>
        </p:txBody>
      </p:sp>
      <p:pic>
        <p:nvPicPr>
          <p:cNvPr id="12" name="Image 2" descr="Symbol at its 32 px minimum digital size." title="Symbol at its 32 px minimum digital size.">    </p:cNvPr>
          <p:cNvPicPr>
            <a:picLocks noChangeAspect="1"/>
          </p:cNvPicPr>
          <p:nvPr/>
        </p:nvPicPr>
        <p:blipFill>
          <a:blip r:embed="rId3"/>
          <a:srcRect l="0" r="0" t="-128" b="-128"/>
          <a:stretch/>
        </p:blipFill>
        <p:spPr>
          <a:xfrm>
            <a:off x="8917136" y="4800699"/>
            <a:ext cx="203200" cy="184150"/>
          </a:xfrm>
          <a:prstGeom prst="rect">
            <a:avLst/>
          </a:prstGeom>
        </p:spPr>
      </p:pic>
      <p:sp>
        <p:nvSpPr>
          <p:cNvPr id="13" name="Text 8"/>
          <p:cNvSpPr/>
          <p:nvPr/>
        </p:nvSpPr>
        <p:spPr>
          <a:xfrm>
            <a:off x="8917136" y="5048349"/>
            <a:ext cx="1160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 px symbol</a:t>
            </a:r>
            <a:endParaRPr lang="en-US" sz="1200" dirty="0"/>
          </a:p>
        </p:txBody>
      </p:sp>
      <p:sp>
        <p:nvSpPr>
          <p:cNvPr id="14" name="Text 9"/>
          <p:cNvSpPr/>
          <p:nvPr/>
        </p:nvSpPr>
        <p:spPr>
          <a:xfrm>
            <a:off x="7620000" y="5363270"/>
            <a:ext cx="387197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Below 32 px use the no-spark micro mark. It is not supplied: PENDING PRODUCTION MASTER.</a:t>
            </a:r>
            <a:endParaRPr lang="en-US" sz="1300" dirty="0"/>
          </a:p>
        </p:txBody>
      </p:sp>
      <p:sp>
        <p:nvSpPr>
          <p:cNvPr id="15" name="Text 1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16"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LOGO MISUSE · NEVER</a:t>
            </a:r>
            <a:endParaRPr lang="en-US" sz="1200" dirty="0"/>
          </a:p>
        </p:txBody>
      </p:sp>
      <p:sp>
        <p:nvSpPr>
          <p:cNvPr id="3" name="Shape 1"/>
          <p:cNvSpPr/>
          <p:nvPr/>
        </p:nvSpPr>
        <p:spPr>
          <a:xfrm>
            <a:off x="819150" y="1210270"/>
            <a:ext cx="2533650" cy="1574800"/>
          </a:xfrm>
          <a:prstGeom prst="rect">
            <a:avLst/>
          </a:prstGeom>
          <a:noFill/>
          <a:ln w="12700">
            <a:solidFill>
              <a:srgbClr val="12171D"/>
            </a:solidFill>
            <a:prstDash val="dash"/>
          </a:ln>
        </p:spPr>
        <p:txBody>
          <a:bodyPr/>
          <a:p/>
        </p:txBody>
      </p:sp>
      <p:pic>
        <p:nvPicPr>
          <p:cNvPr id="4" name="Image 0" descr="Logo misuse example: stretched." title="Logo misuse example: stretched.">    </p:cNvPr>
          <p:cNvPicPr>
            <a:picLocks noChangeAspect="1"/>
          </p:cNvPicPr>
          <p:nvPr/>
        </p:nvPicPr>
        <p:blipFill>
          <a:blip r:embed="rId1"/>
          <a:srcRect l="0" r="0" t="18406" b="18406"/>
          <a:stretch/>
        </p:blipFill>
        <p:spPr>
          <a:xfrm>
            <a:off x="1133475" y="1807170"/>
            <a:ext cx="1905000" cy="381000"/>
          </a:xfrm>
          <a:prstGeom prst="rect">
            <a:avLst/>
          </a:prstGeom>
        </p:spPr>
      </p:pic>
      <p:sp>
        <p:nvSpPr>
          <p:cNvPr id="5" name="Text 2"/>
          <p:cNvSpPr/>
          <p:nvPr/>
        </p:nvSpPr>
        <p:spPr>
          <a:xfrm>
            <a:off x="81280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STRETCH</a:t>
            </a:r>
            <a:endParaRPr lang="en-US" sz="1200" dirty="0"/>
          </a:p>
        </p:txBody>
      </p:sp>
      <p:sp>
        <p:nvSpPr>
          <p:cNvPr id="6" name="Shape 3"/>
          <p:cNvSpPr/>
          <p:nvPr/>
        </p:nvSpPr>
        <p:spPr>
          <a:xfrm>
            <a:off x="3492500" y="1210270"/>
            <a:ext cx="2533650" cy="1574800"/>
          </a:xfrm>
          <a:prstGeom prst="rect">
            <a:avLst/>
          </a:prstGeom>
          <a:noFill/>
          <a:ln w="12700">
            <a:solidFill>
              <a:srgbClr val="12171D"/>
            </a:solidFill>
            <a:prstDash val="dash"/>
          </a:ln>
        </p:spPr>
        <p:txBody>
          <a:bodyPr/>
          <a:p/>
        </p:txBody>
      </p:sp>
      <p:pic>
        <p:nvPicPr>
          <p:cNvPr id="7" name="Image 1" descr="Logo misuse example: rotated." title="Logo misuse example: rotated.">    </p:cNvPr>
          <p:cNvPicPr>
            <a:picLocks noChangeAspect="1"/>
          </p:cNvPicPr>
          <p:nvPr/>
        </p:nvPicPr>
        <p:blipFill>
          <a:blip r:embed="rId2"/>
          <a:srcRect l="0" r="0" t="-24" b="-24"/>
          <a:stretch/>
        </p:blipFill>
        <p:spPr>
          <a:xfrm rot="20640000">
            <a:off x="3997325" y="1756370"/>
            <a:ext cx="1524000" cy="482600"/>
          </a:xfrm>
          <a:prstGeom prst="rect">
            <a:avLst/>
          </a:prstGeom>
        </p:spPr>
      </p:pic>
      <p:sp>
        <p:nvSpPr>
          <p:cNvPr id="8" name="Text 4"/>
          <p:cNvSpPr/>
          <p:nvPr/>
        </p:nvSpPr>
        <p:spPr>
          <a:xfrm>
            <a:off x="348615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ROTATE</a:t>
            </a:r>
            <a:endParaRPr lang="en-US" sz="1200" dirty="0"/>
          </a:p>
        </p:txBody>
      </p:sp>
      <p:sp>
        <p:nvSpPr>
          <p:cNvPr id="9" name="Shape 5"/>
          <p:cNvSpPr/>
          <p:nvPr/>
        </p:nvSpPr>
        <p:spPr>
          <a:xfrm>
            <a:off x="6165850" y="1210270"/>
            <a:ext cx="2533650" cy="1574800"/>
          </a:xfrm>
          <a:prstGeom prst="rect">
            <a:avLst/>
          </a:prstGeom>
          <a:noFill/>
          <a:ln w="12700">
            <a:solidFill>
              <a:srgbClr val="12171D"/>
            </a:solidFill>
            <a:prstDash val="dash"/>
          </a:ln>
        </p:spPr>
        <p:txBody>
          <a:bodyPr/>
          <a:p/>
        </p:txBody>
      </p:sp>
      <p:pic>
        <p:nvPicPr>
          <p:cNvPr id="10" name="Image 2" descr="Logo misuse example: recoloured outside the palette." title="Logo misuse example: recoloured outside the palette.">    </p:cNvPr>
          <p:cNvPicPr>
            <a:picLocks noChangeAspect="1"/>
          </p:cNvPicPr>
          <p:nvPr/>
        </p:nvPicPr>
        <p:blipFill>
          <a:blip r:embed="rId3"/>
          <a:srcRect l="0" r="0" t="-24" b="-24"/>
          <a:stretch/>
        </p:blipFill>
        <p:spPr>
          <a:xfrm>
            <a:off x="6670675" y="1756370"/>
            <a:ext cx="1524000" cy="482600"/>
          </a:xfrm>
          <a:prstGeom prst="rect">
            <a:avLst/>
          </a:prstGeom>
        </p:spPr>
      </p:pic>
      <p:sp>
        <p:nvSpPr>
          <p:cNvPr id="11" name="Text 6"/>
          <p:cNvSpPr/>
          <p:nvPr/>
        </p:nvSpPr>
        <p:spPr>
          <a:xfrm>
            <a:off x="615950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RECOLOUR</a:t>
            </a:r>
            <a:endParaRPr lang="en-US" sz="1200" dirty="0"/>
          </a:p>
        </p:txBody>
      </p:sp>
      <p:sp>
        <p:nvSpPr>
          <p:cNvPr id="12" name="Shape 7"/>
          <p:cNvSpPr/>
          <p:nvPr/>
        </p:nvSpPr>
        <p:spPr>
          <a:xfrm>
            <a:off x="8839200" y="1210270"/>
            <a:ext cx="2533650" cy="1574800"/>
          </a:xfrm>
          <a:prstGeom prst="rect">
            <a:avLst/>
          </a:prstGeom>
          <a:noFill/>
          <a:ln w="12700">
            <a:solidFill>
              <a:srgbClr val="12171D"/>
            </a:solidFill>
            <a:prstDash val="dash"/>
          </a:ln>
        </p:spPr>
        <p:txBody>
          <a:bodyPr/>
          <a:p/>
        </p:txBody>
      </p:sp>
      <p:pic>
        <p:nvPicPr>
          <p:cNvPr id="13" name="Image 3" descr="Logo misuse example: drop shadow added." title="Logo misuse example: drop shadow added.">    </p:cNvPr>
          <p:cNvPicPr>
            <a:picLocks noChangeAspect="1"/>
          </p:cNvPicPr>
          <p:nvPr/>
        </p:nvPicPr>
        <p:blipFill>
          <a:blip r:embed="rId4"/>
          <a:srcRect l="0" r="0" t="-24" b="-24"/>
          <a:stretch/>
        </p:blipFill>
        <p:spPr>
          <a:xfrm>
            <a:off x="9344025" y="1756370"/>
            <a:ext cx="1524000" cy="482600"/>
          </a:xfrm>
          <a:prstGeom prst="rect">
            <a:avLst/>
          </a:prstGeom>
          <a:effectLst>
            <a:outerShdw sx="100000" sy="100000" kx="0" ky="0" algn="bl" rotWithShape="0" blurRad="114300" dist="89803" dir="2700000">
              <a:srgbClr val="020202">
                <a:alpha val="45000"/>
              </a:srgbClr>
            </a:outerShdw>
          </a:effectLst>
        </p:spPr>
      </p:pic>
      <p:sp>
        <p:nvSpPr>
          <p:cNvPr id="14" name="Text 8"/>
          <p:cNvSpPr/>
          <p:nvPr/>
        </p:nvSpPr>
        <p:spPr>
          <a:xfrm>
            <a:off x="883285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SHADOW</a:t>
            </a:r>
            <a:endParaRPr lang="en-US" sz="1200" dirty="0"/>
          </a:p>
        </p:txBody>
      </p:sp>
      <p:sp>
        <p:nvSpPr>
          <p:cNvPr id="15" name="Shape 9"/>
          <p:cNvSpPr/>
          <p:nvPr/>
        </p:nvSpPr>
        <p:spPr>
          <a:xfrm>
            <a:off x="819150" y="3201591"/>
            <a:ext cx="2533650" cy="1574800"/>
          </a:xfrm>
          <a:prstGeom prst="rect">
            <a:avLst/>
          </a:prstGeom>
          <a:gradFill rotWithShape="1">
            <a:gsLst>
              <a:gs pos="0">
                <a:srgbClr val="BCACA7"/>
              </a:gs>
              <a:gs pos="100000">
                <a:srgbClr val="12171D"/>
              </a:gs>
            </a:gsLst>
            <a:lin ang="2700000" scaled="0"/>
          </a:gradFill>
          <a:ln w="12700">
            <a:solidFill>
              <a:srgbClr val="12171D"/>
            </a:solidFill>
            <a:prstDash val="dash"/>
          </a:ln>
        </p:spPr>
        <p:txBody>
          <a:bodyPr/>
          <a:p/>
        </p:txBody>
      </p:sp>
      <p:pic>
        <p:nvPicPr>
          <p:cNvPr id="16" name="Image 4" descr="Logo misuse example: placed on a gradient background." title="Logo misuse example: placed on a gradient background.">    </p:cNvPr>
          <p:cNvPicPr>
            <a:picLocks noChangeAspect="1"/>
          </p:cNvPicPr>
          <p:nvPr/>
        </p:nvPicPr>
        <p:blipFill>
          <a:blip r:embed="rId5"/>
          <a:srcRect l="0" r="0" t="-24" b="-24"/>
          <a:stretch/>
        </p:blipFill>
        <p:spPr>
          <a:xfrm>
            <a:off x="1323975" y="3747691"/>
            <a:ext cx="1524000" cy="482600"/>
          </a:xfrm>
          <a:prstGeom prst="rect">
            <a:avLst/>
          </a:prstGeom>
        </p:spPr>
      </p:pic>
      <p:sp>
        <p:nvSpPr>
          <p:cNvPr id="17" name="Text 10"/>
          <p:cNvSpPr/>
          <p:nvPr/>
        </p:nvSpPr>
        <p:spPr>
          <a:xfrm>
            <a:off x="81280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GRADIENT BACKGROUND</a:t>
            </a:r>
            <a:endParaRPr lang="en-US" sz="1200" dirty="0"/>
          </a:p>
        </p:txBody>
      </p:sp>
      <p:sp>
        <p:nvSpPr>
          <p:cNvPr id="18" name="Shape 11"/>
          <p:cNvSpPr/>
          <p:nvPr/>
        </p:nvSpPr>
        <p:spPr>
          <a:xfrm>
            <a:off x="3492500" y="3201591"/>
            <a:ext cx="2533650" cy="1574800"/>
          </a:xfrm>
          <a:prstGeom prst="rect">
            <a:avLst/>
          </a:prstGeom>
          <a:noFill/>
          <a:ln w="12700">
            <a:solidFill>
              <a:srgbClr val="12171D"/>
            </a:solidFill>
            <a:prstDash val="dash"/>
          </a:ln>
        </p:spPr>
        <p:txBody>
          <a:bodyPr/>
          <a:p/>
        </p:txBody>
      </p:sp>
      <p:pic>
        <p:nvPicPr>
          <p:cNvPr id="19" name="Image 5" descr="Logo misuse example: outlined and contained." title="Logo misuse example: outlined and contained.">    </p:cNvPr>
          <p:cNvPicPr>
            <a:picLocks noChangeAspect="1"/>
          </p:cNvPicPr>
          <p:nvPr/>
        </p:nvPicPr>
        <p:blipFill>
          <a:blip r:embed="rId6"/>
          <a:stretch>
            <a:fillRect/>
          </a:stretch>
        </p:blipFill>
        <p:spPr>
          <a:xfrm>
            <a:off x="4207611" y="3814366"/>
            <a:ext cx="1103428" cy="349250"/>
          </a:xfrm>
          <a:custGeom>
            <a:avLst/>
            <a:gdLst/>
            <a:ahLst/>
            <a:cxnLst/>
            <a:rect l="l" t="t" r="r" b="b"/>
            <a:pathLst>
              <a:path w="1103428" h="349250">
                <a:moveTo>
                  <a:pt x="0" y="44756"/>
                </a:moveTo>
                <a:arcTo wR="174625" hR="174625" stAng="13682864" swAng="2517136"/>
                <a:lnTo>
                  <a:pt x="986689" y="0"/>
                </a:lnTo>
                <a:arcTo wR="174625" hR="174625" stAng="16200000" swAng="2517136"/>
                <a:lnTo>
                  <a:pt x="1103428" y="304494"/>
                </a:lnTo>
                <a:arcTo wR="174625" hR="174625" stAng="2882864" swAng="2517136"/>
                <a:lnTo>
                  <a:pt x="116739" y="349250"/>
                </a:lnTo>
                <a:arcTo wR="174625" hR="174625" stAng="5400000" swAng="2517136"/>
                <a:close/>
              </a:path>
            </a:pathLst>
          </a:custGeom>
        </p:spPr>
      </p:pic>
      <p:sp>
        <p:nvSpPr>
          <p:cNvPr id="20" name="Shape 12"/>
          <p:cNvSpPr/>
          <p:nvPr/>
        </p:nvSpPr>
        <p:spPr>
          <a:xfrm>
            <a:off x="4137025" y="3801666"/>
            <a:ext cx="1244600" cy="374650"/>
          </a:xfrm>
          <a:prstGeom prst="roundRect">
            <a:avLst>
              <a:gd name="adj" fmla="val 50000"/>
            </a:avLst>
          </a:prstGeom>
          <a:noFill/>
          <a:ln w="25400">
            <a:solidFill>
              <a:srgbClr val="12171D"/>
            </a:solidFill>
            <a:prstDash val="solid"/>
          </a:ln>
        </p:spPr>
        <p:txBody>
          <a:bodyPr/>
          <a:p/>
        </p:txBody>
      </p:sp>
      <p:sp>
        <p:nvSpPr>
          <p:cNvPr id="21" name="Text 13"/>
          <p:cNvSpPr/>
          <p:nvPr/>
        </p:nvSpPr>
        <p:spPr>
          <a:xfrm>
            <a:off x="348615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OUTLINE, CONTAINER</a:t>
            </a:r>
            <a:endParaRPr lang="en-US" sz="1200" dirty="0"/>
          </a:p>
        </p:txBody>
      </p:sp>
      <p:sp>
        <p:nvSpPr>
          <p:cNvPr id="22" name="Shape 14"/>
          <p:cNvSpPr/>
          <p:nvPr/>
        </p:nvSpPr>
        <p:spPr>
          <a:xfrm>
            <a:off x="6165850" y="3201591"/>
            <a:ext cx="2533650" cy="1574800"/>
          </a:xfrm>
          <a:prstGeom prst="rect">
            <a:avLst/>
          </a:prstGeom>
          <a:noFill/>
          <a:ln w="12700">
            <a:solidFill>
              <a:srgbClr val="12171D"/>
            </a:solidFill>
            <a:prstDash val="dash"/>
          </a:ln>
        </p:spPr>
        <p:txBody>
          <a:bodyPr/>
          <a:p/>
        </p:txBody>
      </p:sp>
      <p:pic>
        <p:nvPicPr>
          <p:cNvPr id="23" name="Image 6" descr="Logo misuse example: cropped." title="Logo misuse example: cropped.">    </p:cNvPr>
          <p:cNvPicPr>
            <a:picLocks noChangeAspect="1"/>
          </p:cNvPicPr>
          <p:nvPr/>
        </p:nvPicPr>
        <p:blipFill>
          <a:blip r:embed="rId7"/>
          <a:srcRect l="0" r="0" t="-24" b="-24"/>
          <a:stretch/>
        </p:blipFill>
        <p:spPr>
          <a:xfrm>
            <a:off x="6892925" y="3747691"/>
            <a:ext cx="1524000" cy="482600"/>
          </a:xfrm>
          <a:prstGeom prst="rect">
            <a:avLst/>
          </a:prstGeom>
        </p:spPr>
      </p:pic>
      <p:sp>
        <p:nvSpPr>
          <p:cNvPr id="24" name="Text 15"/>
          <p:cNvSpPr/>
          <p:nvPr/>
        </p:nvSpPr>
        <p:spPr>
          <a:xfrm>
            <a:off x="615950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CROP</a:t>
            </a:r>
            <a:endParaRPr lang="en-US" sz="1200" dirty="0"/>
          </a:p>
        </p:txBody>
      </p:sp>
      <p:sp>
        <p:nvSpPr>
          <p:cNvPr id="25" name="Text 16"/>
          <p:cNvSpPr/>
          <p:nvPr/>
        </p:nvSpPr>
        <p:spPr>
          <a:xfrm>
            <a:off x="8839200" y="3201591"/>
            <a:ext cx="2533650" cy="1574800"/>
          </a:xfrm>
          <a:prstGeom prst="rect">
            <a:avLst/>
          </a:prstGeom>
          <a:noFill/>
          <a:ln w="12700">
            <a:solidFill>
              <a:srgbClr val="12171D"/>
            </a:solidFill>
            <a:prstDash val="dash"/>
          </a:ln>
        </p:spPr>
        <p:txBody>
          <a:bodyPr wrap="square" lIns="6350" tIns="6350" rIns="6350" bIns="6350" rtlCol="0" anchor="ctr">
            <a:normAutofit/>
          </a:bodyPr>
          <a:lstStyle/>
          <a:p>
            <a:pPr algn="ctr" indent="0" marL="0">
              <a:lnSpc>
                <a:spcPts val="4200"/>
              </a:lnSpc>
              <a:buNone/>
            </a:pPr>
            <a:r>
              <a:rPr lang="en-US" sz="3000" spc="360" kern="0" dirty="0">
                <a:solidFill>
                  <a:srgbClr val="12171D"/>
                </a:solidFill>
                <a:latin typeface="Jost" pitchFamily="34" charset="0"/>
                <a:ea typeface="Jost" pitchFamily="34" charset="-122"/>
                <a:cs typeface="Jost" pitchFamily="34" charset="-120"/>
              </a:rPr>
              <a:t>GEM</a:t>
            </a:r>
            <a:endParaRPr lang="en-US" sz="3000" dirty="0"/>
          </a:p>
        </p:txBody>
      </p:sp>
      <p:sp>
        <p:nvSpPr>
          <p:cNvPr id="26" name="Text 17"/>
          <p:cNvSpPr/>
          <p:nvPr/>
        </p:nvSpPr>
        <p:spPr>
          <a:xfrm>
            <a:off x="883285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WORDMARK SET IN TYPE</a:t>
            </a:r>
            <a:endParaRPr lang="en-US" sz="1200" dirty="0"/>
          </a:p>
        </p:txBody>
      </p:sp>
      <p:sp>
        <p:nvSpPr>
          <p:cNvPr id="27" name="Text 18"/>
          <p:cNvSpPr/>
          <p:nvPr/>
        </p:nvSpPr>
        <p:spPr>
          <a:xfrm>
            <a:off x="812800" y="52373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never: beige on white (2.2:1), the logo on busy photography, an added or moved spark, a changed lockup.</a:t>
            </a:r>
            <a:endParaRPr lang="en-US" sz="1200" dirty="0"/>
          </a:p>
        </p:txBody>
      </p:sp>
      <p:sp>
        <p:nvSpPr>
          <p:cNvPr id="28"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9"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CO-BRANDING</a:t>
            </a:r>
            <a:endParaRPr lang="en-US" sz="1200" dirty="0"/>
          </a:p>
        </p:txBody>
      </p:sp>
      <p:sp>
        <p:nvSpPr>
          <p:cNvPr id="3" name="Text 1"/>
          <p:cNvSpPr/>
          <p:nvPr>
            <p:ph type="title"/>
          </p:nvPr>
        </p:nvSpPr>
        <p:spPr>
          <a:xfrm>
            <a:off x="812800" y="1203920"/>
            <a:ext cx="4709160" cy="8636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Partners stand beside GEM, not inside it.</a:t>
            </a:r>
            <a:endParaRPr lang="en-US" sz="3000" dirty="0"/>
          </a:p>
        </p:txBody>
      </p:sp>
      <p:sp>
        <p:nvSpPr>
          <p:cNvPr id="4" name="Shape 2"/>
          <p:cNvSpPr/>
          <p:nvPr/>
        </p:nvSpPr>
        <p:spPr>
          <a:xfrm>
            <a:off x="812800" y="2354659"/>
            <a:ext cx="4572000" cy="0"/>
          </a:xfrm>
          <a:prstGeom prst="line">
            <a:avLst/>
          </a:prstGeom>
          <a:noFill/>
          <a:ln w="6350">
            <a:solidFill>
              <a:srgbClr val="BCACA7"/>
            </a:solidFill>
            <a:prstDash val="solid"/>
          </a:ln>
        </p:spPr>
        <p:txBody>
          <a:bodyPr/>
          <a:p/>
        </p:txBody>
      </p:sp>
      <p:sp>
        <p:nvSpPr>
          <p:cNvPr id="5" name="Text 3"/>
          <p:cNvSpPr/>
          <p:nvPr/>
        </p:nvSpPr>
        <p:spPr>
          <a:xfrm>
            <a:off x="812800" y="2459434"/>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DEFAULT EQUAL-PARTNER ARRANGEMENT</a:t>
            </a:r>
            <a:endParaRPr lang="en-US" sz="1200" dirty="0"/>
          </a:p>
        </p:txBody>
      </p:sp>
      <p:sp>
        <p:nvSpPr>
          <p:cNvPr id="6" name="Text 4"/>
          <p:cNvSpPr/>
          <p:nvPr/>
        </p:nvSpPr>
        <p:spPr>
          <a:xfrm>
            <a:off x="812800" y="2982119"/>
            <a:ext cx="4709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Balance optical prominence, not mechanical size. Keep each brand's required clearspace. Use about 2u separation as the GEM default where compatible; a hairline may be added when appropriate.</a:t>
            </a:r>
            <a:endParaRPr lang="en-US" sz="1200" dirty="0"/>
          </a:p>
        </p:txBody>
      </p:sp>
      <p:sp>
        <p:nvSpPr>
          <p:cNvPr id="7" name="Text 5"/>
          <p:cNvSpPr/>
          <p:nvPr/>
        </p:nvSpPr>
        <p:spPr>
          <a:xfrm>
            <a:off x="812800" y="4144764"/>
            <a:ext cx="4709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Never merge, recolour, contain or redraw either identity. Partner-specific, contractual or sponsorship rules take precedence once formally approved.</a:t>
            </a:r>
            <a:endParaRPr lang="en-US" sz="1200" dirty="0"/>
          </a:p>
        </p:txBody>
      </p:sp>
      <p:sp>
        <p:nvSpPr>
          <p:cNvPr id="8" name="Shape 6"/>
          <p:cNvSpPr/>
          <p:nvPr/>
        </p:nvSpPr>
        <p:spPr>
          <a:xfrm>
            <a:off x="812800" y="5097264"/>
            <a:ext cx="4572000" cy="0"/>
          </a:xfrm>
          <a:prstGeom prst="line">
            <a:avLst/>
          </a:prstGeom>
          <a:noFill/>
          <a:ln w="6350">
            <a:solidFill>
              <a:srgbClr val="BCACA7"/>
            </a:solidFill>
            <a:prstDash val="solid"/>
          </a:ln>
        </p:spPr>
        <p:txBody>
          <a:bodyPr/>
          <a:p/>
        </p:txBody>
      </p:sp>
      <p:sp>
        <p:nvSpPr>
          <p:cNvPr id="9" name="Text 7"/>
          <p:cNvSpPr/>
          <p:nvPr/>
        </p:nvSpPr>
        <p:spPr>
          <a:xfrm>
            <a:off x="812800" y="5202039"/>
            <a:ext cx="4709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approved commercial or property relationship determines precedence. GEM remains visually independent and uses its own clearspace and artwork.</a:t>
            </a:r>
            <a:endParaRPr lang="en-US" sz="1200" dirty="0"/>
          </a:p>
        </p:txBody>
      </p:sp>
      <p:sp>
        <p:nvSpPr>
          <p:cNvPr id="10" name="Text 8"/>
          <p:cNvSpPr/>
          <p:nvPr/>
        </p:nvSpPr>
        <p:spPr>
          <a:xfrm>
            <a:off x="5892800" y="1387574"/>
            <a:ext cx="56509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EQUAL PARTNER · CONCEPT</a:t>
            </a:r>
            <a:endParaRPr lang="en-US" sz="1200" dirty="0"/>
          </a:p>
        </p:txBody>
      </p:sp>
      <p:sp>
        <p:nvSpPr>
          <p:cNvPr id="11" name="Shape 9"/>
          <p:cNvSpPr/>
          <p:nvPr/>
        </p:nvSpPr>
        <p:spPr>
          <a:xfrm>
            <a:off x="5899150" y="1759645"/>
            <a:ext cx="5473700" cy="1181100"/>
          </a:xfrm>
          <a:prstGeom prst="rect">
            <a:avLst/>
          </a:prstGeom>
          <a:noFill/>
          <a:ln w="12700">
            <a:solidFill>
              <a:srgbClr val="BCACA7"/>
            </a:solidFill>
            <a:prstDash val="solid"/>
          </a:ln>
        </p:spPr>
        <p:txBody>
          <a:bodyPr/>
          <a:p/>
        </p:txBody>
      </p:sp>
      <p:pic>
        <p:nvPicPr>
          <p:cNvPr id="12" name="Image 0" descr="GEM signature beside a placeholder partner mark, equal-partner co-branding concept." title="GEM signature beside a placeholder partner mark, equal-partn">    </p:cNvPr>
          <p:cNvPicPr>
            <a:picLocks noChangeAspect="1"/>
          </p:cNvPicPr>
          <p:nvPr/>
        </p:nvPicPr>
        <p:blipFill>
          <a:blip r:embed="rId1"/>
          <a:srcRect l="0" r="0" t="-24" b="-24"/>
          <a:stretch/>
        </p:blipFill>
        <p:spPr>
          <a:xfrm>
            <a:off x="6369050" y="2048570"/>
            <a:ext cx="1905000" cy="603250"/>
          </a:xfrm>
          <a:prstGeom prst="rect">
            <a:avLst/>
          </a:prstGeom>
        </p:spPr>
      </p:pic>
      <p:sp>
        <p:nvSpPr>
          <p:cNvPr id="13" name="Shape 10"/>
          <p:cNvSpPr/>
          <p:nvPr/>
        </p:nvSpPr>
        <p:spPr>
          <a:xfrm>
            <a:off x="8629650" y="2045395"/>
            <a:ext cx="12700" cy="609600"/>
          </a:xfrm>
          <a:prstGeom prst="rect">
            <a:avLst/>
          </a:prstGeom>
          <a:solidFill>
            <a:srgbClr val="12171D"/>
          </a:solidFill>
          <a:ln/>
        </p:spPr>
        <p:txBody>
          <a:bodyPr/>
          <a:p/>
        </p:txBody>
      </p:sp>
      <p:sp>
        <p:nvSpPr>
          <p:cNvPr id="14" name="Text 11"/>
          <p:cNvSpPr/>
          <p:nvPr/>
        </p:nvSpPr>
        <p:spPr>
          <a:xfrm>
            <a:off x="9004300" y="2054920"/>
            <a:ext cx="1892300" cy="590550"/>
          </a:xfrm>
          <a:prstGeom prst="rect">
            <a:avLst/>
          </a:prstGeom>
          <a:noFill/>
          <a:ln w="12700">
            <a:solidFill>
              <a:srgbClr val="12171D"/>
            </a:solidFill>
            <a:prstDash val="dash"/>
          </a:ln>
        </p:spPr>
        <p:txBody>
          <a:bodyPr wrap="square" lIns="0" tIns="6350" rIns="0" bIns="0" rtlCol="0" anchor="t">
            <a:normAutofit/>
          </a:bodyPr>
          <a:lstStyle/>
          <a:p>
            <a:pPr algn="ctr" indent="0" marL="0">
              <a:lnSpc>
                <a:spcPts val="1440"/>
              </a:lnSpc>
              <a:buNone/>
            </a:pPr>
            <a:r>
              <a:rPr lang="en-US" sz="1200" dirty="0">
                <a:solidFill>
                  <a:srgbClr val="12171D"/>
                </a:solidFill>
                <a:latin typeface="Inter" pitchFamily="34" charset="0"/>
                <a:ea typeface="Inter" pitchFamily="34" charset="-122"/>
                <a:cs typeface="Inter" pitchFamily="34" charset="-120"/>
              </a:rPr>
              <a:t>[PARTNER MARK] [REQUIRES OWNER]</a:t>
            </a:r>
            <a:endParaRPr lang="en-US" sz="1200" dirty="0"/>
          </a:p>
        </p:txBody>
      </p:sp>
      <p:sp>
        <p:nvSpPr>
          <p:cNvPr id="15" name="Text 12"/>
          <p:cNvSpPr/>
          <p:nvPr/>
        </p:nvSpPr>
        <p:spPr>
          <a:xfrm>
            <a:off x="5892800" y="3099495"/>
            <a:ext cx="5650992"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SUPPLIER RELATIONSHIP · ILLUSTRATIVE, PRECEDENCE PER AGREEMENT</a:t>
            </a:r>
            <a:endParaRPr lang="en-US" sz="1200" dirty="0"/>
          </a:p>
        </p:txBody>
      </p:sp>
      <p:sp>
        <p:nvSpPr>
          <p:cNvPr id="16" name="Shape 13"/>
          <p:cNvSpPr/>
          <p:nvPr/>
        </p:nvSpPr>
        <p:spPr>
          <a:xfrm>
            <a:off x="5892800" y="3678535"/>
            <a:ext cx="5486400" cy="1222970"/>
          </a:xfrm>
          <a:prstGeom prst="rect">
            <a:avLst/>
          </a:prstGeom>
          <a:solidFill>
            <a:srgbClr val="12171D"/>
          </a:solidFill>
          <a:ln/>
        </p:spPr>
        <p:txBody>
          <a:bodyPr/>
          <a:p/>
        </p:txBody>
      </p:sp>
      <p:sp>
        <p:nvSpPr>
          <p:cNvPr id="17" name="Text 14"/>
          <p:cNvSpPr/>
          <p:nvPr/>
        </p:nvSpPr>
        <p:spPr>
          <a:xfrm>
            <a:off x="6178550" y="4042370"/>
            <a:ext cx="2019300" cy="495300"/>
          </a:xfrm>
          <a:prstGeom prst="rect">
            <a:avLst/>
          </a:prstGeom>
          <a:noFill/>
          <a:ln w="12700">
            <a:solidFill>
              <a:srgbClr val="BCACA7"/>
            </a:solidFill>
            <a:prstDash val="dash"/>
          </a:ln>
        </p:spPr>
        <p:txBody>
          <a:bodyPr wrap="square" lIns="0" tIns="6350" rIns="0" bIns="0" rtlCol="0" anchor="t">
            <a:normAutofit/>
          </a:bodyPr>
          <a:lstStyle/>
          <a:p>
            <a:pPr algn="ctr" indent="0" marL="0">
              <a:lnSpc>
                <a:spcPts val="1440"/>
              </a:lnSpc>
              <a:buNone/>
            </a:pPr>
            <a:r>
              <a:rPr lang="en-US" sz="1200" dirty="0">
                <a:solidFill>
                  <a:srgbClr val="BCACA7"/>
                </a:solidFill>
                <a:latin typeface="Inter" pitchFamily="34" charset="0"/>
                <a:ea typeface="Inter" pitchFamily="34" charset="-122"/>
                <a:cs typeface="Inter" pitchFamily="34" charset="-120"/>
              </a:rPr>
              <a:t>[PROPERTY MARK]</a:t>
            </a:r>
            <a:endParaRPr lang="en-US" sz="1200" dirty="0"/>
          </a:p>
        </p:txBody>
      </p:sp>
      <p:sp>
        <p:nvSpPr>
          <p:cNvPr id="18" name="Text 15"/>
          <p:cNvSpPr/>
          <p:nvPr/>
        </p:nvSpPr>
        <p:spPr>
          <a:xfrm>
            <a:off x="10080565" y="3957935"/>
            <a:ext cx="101923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Supplied by</a:t>
            </a:r>
            <a:endParaRPr lang="en-US" sz="1200" dirty="0"/>
          </a:p>
        </p:txBody>
      </p:sp>
      <p:pic>
        <p:nvPicPr>
          <p:cNvPr id="19" name="Image 1" descr="GEM signature in the supplier-relationship concept, placed after 'Supplied by'." title="GEM signature in the supplier-relationship concept, placed a">    </p:cNvPr>
          <p:cNvPicPr>
            <a:picLocks noChangeAspect="1"/>
          </p:cNvPicPr>
          <p:nvPr/>
        </p:nvPicPr>
        <p:blipFill>
          <a:blip r:embed="rId2"/>
          <a:srcRect l="-240" r="-240" t="0" b="0"/>
          <a:stretch/>
        </p:blipFill>
        <p:spPr>
          <a:xfrm>
            <a:off x="9829800" y="4222055"/>
            <a:ext cx="1270000" cy="400050"/>
          </a:xfrm>
          <a:prstGeom prst="rect">
            <a:avLst/>
          </a:prstGeom>
        </p:spPr>
      </p:pic>
      <p:sp>
        <p:nvSpPr>
          <p:cNvPr id="20" name="Text 16"/>
          <p:cNvSpPr/>
          <p:nvPr/>
        </p:nvSpPr>
        <p:spPr>
          <a:xfrm>
            <a:off x="5892800" y="5053905"/>
            <a:ext cx="56509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CONCEPT / NOT PRODUCTION ARTWORK. No real partner is approved.</a:t>
            </a:r>
            <a:endParaRPr lang="en-US" sz="1200" dirty="0"/>
          </a:p>
        </p:txBody>
      </p:sp>
      <p:sp>
        <p:nvSpPr>
          <p:cNvPr id="21"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2"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96000" cy="6858000"/>
          </a:xfrm>
          <a:prstGeom prst="rect">
            <a:avLst/>
          </a:prstGeom>
          <a:solidFill>
            <a:srgbClr val="12171D"/>
          </a:solidFill>
          <a:ln/>
        </p:spPr>
        <p:txBody>
          <a:bodyPr/>
          <a:p/>
        </p:txBody>
      </p:sp>
      <p:sp>
        <p:nvSpPr>
          <p:cNvPr id="3" name="Text 1"/>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COLOUR · THE FIELD</a:t>
            </a:r>
            <a:endParaRPr lang="en-US" sz="1200" dirty="0"/>
          </a:p>
        </p:txBody>
      </p:sp>
      <p:sp>
        <p:nvSpPr>
          <p:cNvPr id="4" name="Text 2"/>
          <p:cNvSpPr/>
          <p:nvPr/>
        </p:nvSpPr>
        <p:spPr>
          <a:xfrm>
            <a:off x="812800" y="4175820"/>
            <a:ext cx="4813808" cy="1092200"/>
          </a:xfrm>
          <a:prstGeom prst="rect">
            <a:avLst/>
          </a:prstGeom>
          <a:noFill/>
          <a:ln/>
        </p:spPr>
        <p:txBody>
          <a:bodyPr wrap="square" lIns="0" tIns="0" rIns="0" bIns="0" rtlCol="0" anchor="t">
            <a:normAutofit/>
          </a:bodyPr>
          <a:lstStyle/>
          <a:p>
            <a:pPr algn="l" indent="0" marL="0">
              <a:lnSpc>
                <a:spcPts val="8400"/>
              </a:lnSpc>
              <a:buNone/>
            </a:pPr>
            <a:r>
              <a:rPr lang="en-US" sz="6000" spc="360" kern="0" dirty="0">
                <a:solidFill>
                  <a:srgbClr val="FFFFFF"/>
                </a:solidFill>
                <a:latin typeface="Jost" pitchFamily="34" charset="0"/>
                <a:ea typeface="Jost" pitchFamily="34" charset="-122"/>
                <a:cs typeface="Jost" pitchFamily="34" charset="-120"/>
              </a:rPr>
              <a:t>INK</a:t>
            </a:r>
            <a:endParaRPr lang="en-US" sz="6000" dirty="0"/>
          </a:p>
        </p:txBody>
      </p:sp>
      <p:sp>
        <p:nvSpPr>
          <p:cNvPr id="5" name="Text 3"/>
          <p:cNvSpPr/>
          <p:nvPr/>
        </p:nvSpPr>
        <p:spPr>
          <a:xfrm>
            <a:off x="812800" y="5344220"/>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ACA7"/>
                </a:solidFill>
                <a:latin typeface="Inter" pitchFamily="34" charset="0"/>
                <a:ea typeface="Inter" pitchFamily="34" charset="-122"/>
                <a:cs typeface="Inter" pitchFamily="34" charset="-120"/>
              </a:rPr>
              <a:t>#12171D · Primary dark brand field and default text colour.</a:t>
            </a:r>
            <a:endParaRPr lang="en-US" sz="1400" dirty="0"/>
          </a:p>
        </p:txBody>
      </p:sp>
      <p:sp>
        <p:nvSpPr>
          <p:cNvPr id="6" name="Shape 4"/>
          <p:cNvSpPr/>
          <p:nvPr/>
        </p:nvSpPr>
        <p:spPr>
          <a:xfrm>
            <a:off x="6096000" y="0"/>
            <a:ext cx="6096000" cy="3429000"/>
          </a:xfrm>
          <a:prstGeom prst="rect">
            <a:avLst/>
          </a:prstGeom>
          <a:solidFill>
            <a:srgbClr val="BCACA7"/>
          </a:solidFill>
          <a:ln/>
        </p:spPr>
        <p:txBody>
          <a:bodyPr/>
          <a:p/>
        </p:txBody>
      </p:sp>
      <p:sp>
        <p:nvSpPr>
          <p:cNvPr id="7" name="Text 5"/>
          <p:cNvSpPr/>
          <p:nvPr/>
        </p:nvSpPr>
        <p:spPr>
          <a:xfrm>
            <a:off x="6705600" y="1948210"/>
            <a:ext cx="4813808" cy="736600"/>
          </a:xfrm>
          <a:prstGeom prst="rect">
            <a:avLst/>
          </a:prstGeom>
          <a:noFill/>
          <a:ln/>
        </p:spPr>
        <p:txBody>
          <a:bodyPr wrap="square" lIns="0" tIns="0" rIns="0" bIns="0" rtlCol="0" anchor="t">
            <a:normAutofit/>
          </a:bodyPr>
          <a:lstStyle/>
          <a:p>
            <a:pPr algn="l" indent="0" marL="0">
              <a:lnSpc>
                <a:spcPts val="5600"/>
              </a:lnSpc>
              <a:buNone/>
            </a:pPr>
            <a:r>
              <a:rPr lang="en-US" sz="4000" spc="240" kern="0" dirty="0">
                <a:solidFill>
                  <a:srgbClr val="12171D"/>
                </a:solidFill>
                <a:latin typeface="Jost" pitchFamily="34" charset="0"/>
                <a:ea typeface="Jost" pitchFamily="34" charset="-122"/>
                <a:cs typeface="Jost" pitchFamily="34" charset="-120"/>
              </a:rPr>
              <a:t>BEIGE</a:t>
            </a:r>
            <a:endParaRPr lang="en-US" sz="4000" dirty="0"/>
          </a:p>
        </p:txBody>
      </p:sp>
      <p:sp>
        <p:nvSpPr>
          <p:cNvPr id="8" name="Text 6"/>
          <p:cNvSpPr/>
          <p:nvPr/>
        </p:nvSpPr>
        <p:spPr>
          <a:xfrm>
            <a:off x="6705600" y="2735610"/>
            <a:ext cx="481380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#BCACA7 · Signature warm-neutral counterpart to Ink: selected surfaces, controlled decorative use, approved contrast pairings.</a:t>
            </a:r>
            <a:endParaRPr lang="en-US" sz="1300" dirty="0"/>
          </a:p>
        </p:txBody>
      </p:sp>
      <p:sp>
        <p:nvSpPr>
          <p:cNvPr id="9" name="Shape 7"/>
          <p:cNvSpPr/>
          <p:nvPr/>
        </p:nvSpPr>
        <p:spPr>
          <a:xfrm>
            <a:off x="6096000" y="3429000"/>
            <a:ext cx="2946400" cy="3429000"/>
          </a:xfrm>
          <a:prstGeom prst="rect">
            <a:avLst/>
          </a:prstGeom>
          <a:solidFill>
            <a:srgbClr val="020202"/>
          </a:solidFill>
          <a:ln/>
        </p:spPr>
        <p:txBody>
          <a:bodyPr/>
          <a:p/>
        </p:txBody>
      </p:sp>
      <p:sp>
        <p:nvSpPr>
          <p:cNvPr id="10" name="Text 8"/>
          <p:cNvSpPr/>
          <p:nvPr/>
        </p:nvSpPr>
        <p:spPr>
          <a:xfrm>
            <a:off x="6705600" y="4511229"/>
            <a:ext cx="2145284" cy="452090"/>
          </a:xfrm>
          <a:prstGeom prst="rect">
            <a:avLst/>
          </a:prstGeom>
          <a:noFill/>
          <a:ln/>
        </p:spPr>
        <p:txBody>
          <a:bodyPr wrap="square" lIns="0" tIns="0" rIns="0" bIns="0" rtlCol="0" anchor="t">
            <a:normAutofit/>
          </a:bodyPr>
          <a:lstStyle/>
          <a:p>
            <a:pPr algn="l" indent="0" marL="0">
              <a:lnSpc>
                <a:spcPts val="3360"/>
              </a:lnSpc>
              <a:buNone/>
            </a:pPr>
            <a:r>
              <a:rPr lang="en-US" sz="2400" spc="145" kern="0" dirty="0">
                <a:solidFill>
                  <a:srgbClr val="FFFFFF"/>
                </a:solidFill>
                <a:latin typeface="Jost" pitchFamily="34" charset="0"/>
                <a:ea typeface="Jost" pitchFamily="34" charset="-122"/>
                <a:cs typeface="Jost" pitchFamily="34" charset="-120"/>
              </a:rPr>
              <a:t>BLACK</a:t>
            </a:r>
            <a:endParaRPr lang="en-US" sz="2400" dirty="0"/>
          </a:p>
        </p:txBody>
      </p:sp>
      <p:sp>
        <p:nvSpPr>
          <p:cNvPr id="11" name="Text 9"/>
          <p:cNvSpPr/>
          <p:nvPr/>
        </p:nvSpPr>
        <p:spPr>
          <a:xfrm>
            <a:off x="6705600" y="4988719"/>
            <a:ext cx="214528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 · Monochrome and one-colour production, approved functional states. Not default text.</a:t>
            </a:r>
            <a:endParaRPr lang="en-US" sz="1200" dirty="0"/>
          </a:p>
        </p:txBody>
      </p:sp>
      <p:sp>
        <p:nvSpPr>
          <p:cNvPr id="12" name="Shape 10"/>
          <p:cNvSpPr/>
          <p:nvPr/>
        </p:nvSpPr>
        <p:spPr>
          <a:xfrm>
            <a:off x="9042400" y="3429000"/>
            <a:ext cx="3149600" cy="3429000"/>
          </a:xfrm>
          <a:prstGeom prst="rect">
            <a:avLst/>
          </a:prstGeom>
          <a:solidFill>
            <a:srgbClr val="FFFFFF"/>
          </a:solidFill>
          <a:ln/>
        </p:spPr>
        <p:txBody>
          <a:bodyPr/>
          <a:p/>
        </p:txBody>
      </p:sp>
      <p:sp>
        <p:nvSpPr>
          <p:cNvPr id="13" name="Shape 11"/>
          <p:cNvSpPr/>
          <p:nvPr/>
        </p:nvSpPr>
        <p:spPr>
          <a:xfrm>
            <a:off x="9042400" y="3435350"/>
            <a:ext cx="3149600" cy="0"/>
          </a:xfrm>
          <a:prstGeom prst="line">
            <a:avLst/>
          </a:prstGeom>
          <a:noFill/>
          <a:ln w="12700">
            <a:solidFill>
              <a:srgbClr val="12171D"/>
            </a:solidFill>
            <a:prstDash val="solid"/>
          </a:ln>
        </p:spPr>
        <p:txBody>
          <a:bodyPr/>
          <a:p/>
        </p:txBody>
      </p:sp>
      <p:sp>
        <p:nvSpPr>
          <p:cNvPr id="14" name="Text 12"/>
          <p:cNvSpPr/>
          <p:nvPr/>
        </p:nvSpPr>
        <p:spPr>
          <a:xfrm>
            <a:off x="9296400" y="4724549"/>
            <a:ext cx="2145284" cy="452090"/>
          </a:xfrm>
          <a:prstGeom prst="rect">
            <a:avLst/>
          </a:prstGeom>
          <a:noFill/>
          <a:ln/>
        </p:spPr>
        <p:txBody>
          <a:bodyPr wrap="square" lIns="0" tIns="0" rIns="0" bIns="0" rtlCol="0" anchor="t">
            <a:normAutofit/>
          </a:bodyPr>
          <a:lstStyle/>
          <a:p>
            <a:pPr algn="l" indent="0" marL="0">
              <a:lnSpc>
                <a:spcPts val="3360"/>
              </a:lnSpc>
              <a:buNone/>
            </a:pPr>
            <a:r>
              <a:rPr lang="en-US" sz="2400" spc="145" kern="0" dirty="0">
                <a:solidFill>
                  <a:srgbClr val="12171D"/>
                </a:solidFill>
                <a:latin typeface="Jost" pitchFamily="34" charset="0"/>
                <a:ea typeface="Jost" pitchFamily="34" charset="-122"/>
                <a:cs typeface="Jost" pitchFamily="34" charset="-120"/>
              </a:rPr>
              <a:t>WHITE</a:t>
            </a:r>
            <a:endParaRPr lang="en-US" sz="2400" dirty="0"/>
          </a:p>
        </p:txBody>
      </p:sp>
      <p:sp>
        <p:nvSpPr>
          <p:cNvPr id="15" name="Text 13"/>
          <p:cNvSpPr/>
          <p:nvPr/>
        </p:nvSpPr>
        <p:spPr>
          <a:xfrm>
            <a:off x="9296400" y="5202039"/>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 · Primary light canvas and inverse text colour</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COLOUR</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COLOUR · THE RELATIONSHIP AND ITS LIMITS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Ink and Beige answer each other.</a:t>
            </a:r>
            <a:endParaRPr lang="en-US" sz="3200" dirty="0"/>
          </a:p>
        </p:txBody>
      </p:sp>
      <p:sp>
        <p:nvSpPr>
          <p:cNvPr id="4" name="Shape 2"/>
          <p:cNvSpPr/>
          <p:nvPr/>
        </p:nvSpPr>
        <p:spPr>
          <a:xfrm>
            <a:off x="812800" y="1930350"/>
            <a:ext cx="2530475" cy="3204319"/>
          </a:xfrm>
          <a:prstGeom prst="rect">
            <a:avLst/>
          </a:prstGeom>
          <a:solidFill>
            <a:srgbClr val="12171D"/>
          </a:solidFill>
          <a:ln/>
        </p:spPr>
        <p:txBody>
          <a:bodyPr/>
          <a:p/>
        </p:txBody>
      </p:sp>
      <p:sp>
        <p:nvSpPr>
          <p:cNvPr id="5" name="Text 3"/>
          <p:cNvSpPr/>
          <p:nvPr/>
        </p:nvSpPr>
        <p:spPr>
          <a:xfrm>
            <a:off x="1016000" y="21335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BCACA7"/>
                </a:solidFill>
                <a:latin typeface="Jost" pitchFamily="34" charset="0"/>
                <a:ea typeface="Jost" pitchFamily="34" charset="-122"/>
                <a:cs typeface="Jost" pitchFamily="34" charset="-120"/>
              </a:rPr>
              <a:t>Beige on Ink</a:t>
            </a:r>
            <a:endParaRPr lang="en-US" sz="2200" dirty="0"/>
          </a:p>
        </p:txBody>
      </p:sp>
      <p:sp>
        <p:nvSpPr>
          <p:cNvPr id="6" name="Text 4"/>
          <p:cNvSpPr/>
          <p:nvPr/>
        </p:nvSpPr>
        <p:spPr>
          <a:xfrm>
            <a:off x="1016000" y="44692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8.2 : 1. The signature pairing. Dark applications.</a:t>
            </a:r>
            <a:endParaRPr lang="en-US" sz="1300" dirty="0"/>
          </a:p>
        </p:txBody>
      </p:sp>
      <p:sp>
        <p:nvSpPr>
          <p:cNvPr id="7" name="Shape 5"/>
          <p:cNvSpPr/>
          <p:nvPr/>
        </p:nvSpPr>
        <p:spPr>
          <a:xfrm>
            <a:off x="3476625" y="1936700"/>
            <a:ext cx="2543175" cy="3191619"/>
          </a:xfrm>
          <a:prstGeom prst="rect">
            <a:avLst/>
          </a:prstGeom>
          <a:solidFill>
            <a:srgbClr val="FFFFFF"/>
          </a:solidFill>
          <a:ln w="12700">
            <a:solidFill>
              <a:srgbClr val="12171D"/>
            </a:solidFill>
            <a:prstDash val="solid"/>
          </a:ln>
        </p:spPr>
        <p:txBody>
          <a:bodyPr/>
          <a:p/>
        </p:txBody>
      </p:sp>
      <p:sp>
        <p:nvSpPr>
          <p:cNvPr id="8" name="Text 6"/>
          <p:cNvSpPr/>
          <p:nvPr/>
        </p:nvSpPr>
        <p:spPr>
          <a:xfrm>
            <a:off x="3686175" y="21462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Ink on White</a:t>
            </a:r>
            <a:endParaRPr lang="en-US" sz="2200" dirty="0"/>
          </a:p>
        </p:txBody>
      </p:sp>
      <p:sp>
        <p:nvSpPr>
          <p:cNvPr id="9" name="Text 7"/>
          <p:cNvSpPr/>
          <p:nvPr/>
        </p:nvSpPr>
        <p:spPr>
          <a:xfrm>
            <a:off x="3686175" y="44565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18.0 : 1. Light applications and long reading.</a:t>
            </a:r>
            <a:endParaRPr lang="en-US" sz="1300" dirty="0"/>
          </a:p>
        </p:txBody>
      </p:sp>
      <p:sp>
        <p:nvSpPr>
          <p:cNvPr id="10" name="Shape 8"/>
          <p:cNvSpPr/>
          <p:nvPr/>
        </p:nvSpPr>
        <p:spPr>
          <a:xfrm>
            <a:off x="6153150" y="1930350"/>
            <a:ext cx="2530475" cy="3204319"/>
          </a:xfrm>
          <a:prstGeom prst="rect">
            <a:avLst/>
          </a:prstGeom>
          <a:solidFill>
            <a:srgbClr val="020202"/>
          </a:solidFill>
          <a:ln/>
        </p:spPr>
        <p:txBody>
          <a:bodyPr/>
          <a:p/>
        </p:txBody>
      </p:sp>
      <p:sp>
        <p:nvSpPr>
          <p:cNvPr id="11" name="Text 9"/>
          <p:cNvSpPr/>
          <p:nvPr/>
        </p:nvSpPr>
        <p:spPr>
          <a:xfrm>
            <a:off x="6356350" y="21335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White on Black</a:t>
            </a:r>
            <a:endParaRPr lang="en-US" sz="2200" dirty="0"/>
          </a:p>
        </p:txBody>
      </p:sp>
      <p:sp>
        <p:nvSpPr>
          <p:cNvPr id="12" name="Text 10"/>
          <p:cNvSpPr/>
          <p:nvPr/>
        </p:nvSpPr>
        <p:spPr>
          <a:xfrm>
            <a:off x="6356350" y="44692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Monochrome print, one-colour production.</a:t>
            </a:r>
            <a:endParaRPr lang="en-US" sz="1300" dirty="0"/>
          </a:p>
        </p:txBody>
      </p:sp>
      <p:sp>
        <p:nvSpPr>
          <p:cNvPr id="13" name="Shape 11"/>
          <p:cNvSpPr/>
          <p:nvPr/>
        </p:nvSpPr>
        <p:spPr>
          <a:xfrm>
            <a:off x="8820150" y="1939875"/>
            <a:ext cx="2549525" cy="3185269"/>
          </a:xfrm>
          <a:prstGeom prst="rect">
            <a:avLst/>
          </a:prstGeom>
          <a:solidFill>
            <a:srgbClr val="FFFFFF"/>
          </a:solidFill>
          <a:ln w="19050">
            <a:solidFill>
              <a:srgbClr val="12171D"/>
            </a:solidFill>
            <a:prstDash val="dash"/>
          </a:ln>
        </p:spPr>
        <p:txBody>
          <a:bodyPr/>
          <a:p/>
        </p:txBody>
      </p:sp>
      <p:sp>
        <p:nvSpPr>
          <p:cNvPr id="14" name="Text 12"/>
          <p:cNvSpPr/>
          <p:nvPr/>
        </p:nvSpPr>
        <p:spPr>
          <a:xfrm>
            <a:off x="9032875" y="215260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BCACA7"/>
                </a:solidFill>
                <a:latin typeface="Jost" pitchFamily="34" charset="0"/>
                <a:ea typeface="Jost" pitchFamily="34" charset="-122"/>
                <a:cs typeface="Jost" pitchFamily="34" charset="-120"/>
              </a:rPr>
              <a:t>Beige on White</a:t>
            </a:r>
            <a:endParaRPr lang="en-US" sz="2200" dirty="0"/>
          </a:p>
        </p:txBody>
      </p:sp>
      <p:sp>
        <p:nvSpPr>
          <p:cNvPr id="15" name="Text 13"/>
          <p:cNvSpPr/>
          <p:nvPr/>
        </p:nvSpPr>
        <p:spPr>
          <a:xfrm>
            <a:off x="9032875" y="4114800"/>
            <a:ext cx="2187797" cy="868680"/>
          </a:xfrm>
          <a:prstGeom prst="rect">
            <a:avLst/>
          </a:prstGeom>
          <a:noFill/>
          <a:ln/>
        </p:spPr>
        <p:txBody>
          <a:bodyPr wrap="square" lIns="0" tIns="0" rIns="0" bIns="0" rtlCol="0" anchor="t"/>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NEVER. 2.2 : 1 fails. Not for essential text, boundaries or the logo (K05). Decorative only (K07).</a:t>
            </a:r>
            <a:endParaRPr lang="en-US" sz="1300" dirty="0"/>
          </a:p>
        </p:txBody>
      </p:sp>
      <p:sp>
        <p:nvSpPr>
          <p:cNvPr id="16" name="Text 14"/>
          <p:cNvSpPr/>
          <p:nvPr/>
        </p:nvSpPr>
        <p:spPr>
          <a:xfrm>
            <a:off x="812800" y="5363270"/>
            <a:ext cx="1088339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Also never: gold, gradients, a fifth colour, or Beige as a text colour on a light field. Ratios are WCAG 2.2 AA; implementation tokens sit in Part B.</a:t>
            </a:r>
            <a:endParaRPr lang="en-US" sz="13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COLOUR</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406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TYPOGRAPHY · JOST · DISPLAY AND HEADINGS</a:t>
            </a:r>
            <a:endParaRPr lang="en-US" sz="1200" dirty="0"/>
          </a:p>
        </p:txBody>
      </p:sp>
      <p:sp>
        <p:nvSpPr>
          <p:cNvPr id="3" name="Text 1"/>
          <p:cNvSpPr/>
          <p:nvPr/>
        </p:nvSpPr>
        <p:spPr>
          <a:xfrm>
            <a:off x="711200" y="952500"/>
            <a:ext cx="5886450" cy="228600"/>
          </a:xfrm>
          <a:prstGeom prst="rect">
            <a:avLst/>
          </a:prstGeom>
          <a:noFill/>
          <a:ln/>
        </p:spPr>
        <p:txBody>
          <a:bodyPr wrap="square" lIns="0" tIns="0" rIns="0" bIns="0" rtlCol="0" anchor="t">
            <a:normAutofit/>
          </a:bodyPr>
          <a:lstStyle/>
          <a:p>
            <a:pPr algn="l" indent="0" marL="0">
              <a:lnSpc>
                <a:spcPts val="1600"/>
              </a:lnSpc>
              <a:buNone/>
            </a:pPr>
            <a:r>
              <a:rPr lang="en-US" sz="1600" dirty="0">
                <a:solidFill>
                  <a:srgbClr val="BCACA7"/>
                </a:solidFill>
                <a:latin typeface="Jost" pitchFamily="34" charset="0"/>
                <a:ea typeface="Jost" pitchFamily="34" charset="-122"/>
                <a:cs typeface="Jost" pitchFamily="34" charset="-120"/>
              </a:rPr>
              <a:t>Aa</a:t>
            </a:r>
            <a:endParaRPr lang="en-US" sz="1600" dirty="0"/>
          </a:p>
        </p:txBody>
      </p:sp>
      <p:sp>
        <p:nvSpPr>
          <p:cNvPr id="4" name="Text 2"/>
          <p:cNvSpPr/>
          <p:nvPr/>
        </p:nvSpPr>
        <p:spPr>
          <a:xfrm>
            <a:off x="6858000" y="1206500"/>
            <a:ext cx="4656836" cy="103118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FFFFFF"/>
                </a:solidFill>
                <a:latin typeface="Jost" pitchFamily="34" charset="0"/>
                <a:ea typeface="Jost" pitchFamily="34" charset="-122"/>
                <a:cs typeface="Jost" pitchFamily="34" charset="-120"/>
              </a:rPr>
              <a:t>GEOMETRY IS THE LANGUAGE</a:t>
            </a:r>
            <a:endParaRPr lang="en-US" sz="3600" dirty="0"/>
          </a:p>
        </p:txBody>
      </p:sp>
      <p:sp>
        <p:nvSpPr>
          <p:cNvPr id="5" name="Text 3"/>
          <p:cNvSpPr/>
          <p:nvPr/>
        </p:nvSpPr>
        <p:spPr>
          <a:xfrm>
            <a:off x="6858000" y="2794000"/>
            <a:ext cx="5334000" cy="375890"/>
          </a:xfrm>
          <a:prstGeom prst="rect">
            <a:avLst/>
          </a:prstGeom>
          <a:noFill/>
          <a:ln/>
        </p:spPr>
        <p:txBody>
          <a:bodyPr wrap="square" lIns="0" tIns="0" rIns="0" bIns="0" rtlCol="0" anchor="t">
            <a:normAutofit/>
          </a:bodyPr>
          <a:lstStyle/>
          <a:p>
            <a:pPr algn="l" indent="0" marL="0">
              <a:lnSpc>
                <a:spcPts val="2760"/>
              </a:lnSpc>
              <a:buNone/>
            </a:pPr>
            <a:r>
              <a:rPr lang="en-US" sz="2400" spc="50" kern="0" dirty="0">
                <a:solidFill>
                  <a:srgbClr val="FFFFFF"/>
                </a:solidFill>
                <a:latin typeface="Jost" pitchFamily="34" charset="0"/>
                <a:ea typeface="Jost" pitchFamily="34" charset="-122"/>
                <a:cs typeface="Jost" pitchFamily="34" charset="-120"/>
              </a:rPr>
              <a:t>Hospitality, in perfect proportion</a:t>
            </a:r>
            <a:endParaRPr lang="en-US" sz="2400" dirty="0"/>
          </a:p>
        </p:txBody>
      </p:sp>
      <p:sp>
        <p:nvSpPr>
          <p:cNvPr id="6" name="Text 4"/>
          <p:cNvSpPr/>
          <p:nvPr/>
        </p:nvSpPr>
        <p:spPr>
          <a:xfrm>
            <a:off x="6858000" y="3810000"/>
            <a:ext cx="4656836" cy="848271"/>
          </a:xfrm>
          <a:prstGeom prst="rect">
            <a:avLst/>
          </a:prstGeom>
          <a:noFill/>
          <a:ln/>
        </p:spPr>
        <p:txBody>
          <a:bodyPr wrap="square" lIns="0" tIns="0" rIns="0" bIns="0" rtlCol="0" anchor="t">
            <a:normAutofit/>
          </a:bodyPr>
          <a:lstStyle/>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ABCDEFGHIJKLMNOPQRSTUVWXYZ</a:t>
            </a:r>
            <a:endParaRPr lang="en-US" sz="1800" dirty="0"/>
          </a:p>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abcdefghijklmnopqrstuvwxyz</a:t>
            </a:r>
            <a:endParaRPr lang="en-US" sz="1800" dirty="0"/>
          </a:p>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0123456789</a:t>
            </a:r>
            <a:endParaRPr lang="en-US" sz="1800" dirty="0"/>
          </a:p>
        </p:txBody>
      </p:sp>
      <p:sp>
        <p:nvSpPr>
          <p:cNvPr id="7" name="Text 5"/>
          <p:cNvSpPr/>
          <p:nvPr/>
        </p:nvSpPr>
        <p:spPr>
          <a:xfrm>
            <a:off x="6858000" y="4977892"/>
            <a:ext cx="4656836" cy="1036104"/>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Display and headings: 400. Controlled labels and emphasis: 500. Two weights per composition at most. Display capitals carry .08 to .12em tracking (Part B tokens, CONDITIONAL · VAL-19).</a:t>
            </a:r>
            <a:endParaRPr lang="en-US" sz="1300" dirty="0"/>
          </a:p>
        </p:txBody>
      </p:sp>
      <p:sp>
        <p:nvSpPr>
          <p:cNvPr id="8" name="Text 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9"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TYPOGRAPHY · INTER · BODY AND INTERFACE</a:t>
            </a:r>
            <a:endParaRPr lang="en-US" sz="1200" dirty="0"/>
          </a:p>
        </p:txBody>
      </p:sp>
      <p:sp>
        <p:nvSpPr>
          <p:cNvPr id="3" name="Text 1"/>
          <p:cNvSpPr/>
          <p:nvPr/>
        </p:nvSpPr>
        <p:spPr>
          <a:xfrm>
            <a:off x="812800" y="1391841"/>
            <a:ext cx="4185920" cy="228600"/>
          </a:xfrm>
          <a:prstGeom prst="rect">
            <a:avLst/>
          </a:prstGeom>
          <a:noFill/>
          <a:ln/>
        </p:spPr>
        <p:txBody>
          <a:bodyPr wrap="square" lIns="0" tIns="0" rIns="0" bIns="0" rtlCol="0" anchor="t">
            <a:normAutofit/>
          </a:bodyPr>
          <a:lstStyle/>
          <a:p>
            <a:pPr algn="l" indent="0" marL="0">
              <a:lnSpc>
                <a:spcPts val="1600"/>
              </a:lnSpc>
              <a:buNone/>
            </a:pPr>
            <a:r>
              <a:rPr lang="en-US" sz="1600" spc="-30" kern="0" dirty="0">
                <a:solidFill>
                  <a:srgbClr val="12171D"/>
                </a:solidFill>
                <a:latin typeface="Inter" pitchFamily="34" charset="0"/>
                <a:ea typeface="Inter" pitchFamily="34" charset="-122"/>
                <a:cs typeface="Inter" pitchFamily="34" charset="-120"/>
              </a:rPr>
              <a:t>Aa</a:t>
            </a:r>
            <a:endParaRPr lang="en-US" sz="1600" dirty="0"/>
          </a:p>
        </p:txBody>
      </p:sp>
      <p:sp>
        <p:nvSpPr>
          <p:cNvPr id="4" name="Text 2"/>
          <p:cNvSpPr/>
          <p:nvPr/>
        </p:nvSpPr>
        <p:spPr>
          <a:xfrm>
            <a:off x="812800" y="5123904"/>
            <a:ext cx="4185920"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Inter carries every sentence that must be read, from a booking form to a specification sheet. It stays plain so Jost can stay distinct.</a:t>
            </a:r>
            <a:endParaRPr lang="en-US" sz="1300" dirty="0"/>
          </a:p>
        </p:txBody>
      </p:sp>
      <p:sp>
        <p:nvSpPr>
          <p:cNvPr id="5" name="Shape 3"/>
          <p:cNvSpPr/>
          <p:nvPr/>
        </p:nvSpPr>
        <p:spPr>
          <a:xfrm>
            <a:off x="5486400" y="1626344"/>
            <a:ext cx="5892800" cy="0"/>
          </a:xfrm>
          <a:prstGeom prst="line">
            <a:avLst/>
          </a:prstGeom>
          <a:noFill/>
          <a:ln w="6350">
            <a:solidFill>
              <a:srgbClr val="BCACA7"/>
            </a:solidFill>
            <a:prstDash val="solid"/>
          </a:ln>
        </p:spPr>
        <p:txBody>
          <a:bodyPr/>
          <a:p/>
        </p:txBody>
      </p:sp>
      <p:sp>
        <p:nvSpPr>
          <p:cNvPr id="6" name="Text 4"/>
          <p:cNvSpPr/>
          <p:nvPr/>
        </p:nvSpPr>
        <p:spPr>
          <a:xfrm>
            <a:off x="5486400" y="1756519"/>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HEADLINE · JOST</a:t>
            </a:r>
            <a:endParaRPr lang="en-US" sz="1200" dirty="0"/>
          </a:p>
        </p:txBody>
      </p:sp>
      <p:sp>
        <p:nvSpPr>
          <p:cNvPr id="7" name="Text 5"/>
          <p:cNvSpPr/>
          <p:nvPr/>
        </p:nvSpPr>
        <p:spPr>
          <a:xfrm>
            <a:off x="5486400" y="2007939"/>
            <a:ext cx="6069584" cy="416520"/>
          </a:xfrm>
          <a:prstGeom prst="rect">
            <a:avLst/>
          </a:prstGeom>
          <a:noFill/>
          <a:ln/>
        </p:spPr>
        <p:txBody>
          <a:bodyPr wrap="square" lIns="0" tIns="0" rIns="0" bIns="0" rtlCol="0" anchor="t">
            <a:normAutofit/>
          </a:bodyPr>
          <a:lstStyle/>
          <a:p>
            <a:pPr algn="l" indent="0" marL="0">
              <a:lnSpc>
                <a:spcPts val="3080"/>
              </a:lnSpc>
              <a:buNone/>
            </a:pPr>
            <a:r>
              <a:rPr lang="en-US" sz="2800" spc="55" kern="0" dirty="0">
                <a:solidFill>
                  <a:srgbClr val="12171D"/>
                </a:solidFill>
                <a:latin typeface="Jost" pitchFamily="34" charset="0"/>
                <a:ea typeface="Jost" pitchFamily="34" charset="-122"/>
                <a:cs typeface="Jost" pitchFamily="34" charset="-120"/>
              </a:rPr>
              <a:t>A quiet arrival</a:t>
            </a:r>
            <a:endParaRPr lang="en-US" sz="2800" dirty="0"/>
          </a:p>
        </p:txBody>
      </p:sp>
      <p:sp>
        <p:nvSpPr>
          <p:cNvPr id="8" name="Shape 6"/>
          <p:cNvSpPr/>
          <p:nvPr/>
        </p:nvSpPr>
        <p:spPr>
          <a:xfrm>
            <a:off x="5486400" y="2554635"/>
            <a:ext cx="5892800" cy="0"/>
          </a:xfrm>
          <a:prstGeom prst="line">
            <a:avLst/>
          </a:prstGeom>
          <a:noFill/>
          <a:ln w="6350">
            <a:solidFill>
              <a:srgbClr val="BCACA7"/>
            </a:solidFill>
            <a:prstDash val="solid"/>
          </a:ln>
        </p:spPr>
        <p:txBody>
          <a:bodyPr/>
          <a:p/>
        </p:txBody>
      </p:sp>
      <p:sp>
        <p:nvSpPr>
          <p:cNvPr id="9" name="Text 7"/>
          <p:cNvSpPr/>
          <p:nvPr/>
        </p:nvSpPr>
        <p:spPr>
          <a:xfrm>
            <a:off x="5486400" y="268481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EMPHASIS · INTER 500</a:t>
            </a:r>
            <a:endParaRPr lang="en-US" sz="1200" dirty="0"/>
          </a:p>
        </p:txBody>
      </p:sp>
      <p:sp>
        <p:nvSpPr>
          <p:cNvPr id="10" name="Text 8"/>
          <p:cNvSpPr/>
          <p:nvPr/>
        </p:nvSpPr>
        <p:spPr>
          <a:xfrm>
            <a:off x="5486400" y="2936230"/>
            <a:ext cx="6069584" cy="29969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2171D"/>
                </a:solidFill>
                <a:latin typeface="Inter" pitchFamily="34" charset="0"/>
                <a:ea typeface="Inter" pitchFamily="34" charset="-122"/>
                <a:cs typeface="Inter" pitchFamily="34" charset="-120"/>
              </a:rPr>
              <a:t>Every detail, in its place</a:t>
            </a:r>
            <a:endParaRPr lang="en-US" sz="1800" dirty="0"/>
          </a:p>
        </p:txBody>
      </p:sp>
      <p:sp>
        <p:nvSpPr>
          <p:cNvPr id="11" name="Shape 9"/>
          <p:cNvSpPr/>
          <p:nvPr/>
        </p:nvSpPr>
        <p:spPr>
          <a:xfrm>
            <a:off x="5486400" y="3366095"/>
            <a:ext cx="5892800" cy="0"/>
          </a:xfrm>
          <a:prstGeom prst="line">
            <a:avLst/>
          </a:prstGeom>
          <a:noFill/>
          <a:ln w="6350">
            <a:solidFill>
              <a:srgbClr val="BCACA7"/>
            </a:solidFill>
            <a:prstDash val="solid"/>
          </a:ln>
        </p:spPr>
        <p:txBody>
          <a:bodyPr/>
          <a:p/>
        </p:txBody>
      </p:sp>
      <p:sp>
        <p:nvSpPr>
          <p:cNvPr id="12" name="Text 10"/>
          <p:cNvSpPr/>
          <p:nvPr/>
        </p:nvSpPr>
        <p:spPr>
          <a:xfrm>
            <a:off x="5486400" y="349627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BODY · INTER 400</a:t>
            </a:r>
            <a:endParaRPr lang="en-US" sz="1200" dirty="0"/>
          </a:p>
        </p:txBody>
      </p:sp>
      <p:sp>
        <p:nvSpPr>
          <p:cNvPr id="13" name="Text 11"/>
          <p:cNvSpPr/>
          <p:nvPr/>
        </p:nvSpPr>
        <p:spPr>
          <a:xfrm>
            <a:off x="5486400" y="3747691"/>
            <a:ext cx="606958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Body text is set with zero tracking and generous leading, in measures that stay easy to read.</a:t>
            </a:r>
            <a:endParaRPr lang="en-US" sz="1400" dirty="0"/>
          </a:p>
        </p:txBody>
      </p:sp>
      <p:sp>
        <p:nvSpPr>
          <p:cNvPr id="14" name="Shape 12"/>
          <p:cNvSpPr/>
          <p:nvPr/>
        </p:nvSpPr>
        <p:spPr>
          <a:xfrm>
            <a:off x="5486400" y="4436666"/>
            <a:ext cx="5892800" cy="0"/>
          </a:xfrm>
          <a:prstGeom prst="line">
            <a:avLst/>
          </a:prstGeom>
          <a:noFill/>
          <a:ln w="6350">
            <a:solidFill>
              <a:srgbClr val="BCACA7"/>
            </a:solidFill>
            <a:prstDash val="solid"/>
          </a:ln>
        </p:spPr>
        <p:txBody>
          <a:bodyPr/>
          <a:p/>
        </p:txBody>
      </p:sp>
      <p:sp>
        <p:nvSpPr>
          <p:cNvPr id="15" name="Text 13"/>
          <p:cNvSpPr/>
          <p:nvPr/>
        </p:nvSpPr>
        <p:spPr>
          <a:xfrm>
            <a:off x="5486400" y="4566841"/>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LABEL SMALL · INTER 400 · CAPITALS</a:t>
            </a:r>
            <a:endParaRPr lang="en-US" sz="1200" dirty="0"/>
          </a:p>
        </p:txBody>
      </p:sp>
      <p:sp>
        <p:nvSpPr>
          <p:cNvPr id="16" name="Text 14"/>
          <p:cNvSpPr/>
          <p:nvPr/>
        </p:nvSpPr>
        <p:spPr>
          <a:xfrm>
            <a:off x="5486400" y="4818261"/>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CORE COLLECTION · 30 ML</a:t>
            </a:r>
            <a:endParaRPr lang="en-US" sz="12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TYPOGRAPHY · TRACKING AND MEASURE</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Space between letters is calibrated, not generous.</a:t>
            </a:r>
            <a:endParaRPr lang="en-US" sz="3200" dirty="0"/>
          </a:p>
        </p:txBody>
      </p:sp>
      <p:sp>
        <p:nvSpPr>
          <p:cNvPr id="4" name="Shape 2"/>
          <p:cNvSpPr/>
          <p:nvPr/>
        </p:nvSpPr>
        <p:spPr>
          <a:xfrm>
            <a:off x="812800" y="2199729"/>
            <a:ext cx="10566400" cy="0"/>
          </a:xfrm>
          <a:prstGeom prst="line">
            <a:avLst/>
          </a:prstGeom>
          <a:noFill/>
          <a:ln w="6350">
            <a:solidFill>
              <a:srgbClr val="BCACA7"/>
            </a:solidFill>
            <a:prstDash val="solid"/>
          </a:ln>
        </p:spPr>
        <p:txBody>
          <a:bodyPr/>
          <a:p/>
        </p:txBody>
      </p:sp>
      <p:sp>
        <p:nvSpPr>
          <p:cNvPr id="5" name="Text 3"/>
          <p:cNvSpPr/>
          <p:nvPr/>
        </p:nvSpPr>
        <p:spPr>
          <a:xfrm>
            <a:off x="812800" y="239340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TAGLINE · .18EM</a:t>
            </a:r>
            <a:endParaRPr lang="en-US" sz="1200" dirty="0"/>
          </a:p>
        </p:txBody>
      </p:sp>
      <p:sp>
        <p:nvSpPr>
          <p:cNvPr id="6" name="Text 4"/>
          <p:cNvSpPr/>
          <p:nvPr/>
        </p:nvSpPr>
        <p:spPr>
          <a:xfrm>
            <a:off x="3479800" y="2317204"/>
            <a:ext cx="6525518" cy="345430"/>
          </a:xfrm>
          <a:prstGeom prst="rect">
            <a:avLst/>
          </a:prstGeom>
          <a:noFill/>
          <a:ln/>
        </p:spPr>
        <p:txBody>
          <a:bodyPr wrap="square" lIns="0" tIns="0" rIns="0" bIns="0" rtlCol="0" anchor="t">
            <a:normAutofit/>
          </a:bodyPr>
          <a:lstStyle/>
          <a:p>
            <a:pPr algn="l" indent="0" marL="0">
              <a:lnSpc>
                <a:spcPts val="2520"/>
              </a:lnSpc>
              <a:buNone/>
            </a:pPr>
            <a:r>
              <a:rPr lang="en-US" sz="1800" spc="325" kern="0" dirty="0">
                <a:solidFill>
                  <a:srgbClr val="12171D"/>
                </a:solidFill>
                <a:latin typeface="Jost" pitchFamily="34" charset="0"/>
                <a:ea typeface="Jost" pitchFamily="34" charset="-122"/>
                <a:cs typeface="Jost" pitchFamily="34" charset="-120"/>
              </a:rPr>
              <a:t>HOSPITALITY, IN PERFECT PROPORTION</a:t>
            </a:r>
            <a:endParaRPr lang="en-US" sz="1800" dirty="0"/>
          </a:p>
        </p:txBody>
      </p:sp>
      <p:sp>
        <p:nvSpPr>
          <p:cNvPr id="7" name="Shape 5"/>
          <p:cNvSpPr/>
          <p:nvPr/>
        </p:nvSpPr>
        <p:spPr>
          <a:xfrm>
            <a:off x="812800" y="2754709"/>
            <a:ext cx="10566400" cy="0"/>
          </a:xfrm>
          <a:prstGeom prst="line">
            <a:avLst/>
          </a:prstGeom>
          <a:noFill/>
          <a:ln w="6350">
            <a:solidFill>
              <a:srgbClr val="BCACA7"/>
            </a:solidFill>
            <a:prstDash val="solid"/>
          </a:ln>
        </p:spPr>
        <p:txBody>
          <a:bodyPr/>
          <a:p/>
        </p:txBody>
      </p:sp>
      <p:sp>
        <p:nvSpPr>
          <p:cNvPr id="8" name="Text 6"/>
          <p:cNvSpPr/>
          <p:nvPr/>
        </p:nvSpPr>
        <p:spPr>
          <a:xfrm>
            <a:off x="812800" y="287218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EYEBROW · .16EM</a:t>
            </a:r>
            <a:endParaRPr lang="en-US" sz="1200" dirty="0"/>
          </a:p>
        </p:txBody>
      </p:sp>
      <p:sp>
        <p:nvSpPr>
          <p:cNvPr id="9" name="Text 7"/>
          <p:cNvSpPr/>
          <p:nvPr/>
        </p:nvSpPr>
        <p:spPr>
          <a:xfrm>
            <a:off x="3479800" y="2872184"/>
            <a:ext cx="1802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SECTION LABEL</a:t>
            </a:r>
            <a:endParaRPr lang="en-US" sz="1200" dirty="0"/>
          </a:p>
        </p:txBody>
      </p:sp>
      <p:sp>
        <p:nvSpPr>
          <p:cNvPr id="10" name="Shape 8"/>
          <p:cNvSpPr/>
          <p:nvPr/>
        </p:nvSpPr>
        <p:spPr>
          <a:xfrm>
            <a:off x="812800" y="3202980"/>
            <a:ext cx="10566400" cy="0"/>
          </a:xfrm>
          <a:prstGeom prst="line">
            <a:avLst/>
          </a:prstGeom>
          <a:noFill/>
          <a:ln w="6350">
            <a:solidFill>
              <a:srgbClr val="BCACA7"/>
            </a:solidFill>
            <a:prstDash val="solid"/>
          </a:ln>
        </p:spPr>
        <p:txBody>
          <a:bodyPr/>
          <a:p/>
        </p:txBody>
      </p:sp>
      <p:sp>
        <p:nvSpPr>
          <p:cNvPr id="11" name="Text 9"/>
          <p:cNvSpPr/>
          <p:nvPr/>
        </p:nvSpPr>
        <p:spPr>
          <a:xfrm>
            <a:off x="812800" y="3476030"/>
            <a:ext cx="248539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DISPLAY CAPITALS · .08–.12EM</a:t>
            </a:r>
            <a:endParaRPr lang="en-US" sz="1200" dirty="0"/>
          </a:p>
        </p:txBody>
      </p:sp>
      <p:sp>
        <p:nvSpPr>
          <p:cNvPr id="12" name="Text 10"/>
          <p:cNvSpPr/>
          <p:nvPr/>
        </p:nvSpPr>
        <p:spPr>
          <a:xfrm>
            <a:off x="3479800" y="3320455"/>
            <a:ext cx="2069663" cy="452090"/>
          </a:xfrm>
          <a:prstGeom prst="rect">
            <a:avLst/>
          </a:prstGeom>
          <a:noFill/>
          <a:ln/>
        </p:spPr>
        <p:txBody>
          <a:bodyPr wrap="square" lIns="0" tIns="0" rIns="0" bIns="0" rtlCol="0" anchor="t">
            <a:normAutofit/>
          </a:bodyPr>
          <a:lstStyle/>
          <a:p>
            <a:pPr algn="l" indent="0" marL="0">
              <a:lnSpc>
                <a:spcPts val="3360"/>
              </a:lnSpc>
              <a:buNone/>
            </a:pPr>
            <a:r>
              <a:rPr lang="en-US" sz="2400" spc="190" kern="0" dirty="0">
                <a:solidFill>
                  <a:srgbClr val="12171D"/>
                </a:solidFill>
                <a:latin typeface="Jost" pitchFamily="34" charset="0"/>
                <a:ea typeface="Jost" pitchFamily="34" charset="-122"/>
                <a:cs typeface="Jost" pitchFamily="34" charset="-120"/>
              </a:rPr>
              <a:t>PRECISION</a:t>
            </a:r>
            <a:endParaRPr lang="en-US" sz="2400" dirty="0"/>
          </a:p>
        </p:txBody>
      </p:sp>
      <p:sp>
        <p:nvSpPr>
          <p:cNvPr id="13" name="Shape 11"/>
          <p:cNvSpPr/>
          <p:nvPr/>
        </p:nvSpPr>
        <p:spPr>
          <a:xfrm>
            <a:off x="812800" y="4020145"/>
            <a:ext cx="10566400" cy="0"/>
          </a:xfrm>
          <a:prstGeom prst="line">
            <a:avLst/>
          </a:prstGeom>
          <a:noFill/>
          <a:ln w="6350">
            <a:solidFill>
              <a:srgbClr val="BCACA7"/>
            </a:solidFill>
            <a:prstDash val="solid"/>
          </a:ln>
        </p:spPr>
        <p:txBody>
          <a:bodyPr/>
          <a:p/>
        </p:txBody>
      </p:sp>
      <p:sp>
        <p:nvSpPr>
          <p:cNvPr id="14" name="Text 12"/>
          <p:cNvSpPr/>
          <p:nvPr/>
        </p:nvSpPr>
        <p:spPr>
          <a:xfrm>
            <a:off x="812800" y="426779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HEADINGS · 0–.02EM</a:t>
            </a:r>
            <a:endParaRPr lang="en-US" sz="1200" dirty="0"/>
          </a:p>
        </p:txBody>
      </p:sp>
      <p:sp>
        <p:nvSpPr>
          <p:cNvPr id="15" name="Text 13"/>
          <p:cNvSpPr/>
          <p:nvPr/>
        </p:nvSpPr>
        <p:spPr>
          <a:xfrm>
            <a:off x="3479800" y="4137620"/>
            <a:ext cx="3146108"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Restraint is the luxury</a:t>
            </a:r>
            <a:endParaRPr lang="en-US" sz="2200" dirty="0"/>
          </a:p>
        </p:txBody>
      </p:sp>
      <p:sp>
        <p:nvSpPr>
          <p:cNvPr id="16" name="Shape 14"/>
          <p:cNvSpPr/>
          <p:nvPr/>
        </p:nvSpPr>
        <p:spPr>
          <a:xfrm>
            <a:off x="812800" y="4646216"/>
            <a:ext cx="10566400" cy="0"/>
          </a:xfrm>
          <a:prstGeom prst="line">
            <a:avLst/>
          </a:prstGeom>
          <a:noFill/>
          <a:ln w="6350">
            <a:solidFill>
              <a:srgbClr val="BCACA7"/>
            </a:solidFill>
            <a:prstDash val="solid"/>
          </a:ln>
        </p:spPr>
        <p:txBody>
          <a:bodyPr/>
          <a:p/>
        </p:txBody>
      </p:sp>
      <p:sp>
        <p:nvSpPr>
          <p:cNvPr id="17" name="Shape 15"/>
          <p:cNvSpPr/>
          <p:nvPr/>
        </p:nvSpPr>
        <p:spPr>
          <a:xfrm>
            <a:off x="812800" y="5130056"/>
            <a:ext cx="10566400" cy="0"/>
          </a:xfrm>
          <a:prstGeom prst="line">
            <a:avLst/>
          </a:prstGeom>
          <a:noFill/>
          <a:ln w="6350">
            <a:solidFill>
              <a:srgbClr val="BCACA7"/>
            </a:solidFill>
            <a:prstDash val="solid"/>
          </a:ln>
        </p:spPr>
        <p:txBody>
          <a:bodyPr/>
          <a:p/>
        </p:txBody>
      </p:sp>
      <p:sp>
        <p:nvSpPr>
          <p:cNvPr id="18" name="Text 16"/>
          <p:cNvSpPr/>
          <p:nvPr/>
        </p:nvSpPr>
        <p:spPr>
          <a:xfrm>
            <a:off x="812800" y="4789091"/>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BODY · 0</a:t>
            </a:r>
            <a:endParaRPr lang="en-US" sz="1200" dirty="0"/>
          </a:p>
        </p:txBody>
      </p:sp>
      <p:sp>
        <p:nvSpPr>
          <p:cNvPr id="19" name="Text 17"/>
          <p:cNvSpPr/>
          <p:nvPr/>
        </p:nvSpPr>
        <p:spPr>
          <a:xfrm>
            <a:off x="3479800" y="4763691"/>
            <a:ext cx="624518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Body copy is never tracked. Keep lines to 45 to 75 characters.</a:t>
            </a:r>
            <a:endParaRPr lang="en-US" sz="1400" dirty="0"/>
          </a:p>
        </p:txBody>
      </p:sp>
      <p:sp>
        <p:nvSpPr>
          <p:cNvPr id="20" name="Text 18"/>
          <p:cNvSpPr/>
          <p:nvPr/>
        </p:nvSpPr>
        <p:spPr>
          <a:xfrm>
            <a:off x="812800" y="5559552"/>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Never track Arabic. The retired 0.3 to 0.8em rule is not used. Values are CONDITIONAL until optical QA in the approved templates (VAL-19). Full token values: Part B.</a:t>
            </a:r>
            <a:endParaRPr lang="en-US" sz="13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ARABIC · DIRECTION · PENDING VALIDATION</a:t>
            </a:r>
            <a:endParaRPr lang="en-US" sz="1200" dirty="0"/>
          </a:p>
        </p:txBody>
      </p:sp>
      <p:sp>
        <p:nvSpPr>
          <p:cNvPr id="3" name="Text 1"/>
          <p:cNvSpPr/>
          <p:nvPr>
            <p:ph type="title"/>
          </p:nvPr>
        </p:nvSpPr>
        <p:spPr>
          <a:xfrm>
            <a:off x="812800" y="1203920"/>
            <a:ext cx="4970780" cy="136649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Arabic is composed, not translated onto a Latin layout.</a:t>
            </a:r>
            <a:endParaRPr lang="en-US" sz="3200" dirty="0"/>
          </a:p>
        </p:txBody>
      </p:sp>
      <p:sp>
        <p:nvSpPr>
          <p:cNvPr id="4" name="Text 2"/>
          <p:cNvSpPr/>
          <p:nvPr/>
        </p:nvSpPr>
        <p:spPr>
          <a:xfrm>
            <a:off x="812800" y="5123904"/>
            <a:ext cx="4970780"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Noto Sans Arabic is the interim family. It stays PENDING VALIDATION until native Arabic, RTL and localization QA is complete. PENDING LOCALIZATION APPROVAL.</a:t>
            </a:r>
            <a:endParaRPr lang="en-US" sz="1300" dirty="0"/>
          </a:p>
        </p:txBody>
      </p:sp>
      <p:sp>
        <p:nvSpPr>
          <p:cNvPr id="5" name="Shape 3"/>
          <p:cNvSpPr/>
          <p:nvPr/>
        </p:nvSpPr>
        <p:spPr>
          <a:xfrm>
            <a:off x="6254750" y="1880295"/>
            <a:ext cx="5118100" cy="1328341"/>
          </a:xfrm>
          <a:prstGeom prst="rect">
            <a:avLst/>
          </a:prstGeom>
          <a:noFill/>
          <a:ln w="12700">
            <a:solidFill>
              <a:srgbClr val="BCACA7"/>
            </a:solidFill>
            <a:prstDash val="solid"/>
          </a:ln>
        </p:spPr>
        <p:txBody>
          <a:bodyPr/>
          <a:p/>
        </p:txBody>
      </p:sp>
      <p:sp>
        <p:nvSpPr>
          <p:cNvPr id="6" name="Text 4"/>
          <p:cNvSpPr/>
          <p:nvPr/>
        </p:nvSpPr>
        <p:spPr>
          <a:xfrm>
            <a:off x="6377178" y="2115245"/>
            <a:ext cx="4735322" cy="594320"/>
          </a:xfrm>
          <a:prstGeom prst="rect">
            <a:avLst/>
          </a:prstGeom>
          <a:noFill/>
          <a:ln/>
        </p:spPr>
        <p:txBody>
          <a:bodyPr wrap="square" lIns="0" tIns="0" rIns="0" bIns="0" rtlCol="0" anchor="t">
            <a:normAutofit/>
          </a:bodyPr>
          <a:lstStyle/>
          <a:p>
            <a:pPr algn="r" indent="0" marL="0">
              <a:lnSpc>
                <a:spcPts val="4480"/>
              </a:lnSpc>
              <a:buNone/>
            </a:pPr>
            <a:r>
              <a:rPr lang="en-US" sz="3200" dirty="0">
                <a:solidFill>
                  <a:srgbClr val="FFFFFF"/>
                </a:solidFill>
                <a:latin typeface="Noto Sans Arabic" pitchFamily="34" charset="0"/>
                <a:ea typeface="Noto Sans Arabic" pitchFamily="34" charset="-122"/>
                <a:cs typeface="Noto Sans Arabic" pitchFamily="34" charset="-120"/>
              </a:rPr>
              <a:t>أهلاً بكم</a:t>
            </a:r>
            <a:endParaRPr lang="en-US" sz="3200" dirty="0"/>
          </a:p>
        </p:txBody>
      </p:sp>
      <p:sp>
        <p:nvSpPr>
          <p:cNvPr id="7" name="Text 5"/>
          <p:cNvSpPr/>
          <p:nvPr/>
        </p:nvSpPr>
        <p:spPr>
          <a:xfrm>
            <a:off x="6515100" y="2760365"/>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Working string for layout only. Not approved copy.</a:t>
            </a:r>
            <a:endParaRPr lang="en-US" sz="1200" dirty="0"/>
          </a:p>
        </p:txBody>
      </p:sp>
      <p:sp>
        <p:nvSpPr>
          <p:cNvPr id="8" name="Shape 6"/>
          <p:cNvSpPr/>
          <p:nvPr/>
        </p:nvSpPr>
        <p:spPr>
          <a:xfrm>
            <a:off x="6248400" y="3395960"/>
            <a:ext cx="5130800" cy="0"/>
          </a:xfrm>
          <a:prstGeom prst="line">
            <a:avLst/>
          </a:prstGeom>
          <a:noFill/>
          <a:ln w="6350">
            <a:solidFill>
              <a:srgbClr val="BCACA7"/>
            </a:solidFill>
            <a:prstDash val="solid"/>
          </a:ln>
        </p:spPr>
        <p:txBody>
          <a:bodyPr/>
          <a:p/>
        </p:txBody>
      </p:sp>
      <p:sp>
        <p:nvSpPr>
          <p:cNvPr id="9" name="Text 7"/>
          <p:cNvSpPr/>
          <p:nvPr/>
        </p:nvSpPr>
        <p:spPr>
          <a:xfrm>
            <a:off x="6248400" y="3488035"/>
            <a:ext cx="528472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Flow right to left. Alignment, order and reading path all reverse.</a:t>
            </a:r>
            <a:endParaRPr lang="en-US" sz="1300" dirty="0"/>
          </a:p>
        </p:txBody>
      </p:sp>
      <p:sp>
        <p:nvSpPr>
          <p:cNvPr id="10" name="Shape 8"/>
          <p:cNvSpPr/>
          <p:nvPr/>
        </p:nvSpPr>
        <p:spPr>
          <a:xfrm>
            <a:off x="6248400" y="3811240"/>
            <a:ext cx="5130800" cy="0"/>
          </a:xfrm>
          <a:prstGeom prst="line">
            <a:avLst/>
          </a:prstGeom>
          <a:noFill/>
          <a:ln w="6350">
            <a:solidFill>
              <a:srgbClr val="BCACA7"/>
            </a:solidFill>
            <a:prstDash val="solid"/>
          </a:ln>
        </p:spPr>
        <p:txBody>
          <a:bodyPr/>
          <a:p/>
        </p:txBody>
      </p:sp>
      <p:sp>
        <p:nvSpPr>
          <p:cNvPr id="11" name="Text 9"/>
          <p:cNvSpPr/>
          <p:nvPr/>
        </p:nvSpPr>
        <p:spPr>
          <a:xfrm>
            <a:off x="6248400" y="3903315"/>
            <a:ext cx="528472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Never mirror the logo. The GEM mark keeps its orientation in every language.</a:t>
            </a:r>
            <a:endParaRPr lang="en-US" sz="1300" dirty="0"/>
          </a:p>
        </p:txBody>
      </p:sp>
      <p:sp>
        <p:nvSpPr>
          <p:cNvPr id="12" name="Shape 10"/>
          <p:cNvSpPr/>
          <p:nvPr/>
        </p:nvSpPr>
        <p:spPr>
          <a:xfrm>
            <a:off x="6248400" y="4457650"/>
            <a:ext cx="5130800" cy="0"/>
          </a:xfrm>
          <a:prstGeom prst="line">
            <a:avLst/>
          </a:prstGeom>
          <a:noFill/>
          <a:ln w="6350">
            <a:solidFill>
              <a:srgbClr val="BCACA7"/>
            </a:solidFill>
            <a:prstDash val="solid"/>
          </a:ln>
        </p:spPr>
        <p:txBody>
          <a:bodyPr/>
          <a:p/>
        </p:txBody>
      </p:sp>
      <p:sp>
        <p:nvSpPr>
          <p:cNvPr id="13" name="Text 11"/>
          <p:cNvSpPr/>
          <p:nvPr/>
        </p:nvSpPr>
        <p:spPr>
          <a:xfrm>
            <a:off x="6248400" y="4549725"/>
            <a:ext cx="528472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No Latin tracking. Arabic letters are never letterspaced.</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 COMPOSITION · CONCEPT · PENDING LOCALIZATION APPROVAL</a:t>
            </a:r>
            <a:endParaRPr lang="en-US" sz="1200" dirty="0"/>
          </a:p>
        </p:txBody>
      </p:sp>
      <p:sp>
        <p:nvSpPr>
          <p:cNvPr id="3" name="Shape 1"/>
          <p:cNvSpPr/>
          <p:nvPr/>
        </p:nvSpPr>
        <p:spPr>
          <a:xfrm>
            <a:off x="812800" y="1229320"/>
            <a:ext cx="5181600" cy="3615829"/>
          </a:xfrm>
          <a:prstGeom prst="rect">
            <a:avLst/>
          </a:prstGeom>
          <a:solidFill>
            <a:srgbClr val="12171D"/>
          </a:solidFill>
          <a:ln/>
        </p:spPr>
        <p:txBody>
          <a:bodyPr/>
          <a:p/>
        </p:txBody>
      </p:sp>
      <p:sp>
        <p:nvSpPr>
          <p:cNvPr id="4" name="Text 2"/>
          <p:cNvSpPr/>
          <p:nvPr/>
        </p:nvSpPr>
        <p:spPr>
          <a:xfrm>
            <a:off x="1117600" y="1534120"/>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ENGLISH-FIRST</a:t>
            </a:r>
            <a:endParaRPr lang="en-US" sz="1200" dirty="0"/>
          </a:p>
        </p:txBody>
      </p:sp>
      <p:sp>
        <p:nvSpPr>
          <p:cNvPr id="5" name="Text 3"/>
          <p:cNvSpPr/>
          <p:nvPr/>
        </p:nvSpPr>
        <p:spPr>
          <a:xfrm>
            <a:off x="1117600" y="3549799"/>
            <a:ext cx="4709160" cy="523230"/>
          </a:xfrm>
          <a:prstGeom prst="rect">
            <a:avLst/>
          </a:prstGeom>
          <a:noFill/>
          <a:ln/>
        </p:spPr>
        <p:txBody>
          <a:bodyPr wrap="square" lIns="0" tIns="0" rIns="0" bIns="0" rtlCol="0" anchor="t">
            <a:normAutofit/>
          </a:bodyPr>
          <a:lstStyle/>
          <a:p>
            <a:pPr algn="l" indent="0" marL="0">
              <a:lnSpc>
                <a:spcPts val="3920"/>
              </a:lnSpc>
              <a:buNone/>
            </a:pPr>
            <a:r>
              <a:rPr lang="en-US" sz="2800" spc="110" kern="0" dirty="0">
                <a:solidFill>
                  <a:srgbClr val="FFFFFF"/>
                </a:solidFill>
                <a:latin typeface="Jost" pitchFamily="34" charset="0"/>
                <a:ea typeface="Jost" pitchFamily="34" charset="-122"/>
                <a:cs typeface="Jost" pitchFamily="34" charset="-120"/>
              </a:rPr>
              <a:t>WELCOME</a:t>
            </a:r>
            <a:endParaRPr lang="en-US" sz="2800" dirty="0"/>
          </a:p>
        </p:txBody>
      </p:sp>
      <p:sp>
        <p:nvSpPr>
          <p:cNvPr id="6" name="Text 4"/>
          <p:cNvSpPr/>
          <p:nvPr/>
        </p:nvSpPr>
        <p:spPr>
          <a:xfrm>
            <a:off x="980440" y="4149229"/>
            <a:ext cx="470916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BCACA7"/>
                </a:solidFill>
                <a:latin typeface="Noto Sans Arabic" pitchFamily="34" charset="0"/>
                <a:ea typeface="Noto Sans Arabic" pitchFamily="34" charset="-122"/>
                <a:cs typeface="Noto Sans Arabic" pitchFamily="34" charset="-120"/>
              </a:rPr>
              <a:t>أهلاً بكم</a:t>
            </a:r>
            <a:endParaRPr lang="en-US" sz="2200" dirty="0"/>
          </a:p>
        </p:txBody>
      </p:sp>
      <p:sp>
        <p:nvSpPr>
          <p:cNvPr id="7" name="Text 5"/>
          <p:cNvSpPr/>
          <p:nvPr/>
        </p:nvSpPr>
        <p:spPr>
          <a:xfrm>
            <a:off x="812800" y="4946749"/>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English leads on the left. Arabic follows, aligned right.</a:t>
            </a:r>
            <a:endParaRPr lang="en-US" sz="1200" dirty="0"/>
          </a:p>
        </p:txBody>
      </p:sp>
      <p:sp>
        <p:nvSpPr>
          <p:cNvPr id="8" name="Shape 6"/>
          <p:cNvSpPr/>
          <p:nvPr/>
        </p:nvSpPr>
        <p:spPr>
          <a:xfrm>
            <a:off x="6197600" y="1229320"/>
            <a:ext cx="5181600" cy="3615829"/>
          </a:xfrm>
          <a:prstGeom prst="rect">
            <a:avLst/>
          </a:prstGeom>
          <a:solidFill>
            <a:srgbClr val="BCACA7"/>
          </a:solidFill>
          <a:ln/>
        </p:spPr>
        <p:txBody>
          <a:bodyPr/>
          <a:p/>
        </p:txBody>
      </p:sp>
      <p:sp>
        <p:nvSpPr>
          <p:cNvPr id="9" name="Text 7"/>
          <p:cNvSpPr/>
          <p:nvPr/>
        </p:nvSpPr>
        <p:spPr>
          <a:xfrm>
            <a:off x="6365240" y="1534120"/>
            <a:ext cx="470916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Noto Sans Arabic" pitchFamily="34" charset="0"/>
                <a:ea typeface="Noto Sans Arabic" pitchFamily="34" charset="-122"/>
                <a:cs typeface="Noto Sans Arabic" pitchFamily="34" charset="-120"/>
              </a:rPr>
              <a:t>الأولوية للعربية</a:t>
            </a:r>
            <a:endParaRPr lang="en-US" sz="1200" dirty="0"/>
          </a:p>
        </p:txBody>
      </p:sp>
      <p:sp>
        <p:nvSpPr>
          <p:cNvPr id="10" name="Text 8"/>
          <p:cNvSpPr/>
          <p:nvPr/>
        </p:nvSpPr>
        <p:spPr>
          <a:xfrm>
            <a:off x="6365240" y="3514229"/>
            <a:ext cx="4709160" cy="594320"/>
          </a:xfrm>
          <a:prstGeom prst="rect">
            <a:avLst/>
          </a:prstGeom>
          <a:noFill/>
          <a:ln/>
        </p:spPr>
        <p:txBody>
          <a:bodyPr wrap="square" lIns="0" tIns="0" rIns="0" bIns="0" rtlCol="0" anchor="t">
            <a:normAutofit/>
          </a:bodyPr>
          <a:lstStyle/>
          <a:p>
            <a:pPr algn="r" indent="0" marL="0">
              <a:lnSpc>
                <a:spcPts val="4480"/>
              </a:lnSpc>
              <a:buNone/>
            </a:pPr>
            <a:r>
              <a:rPr lang="en-US" sz="3200" dirty="0">
                <a:solidFill>
                  <a:srgbClr val="12171D"/>
                </a:solidFill>
                <a:latin typeface="Noto Sans Arabic" pitchFamily="34" charset="0"/>
                <a:ea typeface="Noto Sans Arabic" pitchFamily="34" charset="-122"/>
                <a:cs typeface="Noto Sans Arabic" pitchFamily="34" charset="-120"/>
              </a:rPr>
              <a:t>أهلاً بكم</a:t>
            </a:r>
            <a:endParaRPr lang="en-US" sz="3200" dirty="0"/>
          </a:p>
        </p:txBody>
      </p:sp>
      <p:sp>
        <p:nvSpPr>
          <p:cNvPr id="11" name="Text 9"/>
          <p:cNvSpPr/>
          <p:nvPr/>
        </p:nvSpPr>
        <p:spPr>
          <a:xfrm>
            <a:off x="6502400" y="4184749"/>
            <a:ext cx="4709160"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12171D"/>
                </a:solidFill>
                <a:latin typeface="Jost" pitchFamily="34" charset="0"/>
                <a:ea typeface="Jost" pitchFamily="34" charset="-122"/>
                <a:cs typeface="Jost" pitchFamily="34" charset="-120"/>
              </a:rPr>
              <a:t>WELCOME</a:t>
            </a:r>
            <a:endParaRPr lang="en-US" sz="2000" dirty="0"/>
          </a:p>
        </p:txBody>
      </p:sp>
      <p:sp>
        <p:nvSpPr>
          <p:cNvPr id="12" name="Text 10"/>
          <p:cNvSpPr/>
          <p:nvPr/>
        </p:nvSpPr>
        <p:spPr>
          <a:xfrm>
            <a:off x="6197600" y="4946749"/>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Arabic-first for Saudi and GCC. Arabic leads, anchored right.</a:t>
            </a:r>
            <a:endParaRPr lang="en-US" sz="1200" dirty="0"/>
          </a:p>
        </p:txBody>
      </p:sp>
      <p:sp>
        <p:nvSpPr>
          <p:cNvPr id="13" name="Text 11"/>
          <p:cNvSpPr/>
          <p:nvPr/>
        </p:nvSpPr>
        <p:spPr>
          <a:xfrm>
            <a:off x="812800" y="5363270"/>
            <a:ext cx="10883392" cy="6858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Both languages share one grid, one baseline rhythm and equal care. Neither is a footnote to the other. For Saudi/GCC bilingual wayfinding Arabic leads by default (S07, slide 65). Working strings only; not approved copy.</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ARABIC · MIXED LANGUAGE, NUMERALS AND CODES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Technical codes stay Latin, even inside Arabic.</a:t>
            </a:r>
            <a:endParaRPr lang="en-US" sz="3200" dirty="0"/>
          </a:p>
        </p:txBody>
      </p:sp>
      <p:sp>
        <p:nvSpPr>
          <p:cNvPr id="4" name="Shape 2"/>
          <p:cNvSpPr/>
          <p:nvPr/>
        </p:nvSpPr>
        <p:spPr>
          <a:xfrm>
            <a:off x="812800" y="1936700"/>
            <a:ext cx="3352800" cy="0"/>
          </a:xfrm>
          <a:prstGeom prst="line">
            <a:avLst/>
          </a:prstGeom>
          <a:noFill/>
          <a:ln w="12700">
            <a:solidFill>
              <a:srgbClr val="12171D"/>
            </a:solidFill>
            <a:prstDash val="solid"/>
          </a:ln>
        </p:spPr>
        <p:txBody>
          <a:bodyPr/>
          <a:p/>
        </p:txBody>
      </p:sp>
      <p:sp>
        <p:nvSpPr>
          <p:cNvPr id="5" name="Text 3"/>
          <p:cNvSpPr/>
          <p:nvPr/>
        </p:nvSpPr>
        <p:spPr>
          <a:xfrm>
            <a:off x="8128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GUEST-FACING NUMBER</a:t>
            </a:r>
            <a:endParaRPr lang="en-US" sz="1200" dirty="0"/>
          </a:p>
        </p:txBody>
      </p:sp>
      <p:sp>
        <p:nvSpPr>
          <p:cNvPr id="6" name="Text 4"/>
          <p:cNvSpPr/>
          <p:nvPr/>
        </p:nvSpPr>
        <p:spPr>
          <a:xfrm>
            <a:off x="712216" y="2461171"/>
            <a:ext cx="3453384" cy="523230"/>
          </a:xfrm>
          <a:prstGeom prst="rect">
            <a:avLst/>
          </a:prstGeom>
          <a:noFill/>
          <a:ln/>
        </p:spPr>
        <p:txBody>
          <a:bodyPr wrap="square" lIns="0" tIns="0" rIns="0" bIns="0" rtlCol="0" anchor="t">
            <a:normAutofit/>
          </a:bodyPr>
          <a:lstStyle/>
          <a:p>
            <a:pPr algn="r" indent="0" marL="0">
              <a:lnSpc>
                <a:spcPts val="3920"/>
              </a:lnSpc>
              <a:buNone/>
            </a:pPr>
            <a:r>
              <a:rPr lang="en-US" sz="2800" dirty="0">
                <a:solidFill>
                  <a:srgbClr val="12171D"/>
                </a:solidFill>
                <a:latin typeface="Noto Sans Arabic" pitchFamily="34" charset="0"/>
                <a:ea typeface="Noto Sans Arabic" pitchFamily="34" charset="-122"/>
                <a:cs typeface="Noto Sans Arabic" pitchFamily="34" charset="-120"/>
              </a:rPr>
              <a:t>غرفة 412</a:t>
            </a:r>
            <a:endParaRPr lang="en-US" sz="2800" dirty="0"/>
          </a:p>
        </p:txBody>
      </p:sp>
      <p:sp>
        <p:nvSpPr>
          <p:cNvPr id="7" name="Text 5"/>
          <p:cNvSpPr/>
          <p:nvPr/>
        </p:nvSpPr>
        <p:spPr>
          <a:xfrm>
            <a:off x="812800" y="3086001"/>
            <a:ext cx="345338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Arabic-Indic digits may be used where approved for the locale or property. Latin shown here until policy is signed off.</a:t>
            </a:r>
            <a:endParaRPr lang="en-US" sz="1300" dirty="0"/>
          </a:p>
        </p:txBody>
      </p:sp>
      <p:sp>
        <p:nvSpPr>
          <p:cNvPr id="8" name="Shape 6"/>
          <p:cNvSpPr/>
          <p:nvPr/>
        </p:nvSpPr>
        <p:spPr>
          <a:xfrm>
            <a:off x="4419600" y="1936700"/>
            <a:ext cx="3352800" cy="0"/>
          </a:xfrm>
          <a:prstGeom prst="line">
            <a:avLst/>
          </a:prstGeom>
          <a:noFill/>
          <a:ln w="12700">
            <a:solidFill>
              <a:srgbClr val="12171D"/>
            </a:solidFill>
            <a:prstDash val="solid"/>
          </a:ln>
        </p:spPr>
        <p:txBody>
          <a:bodyPr/>
          <a:p/>
        </p:txBody>
      </p:sp>
      <p:sp>
        <p:nvSpPr>
          <p:cNvPr id="9" name="Text 7"/>
          <p:cNvSpPr/>
          <p:nvPr/>
        </p:nvSpPr>
        <p:spPr>
          <a:xfrm>
            <a:off x="44196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TECHNICAL IDENTIFIER</a:t>
            </a:r>
            <a:endParaRPr lang="en-US" sz="1200" dirty="0"/>
          </a:p>
        </p:txBody>
      </p:sp>
      <p:sp>
        <p:nvSpPr>
          <p:cNvPr id="10" name="Text 8"/>
          <p:cNvSpPr/>
          <p:nvPr/>
        </p:nvSpPr>
        <p:spPr>
          <a:xfrm>
            <a:off x="4319016" y="2461171"/>
            <a:ext cx="3453384" cy="452090"/>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12171D"/>
                </a:solidFill>
                <a:latin typeface="Noto Sans Arabic" pitchFamily="34" charset="0"/>
                <a:ea typeface="Noto Sans Arabic" pitchFamily="34" charset="-122"/>
                <a:cs typeface="Noto Sans Arabic" pitchFamily="34" charset="-120"/>
              </a:rPr>
              <a:t>رقم الحجز GEM-0000</a:t>
            </a:r>
            <a:endParaRPr lang="en-US" sz="2400" dirty="0"/>
          </a:p>
        </p:txBody>
      </p:sp>
      <p:sp>
        <p:nvSpPr>
          <p:cNvPr id="11" name="Text 9"/>
          <p:cNvSpPr/>
          <p:nvPr/>
        </p:nvSpPr>
        <p:spPr>
          <a:xfrm>
            <a:off x="4419600" y="3014861"/>
            <a:ext cx="3453384"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Booking IDs, SKUs, URLs, phone numbers, batch and system codes are always Latin digits, left to right. GEM-0000 is a placeholder.</a:t>
            </a:r>
            <a:endParaRPr lang="en-US" sz="1300" dirty="0"/>
          </a:p>
        </p:txBody>
      </p:sp>
      <p:sp>
        <p:nvSpPr>
          <p:cNvPr id="12" name="Shape 10"/>
          <p:cNvSpPr/>
          <p:nvPr/>
        </p:nvSpPr>
        <p:spPr>
          <a:xfrm>
            <a:off x="8026400" y="1936700"/>
            <a:ext cx="3352800" cy="0"/>
          </a:xfrm>
          <a:prstGeom prst="line">
            <a:avLst/>
          </a:prstGeom>
          <a:noFill/>
          <a:ln w="12700">
            <a:solidFill>
              <a:srgbClr val="12171D"/>
            </a:solidFill>
            <a:prstDash val="solid"/>
          </a:ln>
        </p:spPr>
        <p:txBody>
          <a:bodyPr/>
          <a:p/>
        </p:txBody>
      </p:sp>
      <p:sp>
        <p:nvSpPr>
          <p:cNvPr id="13" name="Text 11"/>
          <p:cNvSpPr/>
          <p:nvPr/>
        </p:nvSpPr>
        <p:spPr>
          <a:xfrm>
            <a:off x="80264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14" name="Text 12"/>
          <p:cNvSpPr/>
          <p:nvPr/>
        </p:nvSpPr>
        <p:spPr>
          <a:xfrm>
            <a:off x="8026400" y="2461171"/>
            <a:ext cx="3453384" cy="131425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Do not mix numeral systems arbitrarily within one content role. One page may carry Arabic-Indic digits in guest-facing Arabic and Latin digits in technical identifiers, because the roles differ.</a:t>
            </a:r>
            <a:endParaRPr lang="en-US" sz="1400" dirty="0"/>
          </a:p>
        </p:txBody>
      </p:sp>
      <p:sp>
        <p:nvSpPr>
          <p:cNvPr id="15" name="Text 13"/>
          <p:cNvSpPr/>
          <p:nvPr/>
        </p:nvSpPr>
        <p:spPr>
          <a:xfrm>
            <a:off x="8026400" y="3877022"/>
            <a:ext cx="345338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 Arabic locale policy is not yet signed off. Strings are working placeholders, PENDING LOCALIZATION APPROVAL.</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GRID AND COMPOSITION</a:t>
            </a:r>
            <a:endParaRPr lang="en-US" sz="1200" dirty="0"/>
          </a:p>
        </p:txBody>
      </p:sp>
      <p:sp>
        <p:nvSpPr>
          <p:cNvPr id="3" name="Text 1"/>
          <p:cNvSpPr/>
          <p:nvPr>
            <p:ph type="title"/>
          </p:nvPr>
        </p:nvSpPr>
        <p:spPr>
          <a:xfrm>
            <a:off x="812800" y="1203920"/>
            <a:ext cx="4578350" cy="103118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Balance, held off-centre.</a:t>
            </a:r>
            <a:endParaRPr lang="en-US" sz="3600" dirty="0"/>
          </a:p>
        </p:txBody>
      </p:sp>
      <p:sp>
        <p:nvSpPr>
          <p:cNvPr id="4" name="Text 2"/>
          <p:cNvSpPr/>
          <p:nvPr/>
        </p:nvSpPr>
        <p:spPr>
          <a:xfrm>
            <a:off x="812800" y="5041900"/>
            <a:ext cx="457835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One strong element, one generous field. Align to a few clear edges. Let the empty side do as much work as the full one.</a:t>
            </a:r>
            <a:endParaRPr lang="en-US" sz="1400" dirty="0"/>
          </a:p>
        </p:txBody>
      </p:sp>
      <p:sp>
        <p:nvSpPr>
          <p:cNvPr id="5" name="Shape 3"/>
          <p:cNvSpPr/>
          <p:nvPr/>
        </p:nvSpPr>
        <p:spPr>
          <a:xfrm>
            <a:off x="5873750" y="819150"/>
            <a:ext cx="5499100" cy="5016500"/>
          </a:xfrm>
          <a:prstGeom prst="rect">
            <a:avLst/>
          </a:prstGeom>
          <a:noFill/>
          <a:ln w="12700">
            <a:solidFill>
              <a:srgbClr val="12171D"/>
            </a:solidFill>
            <a:prstDash val="solid"/>
          </a:ln>
        </p:spPr>
        <p:txBody>
          <a:bodyPr/>
          <a:p/>
        </p:txBody>
      </p:sp>
      <p:pic>
        <p:nvPicPr>
          <p:cNvPr id="6" name="Image 0" descr="Composition schematic: margin, edge, crop and open field. Not a template." title="Composition schematic: margin, edge, crop and open field. No">    </p:cNvPr>
          <p:cNvPicPr>
            <a:picLocks noChangeAspect="1"/>
          </p:cNvPicPr>
          <p:nvPr/>
        </p:nvPicPr>
        <p:blipFill>
          <a:blip r:embed="rId1"/>
          <a:srcRect l="0" r="0" t="0" b="0"/>
          <a:stretch/>
        </p:blipFill>
        <p:spPr>
          <a:xfrm>
            <a:off x="5867400" y="812800"/>
            <a:ext cx="5715000" cy="4826000"/>
          </a:xfrm>
          <a:prstGeom prst="rect">
            <a:avLst/>
          </a:prstGeom>
        </p:spPr>
      </p:pic>
      <p:sp>
        <p:nvSpPr>
          <p:cNvPr id="7" name="Text 4"/>
          <p:cNvSpPr/>
          <p:nvPr/>
        </p:nvSpPr>
        <p:spPr>
          <a:xfrm>
            <a:off x="6172200" y="4876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Margin · edge · crop · open field</a:t>
            </a:r>
            <a:endParaRPr lang="en-US" sz="12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COMPOSITION</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2171D"/>
        </a:solidFill>
      </p:bgPr>
    </p:bg>
    <p:spTree>
      <p:nvGrpSpPr>
        <p:cNvPr id="1" name=""/>
        <p:cNvGrpSpPr/>
        <p:nvPr/>
      </p:nvGrpSpPr>
      <p:grpSpPr>
        <a:xfrm>
          <a:off x="0" y="0"/>
          <a:ext cx="0" cy="0"/>
          <a:chOff x="0" y="0"/>
          <a:chExt cx="0" cy="0"/>
        </a:xfrm>
      </p:grpSpPr>
      <p:pic>
        <p:nvPicPr>
          <p:cNvPr id="2" name="Image 0" descr="Oversized ring cropped by the right edge of a dark field, demonstrating scale and tension." title="Oversized ring cropped by the right edge of a dark field, d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COMPOSITION · SCALE AND TENSION</a:t>
            </a:r>
            <a:endParaRPr lang="en-US" sz="1200" dirty="0"/>
          </a:p>
        </p:txBody>
      </p:sp>
      <p:sp>
        <p:nvSpPr>
          <p:cNvPr id="4" name="Text 1"/>
          <p:cNvSpPr/>
          <p:nvPr>
            <p:ph type="title"/>
          </p:nvPr>
        </p:nvSpPr>
        <p:spPr>
          <a:xfrm>
            <a:off x="812800" y="2413000"/>
            <a:ext cx="3566160" cy="2036961"/>
          </a:xfrm>
          <a:prstGeom prst="rect">
            <a:avLst/>
          </a:prstGeom>
          <a:noFill/>
          <a:ln/>
        </p:spPr>
        <p:txBody>
          <a:bodyPr wrap="square" lIns="0" tIns="0" rIns="0" bIns="0" rtlCol="0" anchor="t">
            <a:normAutofit/>
          </a:bodyPr>
          <a:lstStyle/>
          <a:p>
            <a:pPr algn="l" indent="0" marL="0">
              <a:lnSpc>
                <a:spcPts val="3960"/>
              </a:lnSpc>
              <a:buNone/>
            </a:pPr>
            <a:r>
              <a:rPr lang="en-US" sz="3600" b="0" i="0" spc="145" kern="0" dirty="0">
                <a:solidFill>
                  <a:srgbClr val="FFFFFF"/>
                </a:solidFill>
                <a:latin typeface="Jost" pitchFamily="34" charset="0"/>
                <a:ea typeface="Jost" pitchFamily="34" charset="-122"/>
                <a:cs typeface="Jost" pitchFamily="34" charset="-120"/>
              </a:rPr>
              <a:t>OVERSIZED GEOMETRY, CROPPED WITH INTENT</a:t>
            </a:r>
            <a:endParaRPr lang="en-US" sz="3600" dirty="0"/>
          </a:p>
        </p:txBody>
      </p:sp>
      <p:sp>
        <p:nvSpPr>
          <p:cNvPr id="5" name="Text 2"/>
          <p:cNvSpPr/>
          <p:nvPr/>
        </p:nvSpPr>
        <p:spPr>
          <a:xfrm>
            <a:off x="812800" y="4445000"/>
            <a:ext cx="3566160" cy="914400"/>
          </a:xfrm>
          <a:prstGeom prst="rect">
            <a:avLst/>
          </a:prstGeom>
          <a:noFill/>
          <a:ln/>
        </p:spPr>
        <p:txBody>
          <a:bodyPr wrap="square" lIns="0" tIns="0" rIns="0" bIns="0" rtlCol="0" anchor="t"/>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Let a form leave the frame. A crop creates tension; the text keeps still. A form never intersects a headline or running text.</a:t>
            </a:r>
            <a:endParaRPr lang="en-US" sz="14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COMPOSITION</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GRAPHIC LANGUAGE · FOUR FORMS</a:t>
            </a:r>
            <a:endParaRPr lang="en-US" sz="1200" dirty="0"/>
          </a:p>
        </p:txBody>
      </p:sp>
      <p:sp>
        <p:nvSpPr>
          <p:cNvPr id="3" name="Shape 1"/>
          <p:cNvSpPr/>
          <p:nvPr/>
        </p:nvSpPr>
        <p:spPr>
          <a:xfrm>
            <a:off x="819150" y="1286470"/>
            <a:ext cx="2514600" cy="4549180"/>
          </a:xfrm>
          <a:prstGeom prst="rect">
            <a:avLst/>
          </a:prstGeom>
          <a:noFill/>
          <a:ln w="12700">
            <a:solidFill>
              <a:srgbClr val="BCACA7"/>
            </a:solidFill>
            <a:prstDash val="solid"/>
          </a:ln>
        </p:spPr>
        <p:txBody>
          <a:bodyPr/>
          <a:p/>
        </p:txBody>
      </p:sp>
      <p:pic>
        <p:nvPicPr>
          <p:cNvPr id="4" name="Image 0" descr="Illustrative ring drawing." title="Illustrative ring drawing.">    </p:cNvPr>
          <p:cNvPicPr>
            <a:picLocks noChangeAspect="1"/>
          </p:cNvPicPr>
          <p:nvPr/>
        </p:nvPicPr>
        <p:blipFill>
          <a:blip r:embed="rId1"/>
          <a:srcRect l="0" r="0" t="0" b="0"/>
          <a:stretch/>
        </p:blipFill>
        <p:spPr>
          <a:xfrm>
            <a:off x="1028700" y="1496020"/>
            <a:ext cx="1905000" cy="1905000"/>
          </a:xfrm>
          <a:prstGeom prst="rect">
            <a:avLst/>
          </a:prstGeom>
        </p:spPr>
      </p:pic>
      <p:sp>
        <p:nvSpPr>
          <p:cNvPr id="5" name="Text 2"/>
          <p:cNvSpPr/>
          <p:nvPr/>
        </p:nvSpPr>
        <p:spPr>
          <a:xfrm>
            <a:off x="10287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RING</a:t>
            </a:r>
            <a:endParaRPr lang="en-US" sz="2200" dirty="0"/>
          </a:p>
        </p:txBody>
      </p:sp>
      <p:sp>
        <p:nvSpPr>
          <p:cNvPr id="6" name="Text 3"/>
          <p:cNvSpPr/>
          <p:nvPr/>
        </p:nvSpPr>
        <p:spPr>
          <a:xfrm>
            <a:off x="10287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Completeness. The frame of the G.</a:t>
            </a:r>
            <a:endParaRPr lang="en-US" sz="1200" dirty="0"/>
          </a:p>
        </p:txBody>
      </p:sp>
      <p:sp>
        <p:nvSpPr>
          <p:cNvPr id="7" name="Shape 4"/>
          <p:cNvSpPr/>
          <p:nvPr/>
        </p:nvSpPr>
        <p:spPr>
          <a:xfrm>
            <a:off x="3498850" y="1286470"/>
            <a:ext cx="2514600" cy="4549180"/>
          </a:xfrm>
          <a:prstGeom prst="rect">
            <a:avLst/>
          </a:prstGeom>
          <a:noFill/>
          <a:ln w="12700">
            <a:solidFill>
              <a:srgbClr val="BCACA7"/>
            </a:solidFill>
            <a:prstDash val="solid"/>
          </a:ln>
        </p:spPr>
        <p:txBody>
          <a:bodyPr/>
          <a:p/>
        </p:txBody>
      </p:sp>
      <p:pic>
        <p:nvPicPr>
          <p:cNvPr id="8" name="Image 1" descr="Illustrative arc drawing." title="Illustrative arc drawing.">    </p:cNvPr>
          <p:cNvPicPr>
            <a:picLocks noChangeAspect="1"/>
          </p:cNvPicPr>
          <p:nvPr/>
        </p:nvPicPr>
        <p:blipFill>
          <a:blip r:embed="rId2"/>
          <a:srcRect l="0" r="0" t="0" b="0"/>
          <a:stretch/>
        </p:blipFill>
        <p:spPr>
          <a:xfrm>
            <a:off x="3708400" y="1496020"/>
            <a:ext cx="1905000" cy="1905000"/>
          </a:xfrm>
          <a:prstGeom prst="rect">
            <a:avLst/>
          </a:prstGeom>
        </p:spPr>
      </p:pic>
      <p:sp>
        <p:nvSpPr>
          <p:cNvPr id="9" name="Text 5"/>
          <p:cNvSpPr/>
          <p:nvPr/>
        </p:nvSpPr>
        <p:spPr>
          <a:xfrm>
            <a:off x="37084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ARC</a:t>
            </a:r>
            <a:endParaRPr lang="en-US" sz="2200" dirty="0"/>
          </a:p>
        </p:txBody>
      </p:sp>
      <p:sp>
        <p:nvSpPr>
          <p:cNvPr id="10" name="Text 6"/>
          <p:cNvSpPr/>
          <p:nvPr/>
        </p:nvSpPr>
        <p:spPr>
          <a:xfrm>
            <a:off x="37084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The opening. Welcome, passage.</a:t>
            </a:r>
            <a:endParaRPr lang="en-US" sz="1200" dirty="0"/>
          </a:p>
        </p:txBody>
      </p:sp>
      <p:sp>
        <p:nvSpPr>
          <p:cNvPr id="11" name="Shape 7"/>
          <p:cNvSpPr/>
          <p:nvPr/>
        </p:nvSpPr>
        <p:spPr>
          <a:xfrm>
            <a:off x="6178550" y="1286470"/>
            <a:ext cx="2514600" cy="4549180"/>
          </a:xfrm>
          <a:prstGeom prst="rect">
            <a:avLst/>
          </a:prstGeom>
          <a:noFill/>
          <a:ln w="12700">
            <a:solidFill>
              <a:srgbClr val="BCACA7"/>
            </a:solidFill>
            <a:prstDash val="solid"/>
          </a:ln>
        </p:spPr>
        <p:txBody>
          <a:bodyPr/>
          <a:p/>
        </p:txBody>
      </p:sp>
      <p:pic>
        <p:nvPicPr>
          <p:cNvPr id="12" name="Image 2" descr="Illustrative quarter drawing." title="Illustrative quarter drawing.">    </p:cNvPr>
          <p:cNvPicPr>
            <a:picLocks noChangeAspect="1"/>
          </p:cNvPicPr>
          <p:nvPr/>
        </p:nvPicPr>
        <p:blipFill>
          <a:blip r:embed="rId3"/>
          <a:srcRect l="0" r="0" t="0" b="0"/>
          <a:stretch/>
        </p:blipFill>
        <p:spPr>
          <a:xfrm>
            <a:off x="6388100" y="1496020"/>
            <a:ext cx="1905000" cy="1905000"/>
          </a:xfrm>
          <a:prstGeom prst="rect">
            <a:avLst/>
          </a:prstGeom>
        </p:spPr>
      </p:pic>
      <p:sp>
        <p:nvSpPr>
          <p:cNvPr id="13" name="Text 8"/>
          <p:cNvSpPr/>
          <p:nvPr/>
        </p:nvSpPr>
        <p:spPr>
          <a:xfrm>
            <a:off x="6388100" y="497845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QUARTER</a:t>
            </a:r>
            <a:endParaRPr lang="en-US" sz="2200" dirty="0"/>
          </a:p>
        </p:txBody>
      </p:sp>
      <p:sp>
        <p:nvSpPr>
          <p:cNvPr id="14" name="Text 9"/>
          <p:cNvSpPr/>
          <p:nvPr/>
        </p:nvSpPr>
        <p:spPr>
          <a:xfrm>
            <a:off x="6388100" y="5420370"/>
            <a:ext cx="215836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Mass. Weight and anchor.</a:t>
            </a:r>
            <a:endParaRPr lang="en-US" sz="1200" dirty="0"/>
          </a:p>
        </p:txBody>
      </p:sp>
      <p:sp>
        <p:nvSpPr>
          <p:cNvPr id="15" name="Shape 10"/>
          <p:cNvSpPr/>
          <p:nvPr/>
        </p:nvSpPr>
        <p:spPr>
          <a:xfrm>
            <a:off x="8858250" y="1286470"/>
            <a:ext cx="2514600" cy="4549180"/>
          </a:xfrm>
          <a:prstGeom prst="rect">
            <a:avLst/>
          </a:prstGeom>
          <a:noFill/>
          <a:ln w="12700">
            <a:solidFill>
              <a:srgbClr val="BCACA7"/>
            </a:solidFill>
            <a:prstDash val="solid"/>
          </a:ln>
        </p:spPr>
        <p:txBody>
          <a:bodyPr/>
          <a:p/>
        </p:txBody>
      </p:sp>
      <p:pic>
        <p:nvPicPr>
          <p:cNvPr id="16" name="Image 3" descr="Illustrative four-point spark drawing." title="Illustrative four-point spark drawing.">    </p:cNvPr>
          <p:cNvPicPr>
            <a:picLocks noChangeAspect="1"/>
          </p:cNvPicPr>
          <p:nvPr/>
        </p:nvPicPr>
        <p:blipFill>
          <a:blip r:embed="rId4"/>
          <a:srcRect l="0" r="0" t="0" b="0"/>
          <a:stretch/>
        </p:blipFill>
        <p:spPr>
          <a:xfrm>
            <a:off x="9067800" y="1496020"/>
            <a:ext cx="1905000" cy="1905000"/>
          </a:xfrm>
          <a:prstGeom prst="rect">
            <a:avLst/>
          </a:prstGeom>
        </p:spPr>
      </p:pic>
      <p:sp>
        <p:nvSpPr>
          <p:cNvPr id="17" name="Text 11"/>
          <p:cNvSpPr/>
          <p:nvPr/>
        </p:nvSpPr>
        <p:spPr>
          <a:xfrm>
            <a:off x="90678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SPARK</a:t>
            </a:r>
            <a:endParaRPr lang="en-US" sz="2200" dirty="0"/>
          </a:p>
        </p:txBody>
      </p:sp>
      <p:sp>
        <p:nvSpPr>
          <p:cNvPr id="18" name="Text 12"/>
          <p:cNvSpPr/>
          <p:nvPr/>
        </p:nvSpPr>
        <p:spPr>
          <a:xfrm>
            <a:off x="90678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The single detail that is noticed.</a:t>
            </a:r>
            <a:endParaRPr lang="en-US" sz="1200" dirty="0"/>
          </a:p>
        </p:txBody>
      </p:sp>
      <p:sp>
        <p:nvSpPr>
          <p:cNvPr id="19" name="Text 13"/>
          <p:cNvSpPr/>
          <p:nvPr/>
        </p:nvSpPr>
        <p:spPr>
          <a:xfrm>
            <a:off x="812800" y="6024959"/>
            <a:ext cx="6540500" cy="452041"/>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GRAPHIC LANGUAGE</a:t>
            </a:r>
            <a:endParaRPr lang="en-US" sz="1200" dirty="0"/>
          </a:p>
        </p:txBody>
      </p:sp>
      <p:sp>
        <p:nvSpPr>
          <p:cNvPr id="20"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GRAPHIC LANGUAGE · SCALE, CROP, COLOUR, PLACEMENT</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Forms are large, quiet and clear of the words.</a:t>
            </a:r>
            <a:endParaRPr lang="en-US" sz="3200" dirty="0"/>
          </a:p>
        </p:txBody>
      </p:sp>
      <p:sp>
        <p:nvSpPr>
          <p:cNvPr id="4" name="Shape 2"/>
          <p:cNvSpPr/>
          <p:nvPr/>
        </p:nvSpPr>
        <p:spPr>
          <a:xfrm>
            <a:off x="812800" y="1930350"/>
            <a:ext cx="4826000" cy="3911650"/>
          </a:xfrm>
          <a:prstGeom prst="rect">
            <a:avLst/>
          </a:prstGeom>
          <a:solidFill>
            <a:srgbClr val="12171D"/>
          </a:solidFill>
          <a:ln/>
        </p:spPr>
        <p:txBody>
          <a:bodyPr/>
          <a:p/>
        </p:txBody>
      </p:sp>
      <p:pic>
        <p:nvPicPr>
          <p:cNvPr id="5" name="Image 0" descr="Diagram of outline forms placed large in the open field, off the logo clearspace." title="Diagram of outline forms placed large in the open field, off">    </p:cNvPr>
          <p:cNvPicPr>
            <a:picLocks noChangeAspect="1"/>
          </p:cNvPicPr>
          <p:nvPr/>
        </p:nvPicPr>
        <p:blipFill>
          <a:blip r:embed="rId1"/>
          <a:srcRect l="0" r="0" t="0" b="0"/>
          <a:stretch/>
        </p:blipFill>
        <p:spPr>
          <a:xfrm>
            <a:off x="812800" y="1930350"/>
            <a:ext cx="4826000" cy="3556000"/>
          </a:xfrm>
          <a:prstGeom prst="rect">
            <a:avLst/>
          </a:prstGeom>
        </p:spPr>
      </p:pic>
      <p:sp>
        <p:nvSpPr>
          <p:cNvPr id="6" name="Shape 3"/>
          <p:cNvSpPr/>
          <p:nvPr/>
        </p:nvSpPr>
        <p:spPr>
          <a:xfrm>
            <a:off x="5994400" y="1933525"/>
            <a:ext cx="5384800" cy="0"/>
          </a:xfrm>
          <a:prstGeom prst="line">
            <a:avLst/>
          </a:prstGeom>
          <a:noFill/>
          <a:ln w="6350">
            <a:solidFill>
              <a:srgbClr val="BCACA7"/>
            </a:solidFill>
            <a:prstDash val="solid"/>
          </a:ln>
        </p:spPr>
        <p:txBody>
          <a:bodyPr/>
          <a:p/>
        </p:txBody>
      </p:sp>
      <p:sp>
        <p:nvSpPr>
          <p:cNvPr id="7" name="Text 4"/>
          <p:cNvSpPr/>
          <p:nvPr/>
        </p:nvSpPr>
        <p:spPr>
          <a:xfrm>
            <a:off x="5994400" y="203830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Scale. Large enough to be architecture, never small enough to be an icon.</a:t>
            </a:r>
            <a:endParaRPr lang="en-US" sz="1400" dirty="0"/>
          </a:p>
        </p:txBody>
      </p:sp>
      <p:sp>
        <p:nvSpPr>
          <p:cNvPr id="8" name="Shape 5"/>
          <p:cNvSpPr/>
          <p:nvPr/>
        </p:nvSpPr>
        <p:spPr>
          <a:xfrm>
            <a:off x="5994400" y="3118445"/>
            <a:ext cx="5384800" cy="0"/>
          </a:xfrm>
          <a:prstGeom prst="line">
            <a:avLst/>
          </a:prstGeom>
          <a:noFill/>
          <a:ln w="6350">
            <a:solidFill>
              <a:srgbClr val="BCACA7"/>
            </a:solidFill>
            <a:prstDash val="solid"/>
          </a:ln>
        </p:spPr>
        <p:txBody>
          <a:bodyPr/>
          <a:p/>
        </p:txBody>
      </p:sp>
      <p:sp>
        <p:nvSpPr>
          <p:cNvPr id="9" name="Text 6"/>
          <p:cNvSpPr/>
          <p:nvPr/>
        </p:nvSpPr>
        <p:spPr>
          <a:xfrm>
            <a:off x="5994400" y="3223220"/>
            <a:ext cx="55463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Crop. Let the frame cut the form. Never crop through text.</a:t>
            </a:r>
            <a:endParaRPr lang="en-US" sz="1400" dirty="0"/>
          </a:p>
        </p:txBody>
      </p:sp>
      <p:sp>
        <p:nvSpPr>
          <p:cNvPr id="10" name="Shape 7"/>
          <p:cNvSpPr/>
          <p:nvPr/>
        </p:nvSpPr>
        <p:spPr>
          <a:xfrm>
            <a:off x="5994400" y="4054525"/>
            <a:ext cx="5384800" cy="0"/>
          </a:xfrm>
          <a:prstGeom prst="line">
            <a:avLst/>
          </a:prstGeom>
          <a:noFill/>
          <a:ln w="6350">
            <a:solidFill>
              <a:srgbClr val="BCACA7"/>
            </a:solidFill>
            <a:prstDash val="solid"/>
          </a:ln>
        </p:spPr>
        <p:txBody>
          <a:bodyPr/>
          <a:p/>
        </p:txBody>
      </p:sp>
      <p:sp>
        <p:nvSpPr>
          <p:cNvPr id="11" name="Text 8"/>
          <p:cNvSpPr/>
          <p:nvPr/>
        </p:nvSpPr>
        <p:spPr>
          <a:xfrm>
            <a:off x="5994400" y="415930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Colour. Beige on Ink, Ink or Black on White. One colour per form.</a:t>
            </a:r>
            <a:endParaRPr lang="en-US" sz="1400" dirty="0"/>
          </a:p>
        </p:txBody>
      </p:sp>
      <p:sp>
        <p:nvSpPr>
          <p:cNvPr id="12" name="Shape 9"/>
          <p:cNvSpPr/>
          <p:nvPr/>
        </p:nvSpPr>
        <p:spPr>
          <a:xfrm>
            <a:off x="5994400" y="5239445"/>
            <a:ext cx="5384800" cy="0"/>
          </a:xfrm>
          <a:prstGeom prst="line">
            <a:avLst/>
          </a:prstGeom>
          <a:noFill/>
          <a:ln w="6350">
            <a:solidFill>
              <a:srgbClr val="BCACA7"/>
            </a:solidFill>
            <a:prstDash val="solid"/>
          </a:ln>
        </p:spPr>
        <p:txBody>
          <a:bodyPr/>
          <a:p/>
        </p:txBody>
      </p:sp>
      <p:sp>
        <p:nvSpPr>
          <p:cNvPr id="13" name="Text 10"/>
          <p:cNvSpPr/>
          <p:nvPr/>
        </p:nvSpPr>
        <p:spPr>
          <a:xfrm>
            <a:off x="5994400" y="534422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Placement. Keep off the logo's clearspace and never behind or through text. Never repeat a form as a pattern.</a:t>
            </a:r>
            <a:endParaRPr lang="en-US" sz="1400" dirty="0"/>
          </a:p>
        </p:txBody>
      </p:sp>
      <p:sp>
        <p:nvSpPr>
          <p:cNvPr id="14" name="Text 11"/>
          <p:cNvSpPr/>
          <p:nvPr/>
        </p:nvSpPr>
        <p:spPr>
          <a:xfrm>
            <a:off x="812800" y="6024959"/>
            <a:ext cx="6540500" cy="452041"/>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GRAPHIC LANGUAGE</a:t>
            </a:r>
            <a:endParaRPr lang="en-US" sz="1200" dirty="0"/>
          </a:p>
        </p:txBody>
      </p:sp>
      <p:sp>
        <p:nvSpPr>
          <p:cNvPr id="15"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2171D"/>
        </a:solidFill>
      </p:bgPr>
    </p:bg>
    <p:spTree>
      <p:nvGrpSpPr>
        <p:cNvPr id="1" name=""/>
        <p:cNvGrpSpPr/>
        <p:nvPr/>
      </p:nvGrpSpPr>
      <p:grpSpPr>
        <a:xfrm>
          <a:off x="0" y="0"/>
          <a:ext cx="0" cy="0"/>
          <a:chOff x="0" y="0"/>
          <a:chExt cx="0" cy="0"/>
        </a:xfrm>
      </p:grpSpPr>
      <p:pic>
        <p:nvPicPr>
          <p:cNvPr id="2" name="Image 0" descr="Illustrative four-point spark drawing, not the master artwork." title="Illustrative four-point spark drawing, not the master artwo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THE SPARK · SECONDARY SIGNATURE</a:t>
            </a:r>
            <a:endParaRPr lang="en-US" sz="1200" dirty="0"/>
          </a:p>
        </p:txBody>
      </p:sp>
      <p:sp>
        <p:nvSpPr>
          <p:cNvPr id="4" name="Text 1"/>
          <p:cNvSpPr/>
          <p:nvPr>
            <p:ph type="title"/>
          </p:nvPr>
        </p:nvSpPr>
        <p:spPr>
          <a:xfrm>
            <a:off x="812800" y="1905000"/>
            <a:ext cx="4970780" cy="1031180"/>
          </a:xfrm>
          <a:prstGeom prst="rect">
            <a:avLst/>
          </a:prstGeom>
          <a:noFill/>
          <a:ln/>
        </p:spPr>
        <p:txBody>
          <a:bodyPr wrap="square" lIns="0" tIns="0" rIns="0" bIns="0" rtlCol="0" anchor="t">
            <a:normAutofit/>
          </a:bodyPr>
          <a:lstStyle/>
          <a:p>
            <a:pPr algn="l" indent="0" marL="0">
              <a:lnSpc>
                <a:spcPts val="3960"/>
              </a:lnSpc>
              <a:buNone/>
            </a:pPr>
            <a:r>
              <a:rPr lang="en-US" sz="3600" b="0" i="0" spc="145" kern="0" dirty="0">
                <a:solidFill>
                  <a:srgbClr val="FFFFFF"/>
                </a:solidFill>
                <a:latin typeface="Jost" pitchFamily="34" charset="0"/>
                <a:ea typeface="Jost" pitchFamily="34" charset="-122"/>
                <a:cs typeface="Jost" pitchFamily="34" charset="-120"/>
              </a:rPr>
              <a:t>ONE PER COMPOSITION</a:t>
            </a:r>
            <a:endParaRPr lang="en-US" sz="3600" dirty="0"/>
          </a:p>
        </p:txBody>
      </p:sp>
      <p:sp>
        <p:nvSpPr>
          <p:cNvPr id="5" name="Text 2"/>
          <p:cNvSpPr/>
          <p:nvPr/>
        </p:nvSpPr>
        <p:spPr>
          <a:xfrm>
            <a:off x="812800" y="3302000"/>
            <a:ext cx="444754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The single detail that is noticed. Use it as punctuation: a key moment, a confirmation, a point of arrival.</a:t>
            </a:r>
            <a:endParaRPr lang="en-US" sz="1400" dirty="0"/>
          </a:p>
        </p:txBody>
      </p:sp>
      <p:sp>
        <p:nvSpPr>
          <p:cNvPr id="6" name="Text 3"/>
          <p:cNvSpPr/>
          <p:nvPr/>
        </p:nvSpPr>
        <p:spPr>
          <a:xfrm>
            <a:off x="812800" y="4699000"/>
            <a:ext cx="497078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FFFFF"/>
                </a:solidFill>
                <a:latin typeface="Inter" pitchFamily="34" charset="0"/>
                <a:ea typeface="Inter" pitchFamily="34" charset="-122"/>
                <a:cs typeface="Inter" pitchFamily="34" charset="-120"/>
              </a:rPr>
              <a:t>Approved: a cover, an opener, a confirmation state, one packaging detail.</a:t>
            </a:r>
            <a:endParaRPr lang="en-US" sz="1300" dirty="0"/>
          </a:p>
        </p:txBody>
      </p:sp>
      <p:sp>
        <p:nvSpPr>
          <p:cNvPr id="7" name="Text 4"/>
          <p:cNvSpPr/>
          <p:nvPr/>
        </p:nvSpPr>
        <p:spPr>
          <a:xfrm>
            <a:off x="812800" y="5397500"/>
            <a:ext cx="497078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FFFFF"/>
                </a:solidFill>
                <a:latin typeface="Inter" pitchFamily="34" charset="0"/>
                <a:ea typeface="Inter" pitchFamily="34" charset="-122"/>
                <a:cs typeface="Inter" pitchFamily="34" charset="-120"/>
              </a:rPr>
              <a:t>Never: a pattern, a bullet, a repeat, a recolour, a second spark.</a:t>
            </a:r>
            <a:endParaRPr lang="en-US" sz="13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THE SPARK</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FUNCTIONAL GLYPH LANGUAGE</a:t>
            </a:r>
            <a:endParaRPr lang="en-US" sz="1200" dirty="0"/>
          </a:p>
        </p:txBody>
      </p:sp>
      <p:sp>
        <p:nvSpPr>
          <p:cNvPr id="3" name="Text 1"/>
          <p:cNvSpPr/>
          <p:nvPr>
            <p:ph type="title"/>
          </p:nvPr>
        </p:nvSpPr>
        <p:spPr>
          <a:xfrm>
            <a:off x="812800" y="1203920"/>
            <a:ext cx="4578350"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Functional, not decorative.</a:t>
            </a:r>
            <a:endParaRPr lang="en-US" sz="3200" dirty="0"/>
          </a:p>
        </p:txBody>
      </p:sp>
      <p:sp>
        <p:nvSpPr>
          <p:cNvPr id="4" name="Text 2"/>
          <p:cNvSpPr/>
          <p:nvPr/>
        </p:nvSpPr>
        <p:spPr>
          <a:xfrm>
            <a:off x="812800" y="2275780"/>
            <a:ext cx="4578350" cy="825500"/>
          </a:xfrm>
          <a:prstGeom prst="rect">
            <a:avLst/>
          </a:prstGeom>
          <a:noFill/>
          <a:ln/>
        </p:spPr>
        <p:txBody>
          <a:bodyPr wrap="square" lIns="0" tIns="0" rIns="0" bIns="0" rtlCol="0" anchor="t"/>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Glyphs help people find, choose and understand. They are geometric, reduced and single-colour: about a 2 px optical stroke on a defined optical box, drawn from the brand's circles and arcs (N15).</a:t>
            </a:r>
            <a:endParaRPr lang="en-US" sz="1400" dirty="0"/>
          </a:p>
        </p:txBody>
      </p:sp>
      <p:sp>
        <p:nvSpPr>
          <p:cNvPr id="5" name="Text 3"/>
          <p:cNvSpPr/>
          <p:nvPr/>
        </p:nvSpPr>
        <p:spPr>
          <a:xfrm>
            <a:off x="812800" y="5363270"/>
            <a:ext cx="45783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The full set and its technical rules live in Part B. Never use a glyph as ornament.</a:t>
            </a:r>
            <a:endParaRPr lang="en-US" sz="1300" dirty="0"/>
          </a:p>
        </p:txBody>
      </p:sp>
      <p:sp>
        <p:nvSpPr>
          <p:cNvPr id="6" name="Shape 4"/>
          <p:cNvSpPr/>
          <p:nvPr/>
        </p:nvSpPr>
        <p:spPr>
          <a:xfrm>
            <a:off x="5873750" y="819150"/>
            <a:ext cx="1739900" cy="1257300"/>
          </a:xfrm>
          <a:prstGeom prst="rect">
            <a:avLst/>
          </a:prstGeom>
          <a:noFill/>
          <a:ln w="12700">
            <a:solidFill>
              <a:srgbClr val="12171D"/>
            </a:solidFill>
            <a:prstDash val="solid"/>
          </a:ln>
        </p:spPr>
        <p:txBody>
          <a:bodyPr/>
          <a:p/>
        </p:txBody>
      </p:sp>
      <p:pic>
        <p:nvPicPr>
          <p:cNvPr id="7" name="Image 0" descr="Illustrative direction glyph: arrow." title="Illustrative direction glyph: arrow.">    </p:cNvPr>
          <p:cNvPicPr>
            <a:picLocks noChangeAspect="1"/>
          </p:cNvPicPr>
          <p:nvPr/>
        </p:nvPicPr>
        <p:blipFill>
          <a:blip r:embed="rId1"/>
          <a:srcRect l="0" r="0" t="0" b="0"/>
          <a:stretch/>
        </p:blipFill>
        <p:spPr>
          <a:xfrm>
            <a:off x="6489700" y="1049040"/>
            <a:ext cx="508000" cy="508000"/>
          </a:xfrm>
          <a:prstGeom prst="rect">
            <a:avLst/>
          </a:prstGeom>
        </p:spPr>
      </p:pic>
      <p:sp>
        <p:nvSpPr>
          <p:cNvPr id="8" name="Text 5"/>
          <p:cNvSpPr/>
          <p:nvPr/>
        </p:nvSpPr>
        <p:spPr>
          <a:xfrm>
            <a:off x="6356157" y="1633240"/>
            <a:ext cx="77503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Direction</a:t>
            </a:r>
            <a:endParaRPr lang="en-US" sz="1200" dirty="0"/>
          </a:p>
        </p:txBody>
      </p:sp>
      <p:sp>
        <p:nvSpPr>
          <p:cNvPr id="9" name="Shape 6"/>
          <p:cNvSpPr/>
          <p:nvPr/>
        </p:nvSpPr>
        <p:spPr>
          <a:xfrm>
            <a:off x="7753350" y="819150"/>
            <a:ext cx="1739900" cy="1257300"/>
          </a:xfrm>
          <a:prstGeom prst="rect">
            <a:avLst/>
          </a:prstGeom>
          <a:noFill/>
          <a:ln w="12700">
            <a:solidFill>
              <a:srgbClr val="12171D"/>
            </a:solidFill>
            <a:prstDash val="solid"/>
          </a:ln>
        </p:spPr>
        <p:txBody>
          <a:bodyPr/>
          <a:p/>
        </p:txBody>
      </p:sp>
      <p:pic>
        <p:nvPicPr>
          <p:cNvPr id="10" name="Image 1" descr="Illustrative confirm glyph: check in a circle." title="Illustrative confirm glyph: check in a circle.">    </p:cNvPr>
          <p:cNvPicPr>
            <a:picLocks noChangeAspect="1"/>
          </p:cNvPicPr>
          <p:nvPr/>
        </p:nvPicPr>
        <p:blipFill>
          <a:blip r:embed="rId2"/>
          <a:srcRect l="0" r="0" t="0" b="0"/>
          <a:stretch/>
        </p:blipFill>
        <p:spPr>
          <a:xfrm>
            <a:off x="8369300" y="1049040"/>
            <a:ext cx="508000" cy="508000"/>
          </a:xfrm>
          <a:prstGeom prst="rect">
            <a:avLst/>
          </a:prstGeom>
        </p:spPr>
      </p:pic>
      <p:sp>
        <p:nvSpPr>
          <p:cNvPr id="11" name="Text 7"/>
          <p:cNvSpPr/>
          <p:nvPr/>
        </p:nvSpPr>
        <p:spPr>
          <a:xfrm>
            <a:off x="8275697" y="1633240"/>
            <a:ext cx="69520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Confirm</a:t>
            </a:r>
            <a:endParaRPr lang="en-US" sz="1200" dirty="0"/>
          </a:p>
        </p:txBody>
      </p:sp>
      <p:sp>
        <p:nvSpPr>
          <p:cNvPr id="12" name="Shape 8"/>
          <p:cNvSpPr/>
          <p:nvPr/>
        </p:nvSpPr>
        <p:spPr>
          <a:xfrm>
            <a:off x="9632950" y="819150"/>
            <a:ext cx="1739900" cy="1257300"/>
          </a:xfrm>
          <a:prstGeom prst="rect">
            <a:avLst/>
          </a:prstGeom>
          <a:noFill/>
          <a:ln w="12700">
            <a:solidFill>
              <a:srgbClr val="12171D"/>
            </a:solidFill>
            <a:prstDash val="solid"/>
          </a:ln>
        </p:spPr>
        <p:txBody>
          <a:bodyPr/>
          <a:p/>
        </p:txBody>
      </p:sp>
      <p:pic>
        <p:nvPicPr>
          <p:cNvPr id="13" name="Image 2" descr="Illustrative information glyph: i in a circle." title="Illustrative information glyph: i in a circle.">    </p:cNvPr>
          <p:cNvPicPr>
            <a:picLocks noChangeAspect="1"/>
          </p:cNvPicPr>
          <p:nvPr/>
        </p:nvPicPr>
        <p:blipFill>
          <a:blip r:embed="rId3"/>
          <a:srcRect l="0" r="0" t="0" b="0"/>
          <a:stretch/>
        </p:blipFill>
        <p:spPr>
          <a:xfrm>
            <a:off x="10248900" y="1049040"/>
            <a:ext cx="508000" cy="508000"/>
          </a:xfrm>
          <a:prstGeom prst="rect">
            <a:avLst/>
          </a:prstGeom>
        </p:spPr>
      </p:pic>
      <p:sp>
        <p:nvSpPr>
          <p:cNvPr id="14" name="Text 9"/>
          <p:cNvSpPr/>
          <p:nvPr/>
        </p:nvSpPr>
        <p:spPr>
          <a:xfrm>
            <a:off x="10010100" y="1633240"/>
            <a:ext cx="98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p>
        </p:txBody>
      </p:sp>
      <p:sp>
        <p:nvSpPr>
          <p:cNvPr id="15"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GLYPHS · REFERENCE</a:t>
            </a:r>
            <a:endParaRPr lang="en-US" sz="1200" dirty="0"/>
          </a:p>
        </p:txBody>
      </p:sp>
      <p:sp>
        <p:nvSpPr>
          <p:cNvPr id="16"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04</a:t>
            </a:r>
            <a:endParaRPr lang="en-US" sz="1400" dirty="0"/>
          </a:p>
        </p:txBody>
      </p:sp>
      <p:sp>
        <p:nvSpPr>
          <p:cNvPr id="4" name="Text 1"/>
          <p:cNvSpPr/>
          <p:nvPr>
            <p:ph type="title"/>
          </p:nvPr>
        </p:nvSpPr>
        <p:spPr>
          <a:xfrm>
            <a:off x="812800" y="2540000"/>
            <a:ext cx="7848600" cy="194558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IMAGE &amp; MOTION</a:t>
            </a:r>
            <a:endParaRPr lang="en-US" sz="7200" dirty="0"/>
          </a:p>
        </p:txBody>
      </p:sp>
      <p:sp>
        <p:nvSpPr>
          <p:cNvPr id="5" name="Text 2"/>
          <p:cNvSpPr/>
          <p:nvPr/>
        </p:nvSpPr>
        <p:spPr>
          <a:xfrm>
            <a:off x="812800" y="3810000"/>
            <a:ext cx="4480560" cy="6858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Light, material and the single gesture that moves.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2171D"/>
        </a:solidFill>
      </p:bgPr>
    </p:bg>
    <p:spTree>
      <p:nvGrpSpPr>
        <p:cNvPr id="1" name=""/>
        <p:cNvGrpSpPr/>
        <p:nvPr/>
      </p:nvGrpSpPr>
      <p:grpSpPr>
        <a:xfrm>
          <a:off x="0" y="0"/>
          <a:ext cx="0" cy="0"/>
          <a:chOff x="0" y="0"/>
          <a:chExt cx="0" cy="0"/>
        </a:xfrm>
      </p:grpSpPr>
      <p:pic>
        <p:nvPicPr>
          <p:cNvPr id="2" name="Image 0" descr="Rendered reference study: pressed ring in warm single-source light. Concept, not production photography." title="Rendered reference study: pressed ring in warm single-source">    </p:cNvPr>
          <p:cNvPicPr>
            <a:picLocks noChangeAspect="1"/>
          </p:cNvPicPr>
          <p:nvPr/>
        </p:nvPicPr>
        <p:blipFill>
          <a:blip r:embed="rId1"/>
          <a:srcRect l="18171" r="18171" t="0" b="0"/>
          <a:stretch/>
        </p:blipFill>
        <p:spPr>
          <a:xfrm>
            <a:off x="0" y="0"/>
            <a:ext cx="6985000" cy="6858000"/>
          </a:xfrm>
          <a:prstGeom prst="rect">
            <a:avLst/>
          </a:prstGeom>
        </p:spPr>
      </p:pic>
      <p:sp>
        <p:nvSpPr>
          <p:cNvPr id="3" name="Text 0"/>
          <p:cNvSpPr/>
          <p:nvPr/>
        </p:nvSpPr>
        <p:spPr>
          <a:xfrm>
            <a:off x="7493000" y="812800"/>
            <a:ext cx="400278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PHOTOGRAPHY · DIRECTION</a:t>
            </a:r>
            <a:endParaRPr lang="en-US" sz="1200" dirty="0"/>
          </a:p>
        </p:txBody>
      </p:sp>
      <p:sp>
        <p:nvSpPr>
          <p:cNvPr id="4" name="Text 1"/>
          <p:cNvSpPr/>
          <p:nvPr>
            <p:ph type="title"/>
          </p:nvPr>
        </p:nvSpPr>
        <p:spPr>
          <a:xfrm>
            <a:off x="7493000" y="1203920"/>
            <a:ext cx="4002786" cy="8636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LIGHT, THEN SUBJECT</a:t>
            </a:r>
            <a:endParaRPr lang="en-US" sz="3000" dirty="0"/>
          </a:p>
        </p:txBody>
      </p:sp>
      <p:sp>
        <p:nvSpPr>
          <p:cNvPr id="5" name="Shape 2"/>
          <p:cNvSpPr/>
          <p:nvPr/>
        </p:nvSpPr>
        <p:spPr>
          <a:xfrm>
            <a:off x="7493000" y="4125714"/>
            <a:ext cx="3886200" cy="0"/>
          </a:xfrm>
          <a:prstGeom prst="line">
            <a:avLst/>
          </a:prstGeom>
          <a:noFill/>
          <a:ln w="6350">
            <a:solidFill>
              <a:srgbClr val="BCACA7"/>
            </a:solidFill>
            <a:prstDash val="solid"/>
          </a:ln>
        </p:spPr>
        <p:txBody>
          <a:bodyPr/>
          <a:p/>
        </p:txBody>
      </p:sp>
      <p:sp>
        <p:nvSpPr>
          <p:cNvPr id="6" name="Text 3"/>
          <p:cNvSpPr/>
          <p:nvPr/>
        </p:nvSpPr>
        <p:spPr>
          <a:xfrm>
            <a:off x="7493000" y="4217789"/>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Editorial and architectural</a:t>
            </a:r>
            <a:endParaRPr lang="en-US" sz="1400" dirty="0"/>
          </a:p>
        </p:txBody>
      </p:sp>
      <p:sp>
        <p:nvSpPr>
          <p:cNvPr id="7" name="Shape 4"/>
          <p:cNvSpPr/>
          <p:nvPr/>
        </p:nvSpPr>
        <p:spPr>
          <a:xfrm>
            <a:off x="7493000" y="4584154"/>
            <a:ext cx="3886200" cy="0"/>
          </a:xfrm>
          <a:prstGeom prst="line">
            <a:avLst/>
          </a:prstGeom>
          <a:noFill/>
          <a:ln w="6350">
            <a:solidFill>
              <a:srgbClr val="BCACA7"/>
            </a:solidFill>
            <a:prstDash val="solid"/>
          </a:ln>
        </p:spPr>
        <p:txBody>
          <a:bodyPr/>
          <a:p/>
        </p:txBody>
      </p:sp>
      <p:sp>
        <p:nvSpPr>
          <p:cNvPr id="8" name="Text 5"/>
          <p:cNvSpPr/>
          <p:nvPr/>
        </p:nvSpPr>
        <p:spPr>
          <a:xfrm>
            <a:off x="7493000" y="4676229"/>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Single-source light</a:t>
            </a:r>
            <a:endParaRPr lang="en-US" sz="1400" dirty="0"/>
          </a:p>
        </p:txBody>
      </p:sp>
      <p:sp>
        <p:nvSpPr>
          <p:cNvPr id="9" name="Shape 6"/>
          <p:cNvSpPr/>
          <p:nvPr/>
        </p:nvSpPr>
        <p:spPr>
          <a:xfrm>
            <a:off x="7493000" y="5042595"/>
            <a:ext cx="3886200" cy="0"/>
          </a:xfrm>
          <a:prstGeom prst="line">
            <a:avLst/>
          </a:prstGeom>
          <a:noFill/>
          <a:ln w="6350">
            <a:solidFill>
              <a:srgbClr val="BCACA7"/>
            </a:solidFill>
            <a:prstDash val="solid"/>
          </a:ln>
        </p:spPr>
        <p:txBody>
          <a:bodyPr/>
          <a:p/>
        </p:txBody>
      </p:sp>
      <p:sp>
        <p:nvSpPr>
          <p:cNvPr id="10" name="Text 7"/>
          <p:cNvSpPr/>
          <p:nvPr/>
        </p:nvSpPr>
        <p:spPr>
          <a:xfrm>
            <a:off x="7493000" y="5134670"/>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Warm-neutral, controlled contrast</a:t>
            </a:r>
            <a:endParaRPr lang="en-US" sz="1400" dirty="0"/>
          </a:p>
        </p:txBody>
      </p:sp>
      <p:sp>
        <p:nvSpPr>
          <p:cNvPr id="11" name="Shape 8"/>
          <p:cNvSpPr/>
          <p:nvPr/>
        </p:nvSpPr>
        <p:spPr>
          <a:xfrm>
            <a:off x="7493000" y="5501035"/>
            <a:ext cx="3886200" cy="0"/>
          </a:xfrm>
          <a:prstGeom prst="line">
            <a:avLst/>
          </a:prstGeom>
          <a:noFill/>
          <a:ln w="6350">
            <a:solidFill>
              <a:srgbClr val="BCACA7"/>
            </a:solidFill>
            <a:prstDash val="solid"/>
          </a:ln>
        </p:spPr>
        <p:txBody>
          <a:bodyPr/>
          <a:p/>
        </p:txBody>
      </p:sp>
      <p:sp>
        <p:nvSpPr>
          <p:cNvPr id="12" name="Text 9"/>
          <p:cNvSpPr/>
          <p:nvPr/>
        </p:nvSpPr>
        <p:spPr>
          <a:xfrm>
            <a:off x="7493000" y="5593110"/>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Negative space around the subject</a:t>
            </a:r>
            <a:endParaRPr lang="en-US" sz="1400" dirty="0"/>
          </a:p>
        </p:txBody>
      </p:sp>
      <p:sp>
        <p:nvSpPr>
          <p:cNvPr id="13" name="Text 10"/>
          <p:cNvSpPr/>
          <p:nvPr/>
        </p:nvSpPr>
        <p:spPr>
          <a:xfrm>
            <a:off x="7493000" y="6055420"/>
            <a:ext cx="2747010" cy="42158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PHOTOGRAPHY · NINE SUBJECTS · REFERENCE STUDIES</a:t>
            </a:r>
            <a:endParaRPr lang="en-US" sz="1200" dirty="0"/>
          </a:p>
        </p:txBody>
      </p:sp>
      <p:sp>
        <p:nvSpPr>
          <p:cNvPr id="3" name="Shape 1"/>
          <p:cNvSpPr/>
          <p:nvPr/>
        </p:nvSpPr>
        <p:spPr>
          <a:xfrm>
            <a:off x="812800" y="1203920"/>
            <a:ext cx="3454400" cy="1478260"/>
          </a:xfrm>
          <a:prstGeom prst="rect">
            <a:avLst/>
          </a:prstGeom>
          <a:solidFill>
            <a:srgbClr val="12171D"/>
          </a:solidFill>
          <a:ln/>
        </p:spPr>
        <p:txBody>
          <a:bodyPr/>
          <a:p/>
        </p:txBody>
      </p:sp>
      <p:sp>
        <p:nvSpPr>
          <p:cNvPr id="4" name="Text 2"/>
          <p:cNvSpPr/>
          <p:nvPr/>
        </p:nvSpPr>
        <p:spPr>
          <a:xfrm>
            <a:off x="965200" y="197103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ARCHITECTURE</a:t>
            </a:r>
            <a:endParaRPr lang="en-US" sz="1800" dirty="0"/>
          </a:p>
        </p:txBody>
      </p:sp>
      <p:sp>
        <p:nvSpPr>
          <p:cNvPr id="5" name="Text 3"/>
          <p:cNvSpPr/>
          <p:nvPr/>
        </p:nvSpPr>
        <p:spPr>
          <a:xfrm>
            <a:off x="965200" y="231646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Line, volume, shadow</a:t>
            </a:r>
            <a:endParaRPr lang="en-US" sz="1200" dirty="0"/>
          </a:p>
        </p:txBody>
      </p:sp>
      <p:sp>
        <p:nvSpPr>
          <p:cNvPr id="6" name="Shape 4"/>
          <p:cNvSpPr/>
          <p:nvPr/>
        </p:nvSpPr>
        <p:spPr>
          <a:xfrm>
            <a:off x="4368800" y="1203920"/>
            <a:ext cx="3454400" cy="1478260"/>
          </a:xfrm>
          <a:prstGeom prst="rect">
            <a:avLst/>
          </a:prstGeom>
          <a:solidFill>
            <a:srgbClr val="12171D"/>
          </a:solidFill>
          <a:ln/>
        </p:spPr>
        <p:txBody>
          <a:bodyPr/>
          <a:p/>
        </p:txBody>
      </p:sp>
      <p:pic>
        <p:nvPicPr>
          <p:cNvPr id="7" name="Image 0" descr="Reference study: threshold." title="Reference study: threshold.">    </p:cNvPr>
          <p:cNvPicPr>
            <a:picLocks noChangeAspect="1"/>
          </p:cNvPicPr>
          <p:nvPr/>
        </p:nvPicPr>
        <p:blipFill>
          <a:blip r:embed="rId1"/>
          <a:srcRect l="0" r="0" t="15765" b="15765"/>
          <a:stretch/>
        </p:blipFill>
        <p:spPr>
          <a:xfrm>
            <a:off x="4368800" y="1203920"/>
            <a:ext cx="3454400" cy="1478260"/>
          </a:xfrm>
          <a:prstGeom prst="rect">
            <a:avLst/>
          </a:prstGeom>
        </p:spPr>
      </p:pic>
      <p:sp>
        <p:nvSpPr>
          <p:cNvPr id="8" name="Text 5"/>
          <p:cNvSpPr/>
          <p:nvPr/>
        </p:nvSpPr>
        <p:spPr>
          <a:xfrm>
            <a:off x="4368800" y="2270720"/>
            <a:ext cx="1598166"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THRESHOLDS</a:t>
            </a:r>
            <a:endParaRPr lang="en-US" sz="1600" dirty="0"/>
          </a:p>
        </p:txBody>
      </p:sp>
      <p:sp>
        <p:nvSpPr>
          <p:cNvPr id="9" name="Shape 6"/>
          <p:cNvSpPr/>
          <p:nvPr/>
        </p:nvSpPr>
        <p:spPr>
          <a:xfrm>
            <a:off x="7924800" y="1203920"/>
            <a:ext cx="3454400" cy="1478260"/>
          </a:xfrm>
          <a:prstGeom prst="rect">
            <a:avLst/>
          </a:prstGeom>
          <a:solidFill>
            <a:srgbClr val="12171D"/>
          </a:solidFill>
          <a:ln/>
        </p:spPr>
        <p:txBody>
          <a:bodyPr/>
          <a:p/>
        </p:txBody>
      </p:sp>
      <p:pic>
        <p:nvPicPr>
          <p:cNvPr id="10" name="Image 1" descr="Reference study: material close crop." title="Reference study: material close crop.">    </p:cNvPr>
          <p:cNvPicPr>
            <a:picLocks noChangeAspect="1"/>
          </p:cNvPicPr>
          <p:nvPr/>
        </p:nvPicPr>
        <p:blipFill>
          <a:blip r:embed="rId2"/>
          <a:srcRect l="0" r="0" t="15765" b="15765"/>
          <a:stretch/>
        </p:blipFill>
        <p:spPr>
          <a:xfrm>
            <a:off x="7924800" y="1203920"/>
            <a:ext cx="3454400" cy="1478260"/>
          </a:xfrm>
          <a:prstGeom prst="rect">
            <a:avLst/>
          </a:prstGeom>
        </p:spPr>
      </p:pic>
      <p:sp>
        <p:nvSpPr>
          <p:cNvPr id="11" name="Text 7"/>
          <p:cNvSpPr/>
          <p:nvPr/>
        </p:nvSpPr>
        <p:spPr>
          <a:xfrm>
            <a:off x="7924800" y="2270720"/>
            <a:ext cx="1353840"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MATERIALS</a:t>
            </a:r>
            <a:endParaRPr lang="en-US" sz="1600" dirty="0"/>
          </a:p>
        </p:txBody>
      </p:sp>
      <p:sp>
        <p:nvSpPr>
          <p:cNvPr id="12" name="Shape 8"/>
          <p:cNvSpPr/>
          <p:nvPr/>
        </p:nvSpPr>
        <p:spPr>
          <a:xfrm>
            <a:off x="812800" y="2783780"/>
            <a:ext cx="3454400" cy="1478310"/>
          </a:xfrm>
          <a:prstGeom prst="rect">
            <a:avLst/>
          </a:prstGeom>
          <a:solidFill>
            <a:srgbClr val="BCACA7"/>
          </a:solidFill>
          <a:ln/>
        </p:spPr>
        <p:txBody>
          <a:bodyPr/>
          <a:p/>
        </p:txBody>
      </p:sp>
      <p:sp>
        <p:nvSpPr>
          <p:cNvPr id="13" name="Text 9"/>
          <p:cNvSpPr/>
          <p:nvPr/>
        </p:nvSpPr>
        <p:spPr>
          <a:xfrm>
            <a:off x="965200" y="355094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GUEST RITUAL</a:t>
            </a:r>
            <a:endParaRPr lang="en-US" sz="1800" dirty="0"/>
          </a:p>
        </p:txBody>
      </p:sp>
      <p:sp>
        <p:nvSpPr>
          <p:cNvPr id="14" name="Text 10"/>
          <p:cNvSpPr/>
          <p:nvPr/>
        </p:nvSpPr>
        <p:spPr>
          <a:xfrm>
            <a:off x="965200" y="389637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Hands, objects, gesture</a:t>
            </a:r>
            <a:endParaRPr lang="en-US" sz="1200" dirty="0"/>
          </a:p>
        </p:txBody>
      </p:sp>
      <p:sp>
        <p:nvSpPr>
          <p:cNvPr id="15" name="Shape 11"/>
          <p:cNvSpPr/>
          <p:nvPr/>
        </p:nvSpPr>
        <p:spPr>
          <a:xfrm>
            <a:off x="4368800" y="2783780"/>
            <a:ext cx="3454400" cy="1478310"/>
          </a:xfrm>
          <a:prstGeom prst="rect">
            <a:avLst/>
          </a:prstGeom>
          <a:solidFill>
            <a:srgbClr val="12171D"/>
          </a:solidFill>
          <a:ln/>
        </p:spPr>
        <p:txBody>
          <a:bodyPr/>
          <a:p/>
        </p:txBody>
      </p:sp>
      <p:pic>
        <p:nvPicPr>
          <p:cNvPr id="16" name="Image 2" descr="Reference study: dining table, overhead." title="Reference study: dining table, overhead.">    </p:cNvPr>
          <p:cNvPicPr>
            <a:picLocks noChangeAspect="1"/>
          </p:cNvPicPr>
          <p:nvPr/>
        </p:nvPicPr>
        <p:blipFill>
          <a:blip r:embed="rId3"/>
          <a:srcRect l="0" r="0" t="15764" b="15764"/>
          <a:stretch/>
        </p:blipFill>
        <p:spPr>
          <a:xfrm>
            <a:off x="4368800" y="2783780"/>
            <a:ext cx="3454400" cy="1478310"/>
          </a:xfrm>
          <a:prstGeom prst="rect">
            <a:avLst/>
          </a:prstGeom>
        </p:spPr>
      </p:pic>
      <p:sp>
        <p:nvSpPr>
          <p:cNvPr id="17" name="Text 12"/>
          <p:cNvSpPr/>
          <p:nvPr/>
        </p:nvSpPr>
        <p:spPr>
          <a:xfrm>
            <a:off x="4368800" y="3850630"/>
            <a:ext cx="1036588"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DINING</a:t>
            </a:r>
            <a:endParaRPr lang="en-US" sz="1600" dirty="0"/>
          </a:p>
        </p:txBody>
      </p:sp>
      <p:sp>
        <p:nvSpPr>
          <p:cNvPr id="18" name="Shape 13"/>
          <p:cNvSpPr/>
          <p:nvPr/>
        </p:nvSpPr>
        <p:spPr>
          <a:xfrm>
            <a:off x="7924800" y="2783780"/>
            <a:ext cx="3454400" cy="1478310"/>
          </a:xfrm>
          <a:prstGeom prst="rect">
            <a:avLst/>
          </a:prstGeom>
          <a:solidFill>
            <a:srgbClr val="12171D"/>
          </a:solidFill>
          <a:ln/>
        </p:spPr>
        <p:txBody>
          <a:bodyPr/>
          <a:p/>
        </p:txBody>
      </p:sp>
      <p:sp>
        <p:nvSpPr>
          <p:cNvPr id="19" name="Text 14"/>
          <p:cNvSpPr/>
          <p:nvPr/>
        </p:nvSpPr>
        <p:spPr>
          <a:xfrm>
            <a:off x="8077200" y="355094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AMENITIES</a:t>
            </a:r>
            <a:endParaRPr lang="en-US" sz="1800" dirty="0"/>
          </a:p>
        </p:txBody>
      </p:sp>
      <p:sp>
        <p:nvSpPr>
          <p:cNvPr id="20" name="Text 15"/>
          <p:cNvSpPr/>
          <p:nvPr/>
        </p:nvSpPr>
        <p:spPr>
          <a:xfrm>
            <a:off x="8077200" y="389637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Objects, composed</a:t>
            </a:r>
            <a:endParaRPr lang="en-US" sz="1200" dirty="0"/>
          </a:p>
        </p:txBody>
      </p:sp>
      <p:sp>
        <p:nvSpPr>
          <p:cNvPr id="21" name="Shape 16"/>
          <p:cNvSpPr/>
          <p:nvPr/>
        </p:nvSpPr>
        <p:spPr>
          <a:xfrm>
            <a:off x="812800" y="4363690"/>
            <a:ext cx="3454400" cy="1478310"/>
          </a:xfrm>
          <a:prstGeom prst="rect">
            <a:avLst/>
          </a:prstGeom>
          <a:solidFill>
            <a:srgbClr val="12171D"/>
          </a:solidFill>
          <a:ln/>
        </p:spPr>
        <p:txBody>
          <a:bodyPr/>
          <a:p/>
        </p:txBody>
      </p:sp>
      <p:pic>
        <p:nvPicPr>
          <p:cNvPr id="22" name="Image 3" descr="Reference study: room detail, window light." title="Reference study: room detail, window light.">    </p:cNvPr>
          <p:cNvPicPr>
            <a:picLocks noChangeAspect="1"/>
          </p:cNvPicPr>
          <p:nvPr/>
        </p:nvPicPr>
        <p:blipFill>
          <a:blip r:embed="rId4"/>
          <a:srcRect l="0" r="0" t="15764" b="15764"/>
          <a:stretch/>
        </p:blipFill>
        <p:spPr>
          <a:xfrm>
            <a:off x="812800" y="4363690"/>
            <a:ext cx="3454400" cy="1478310"/>
          </a:xfrm>
          <a:prstGeom prst="rect">
            <a:avLst/>
          </a:prstGeom>
        </p:spPr>
      </p:pic>
      <p:sp>
        <p:nvSpPr>
          <p:cNvPr id="23" name="Text 17"/>
          <p:cNvSpPr/>
          <p:nvPr/>
        </p:nvSpPr>
        <p:spPr>
          <a:xfrm>
            <a:off x="812800" y="5430540"/>
            <a:ext cx="1770013"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ROOM DETAILS</a:t>
            </a:r>
            <a:endParaRPr lang="en-US" sz="1600" dirty="0"/>
          </a:p>
        </p:txBody>
      </p:sp>
      <p:sp>
        <p:nvSpPr>
          <p:cNvPr id="24" name="Shape 18"/>
          <p:cNvSpPr/>
          <p:nvPr/>
        </p:nvSpPr>
        <p:spPr>
          <a:xfrm>
            <a:off x="4368800" y="4363690"/>
            <a:ext cx="3454400" cy="1478310"/>
          </a:xfrm>
          <a:prstGeom prst="rect">
            <a:avLst/>
          </a:prstGeom>
          <a:solidFill>
            <a:srgbClr val="BCACA7"/>
          </a:solidFill>
          <a:ln/>
        </p:spPr>
        <p:txBody>
          <a:bodyPr/>
          <a:p/>
        </p:txBody>
      </p:sp>
      <p:sp>
        <p:nvSpPr>
          <p:cNvPr id="25" name="Text 19"/>
          <p:cNvSpPr/>
          <p:nvPr/>
        </p:nvSpPr>
        <p:spPr>
          <a:xfrm>
            <a:off x="4521200" y="513085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SERVICE</a:t>
            </a:r>
            <a:endParaRPr lang="en-US" sz="1800" dirty="0"/>
          </a:p>
        </p:txBody>
      </p:sp>
      <p:sp>
        <p:nvSpPr>
          <p:cNvPr id="26" name="Text 20"/>
          <p:cNvSpPr/>
          <p:nvPr/>
        </p:nvSpPr>
        <p:spPr>
          <a:xfrm>
            <a:off x="4521200" y="547628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Care, unannounced</a:t>
            </a:r>
            <a:endParaRPr lang="en-US" sz="1200" dirty="0"/>
          </a:p>
        </p:txBody>
      </p:sp>
      <p:sp>
        <p:nvSpPr>
          <p:cNvPr id="27" name="Shape 21"/>
          <p:cNvSpPr/>
          <p:nvPr/>
        </p:nvSpPr>
        <p:spPr>
          <a:xfrm>
            <a:off x="7924800" y="4363690"/>
            <a:ext cx="3454400" cy="1478310"/>
          </a:xfrm>
          <a:prstGeom prst="rect">
            <a:avLst/>
          </a:prstGeom>
          <a:solidFill>
            <a:srgbClr val="12171D"/>
          </a:solidFill>
          <a:ln/>
        </p:spPr>
        <p:txBody>
          <a:bodyPr/>
          <a:p/>
        </p:txBody>
      </p:sp>
      <p:sp>
        <p:nvSpPr>
          <p:cNvPr id="28" name="Text 22"/>
          <p:cNvSpPr/>
          <p:nvPr/>
        </p:nvSpPr>
        <p:spPr>
          <a:xfrm>
            <a:off x="8077200" y="513085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HUMAN PRESENCE</a:t>
            </a:r>
            <a:endParaRPr lang="en-US" sz="1800" dirty="0"/>
          </a:p>
        </p:txBody>
      </p:sp>
      <p:sp>
        <p:nvSpPr>
          <p:cNvPr id="29" name="Text 23"/>
          <p:cNvSpPr/>
          <p:nvPr/>
        </p:nvSpPr>
        <p:spPr>
          <a:xfrm>
            <a:off x="8077200" y="547628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Candid, partial, calm</a:t>
            </a:r>
            <a:endParaRPr lang="en-US" sz="1200" dirty="0"/>
          </a:p>
        </p:txBody>
      </p:sp>
      <p:sp>
        <p:nvSpPr>
          <p:cNvPr id="30" name="Text 24"/>
          <p:cNvSpPr/>
          <p:nvPr/>
        </p:nvSpPr>
        <p:spPr>
          <a:xfrm>
            <a:off x="812800" y="5916168"/>
            <a:ext cx="9326880" cy="548640"/>
          </a:xfrm>
          <a:prstGeom prst="rect">
            <a:avLst/>
          </a:prstGeom>
          <a:noFill/>
          <a:ln/>
        </p:spPr>
        <p:txBody>
          <a:bodyPr wrap="square" lIns="0" tIns="0" rIns="0" bIns="0" rtlCol="0" anchor="t"/>
          <a:lstStyle/>
          <a:p>
            <a:pPr algn="l" indent="0" marL="0">
              <a:lnSpc>
                <a:spcPts val="1680"/>
              </a:lnSpc>
              <a:buNone/>
            </a:pPr>
            <a:r>
              <a:rPr lang="en-US" sz="1000" spc="95" kern="0" dirty="0">
                <a:solidFill>
                  <a:srgbClr val="12171D"/>
                </a:solidFill>
                <a:latin typeface="Inter" pitchFamily="34" charset="0"/>
                <a:ea typeface="Inter" pitchFamily="34" charset="-122"/>
                <a:cs typeface="Inter" pitchFamily="34" charset="-120"/>
              </a:rPr>
              <a:t>REFERENCE · CONCEPT / NOT PRODUCTION PHOTOGRAPHY · PLAIN TILES AWAIT COMMISSIONED IMAGES. REQUIRED CATEGORIES (O11–O16): ARCHITECTURE, MATERIALS, THRESHOLDS, AMENITIES; DINING AND SERVICE WHERE RELEVANT. GUEST RITUAL, ROOM DETAILS AND HUMAN PRESENCE ARE SUPPLEMENTARY SUBJECTS.</a:t>
            </a:r>
            <a:endParaRPr lang="en-US" sz="1200" dirty="0"/>
          </a:p>
        </p:txBody>
      </p:sp>
      <p:sp>
        <p:nvSpPr>
          <p:cNvPr id="31"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PHOTOGRAPHY · DO AND DON'T · REFERENCE</a:t>
            </a:r>
            <a:endParaRPr lang="en-US" sz="1200" dirty="0"/>
          </a:p>
        </p:txBody>
      </p:sp>
      <p:sp>
        <p:nvSpPr>
          <p:cNvPr id="3" name="Shape 1"/>
          <p:cNvSpPr/>
          <p:nvPr/>
        </p:nvSpPr>
        <p:spPr>
          <a:xfrm>
            <a:off x="812800" y="1203920"/>
            <a:ext cx="2527300" cy="3725069"/>
          </a:xfrm>
          <a:prstGeom prst="rect">
            <a:avLst/>
          </a:prstGeom>
          <a:solidFill>
            <a:srgbClr val="12171D"/>
          </a:solidFill>
          <a:ln/>
        </p:spPr>
        <p:txBody>
          <a:bodyPr/>
          <a:p/>
        </p:txBody>
      </p:sp>
      <p:pic>
        <p:nvPicPr>
          <p:cNvPr id="4" name="Image 0" descr="Do: one source of light, quiet tones, room to breathe." title="Do: one source of light, quiet tones, room to breathe.">    </p:cNvPr>
          <p:cNvPicPr>
            <a:picLocks noChangeAspect="1"/>
          </p:cNvPicPr>
          <p:nvPr/>
        </p:nvPicPr>
        <p:blipFill>
          <a:blip r:embed="rId1"/>
          <a:srcRect l="28798" r="28798" t="0" b="0"/>
          <a:stretch/>
        </p:blipFill>
        <p:spPr>
          <a:xfrm>
            <a:off x="812800" y="1203920"/>
            <a:ext cx="2527300" cy="3725069"/>
          </a:xfrm>
          <a:prstGeom prst="rect">
            <a:avLst/>
          </a:prstGeom>
        </p:spPr>
      </p:pic>
      <p:sp>
        <p:nvSpPr>
          <p:cNvPr id="5" name="Text 2"/>
          <p:cNvSpPr/>
          <p:nvPr/>
        </p:nvSpPr>
        <p:spPr>
          <a:xfrm>
            <a:off x="8128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 · One source of light. Quiet tones. Room to breathe.</a:t>
            </a:r>
            <a:endParaRPr lang="en-US" sz="1300" dirty="0"/>
          </a:p>
        </p:txBody>
      </p:sp>
      <p:sp>
        <p:nvSpPr>
          <p:cNvPr id="6" name="Shape 3"/>
          <p:cNvSpPr/>
          <p:nvPr/>
        </p:nvSpPr>
        <p:spPr>
          <a:xfrm>
            <a:off x="3492500" y="1203920"/>
            <a:ext cx="2527300" cy="3725069"/>
          </a:xfrm>
          <a:prstGeom prst="rect">
            <a:avLst/>
          </a:prstGeom>
          <a:solidFill>
            <a:srgbClr val="12171D"/>
          </a:solidFill>
          <a:ln/>
        </p:spPr>
        <p:txBody>
          <a:bodyPr/>
          <a:p/>
        </p:txBody>
      </p:sp>
      <p:pic>
        <p:nvPicPr>
          <p:cNvPr id="7" name="Image 1" descr="Don't: oversaturated with artificial glow." title="Don't: oversaturated with artificial glow.">    </p:cNvPr>
          <p:cNvPicPr>
            <a:picLocks noChangeAspect="1"/>
          </p:cNvPicPr>
          <p:nvPr/>
        </p:nvPicPr>
        <p:blipFill>
          <a:blip r:embed="rId2"/>
          <a:srcRect l="28798" r="28798" t="0" b="0"/>
          <a:stretch/>
        </p:blipFill>
        <p:spPr>
          <a:xfrm>
            <a:off x="3492500" y="1203920"/>
            <a:ext cx="2527300" cy="3725069"/>
          </a:xfrm>
          <a:prstGeom prst="rect">
            <a:avLst/>
          </a:prstGeom>
        </p:spPr>
      </p:pic>
      <p:sp>
        <p:nvSpPr>
          <p:cNvPr id="8" name="Text 4"/>
          <p:cNvSpPr/>
          <p:nvPr/>
        </p:nvSpPr>
        <p:spPr>
          <a:xfrm>
            <a:off x="34925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Oversaturate or add artificial glow.</a:t>
            </a:r>
            <a:endParaRPr lang="en-US" sz="1300" dirty="0"/>
          </a:p>
        </p:txBody>
      </p:sp>
      <p:sp>
        <p:nvSpPr>
          <p:cNvPr id="9" name="Shape 5"/>
          <p:cNvSpPr/>
          <p:nvPr/>
        </p:nvSpPr>
        <p:spPr>
          <a:xfrm>
            <a:off x="6172200" y="1203920"/>
            <a:ext cx="2527300" cy="3725069"/>
          </a:xfrm>
          <a:prstGeom prst="rect">
            <a:avLst/>
          </a:prstGeom>
          <a:solidFill>
            <a:srgbClr val="12171D"/>
          </a:solidFill>
          <a:ln/>
        </p:spPr>
        <p:txBody>
          <a:bodyPr/>
          <a:p/>
        </p:txBody>
      </p:sp>
      <p:pic>
        <p:nvPicPr>
          <p:cNvPr id="10" name="Image 2" descr="Don't: text placed over the subject." title="Don't: text placed over the subject.">    </p:cNvPr>
          <p:cNvPicPr>
            <a:picLocks noChangeAspect="1"/>
          </p:cNvPicPr>
          <p:nvPr/>
        </p:nvPicPr>
        <p:blipFill>
          <a:blip r:embed="rId3"/>
          <a:srcRect l="28798" r="28798" t="0" b="0"/>
          <a:stretch/>
        </p:blipFill>
        <p:spPr>
          <a:xfrm>
            <a:off x="6172200" y="1203920"/>
            <a:ext cx="2527300" cy="3725069"/>
          </a:xfrm>
          <a:prstGeom prst="rect">
            <a:avLst/>
          </a:prstGeom>
        </p:spPr>
      </p:pic>
      <p:sp>
        <p:nvSpPr>
          <p:cNvPr id="11" name="Text 6"/>
          <p:cNvSpPr/>
          <p:nvPr/>
        </p:nvSpPr>
        <p:spPr>
          <a:xfrm>
            <a:off x="6324600" y="1584920"/>
            <a:ext cx="3352800" cy="33273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FFFFFF"/>
                </a:solidFill>
                <a:latin typeface="Jost" pitchFamily="34" charset="0"/>
                <a:ea typeface="Jost" pitchFamily="34" charset="-122"/>
                <a:cs typeface="Jost" pitchFamily="34" charset="-120"/>
              </a:rPr>
              <a:t>WELCOME TO LUXURY</a:t>
            </a:r>
            <a:endParaRPr lang="en-US" sz="2200" dirty="0"/>
          </a:p>
        </p:txBody>
      </p:sp>
      <p:sp>
        <p:nvSpPr>
          <p:cNvPr id="12" name="Text 7"/>
          <p:cNvSpPr/>
          <p:nvPr/>
        </p:nvSpPr>
        <p:spPr>
          <a:xfrm>
            <a:off x="61722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Place text over the subject or a busy field.</a:t>
            </a:r>
            <a:endParaRPr lang="en-US" sz="1300" dirty="0"/>
          </a:p>
        </p:txBody>
      </p:sp>
      <p:sp>
        <p:nvSpPr>
          <p:cNvPr id="13" name="Shape 8"/>
          <p:cNvSpPr/>
          <p:nvPr/>
        </p:nvSpPr>
        <p:spPr>
          <a:xfrm>
            <a:off x="8851900" y="1203920"/>
            <a:ext cx="2527300" cy="3725069"/>
          </a:xfrm>
          <a:prstGeom prst="rect">
            <a:avLst/>
          </a:prstGeom>
          <a:solidFill>
            <a:srgbClr val="12171D"/>
          </a:solidFill>
          <a:ln/>
        </p:spPr>
        <p:txBody>
          <a:bodyPr/>
          <a:p/>
        </p:txBody>
      </p:sp>
      <p:pic>
        <p:nvPicPr>
          <p:cNvPr id="14" name="Image 3" descr="Don't: trendy filter and off-palette tint." title="Don't: trendy filter and off-palette tint.">    </p:cNvPr>
          <p:cNvPicPr>
            <a:picLocks noChangeAspect="1"/>
          </p:cNvPicPr>
          <p:nvPr/>
        </p:nvPicPr>
        <p:blipFill>
          <a:blip r:embed="rId4"/>
          <a:srcRect l="28798" r="28798" t="0" b="0"/>
          <a:stretch/>
        </p:blipFill>
        <p:spPr>
          <a:xfrm>
            <a:off x="8851900" y="1203920"/>
            <a:ext cx="2527300" cy="3725069"/>
          </a:xfrm>
          <a:prstGeom prst="rect">
            <a:avLst/>
          </a:prstGeom>
        </p:spPr>
      </p:pic>
      <p:sp>
        <p:nvSpPr>
          <p:cNvPr id="15" name="Text 9"/>
          <p:cNvSpPr/>
          <p:nvPr/>
        </p:nvSpPr>
        <p:spPr>
          <a:xfrm>
            <a:off x="88519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Apply trendy filters or off-palette tints.</a:t>
            </a:r>
            <a:endParaRPr lang="en-US" sz="1300" dirty="0"/>
          </a:p>
        </p:txBody>
      </p:sp>
      <p:sp>
        <p:nvSpPr>
          <p:cNvPr id="16" name="Text 10"/>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avoid generic hotel stock, posed smiling groups and generic luxury clichés.</a:t>
            </a:r>
            <a:endParaRPr lang="en-US" sz="1200" dirty="0"/>
          </a:p>
        </p:txBody>
      </p:sp>
      <p:sp>
        <p:nvSpPr>
          <p:cNvPr id="17"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REFERENCE · NOT PRODUCTION PHOTOGRAPHY · EDITED AS EXAMPLES</a:t>
            </a:r>
            <a:endParaRPr lang="en-US" sz="1200" dirty="0"/>
          </a:p>
        </p:txBody>
      </p:sp>
      <p:sp>
        <p:nvSpPr>
          <p:cNvPr id="18"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CROP AND IMAGE COMPOSITION · REFERENCE</a:t>
            </a:r>
            <a:endParaRPr lang="en-US" sz="1200" dirty="0"/>
          </a:p>
        </p:txBody>
      </p:sp>
      <p:sp>
        <p:nvSpPr>
          <p:cNvPr id="3" name="Text 1"/>
          <p:cNvSpPr/>
          <p:nvPr>
            <p:ph type="title"/>
          </p:nvPr>
        </p:nvSpPr>
        <p:spPr>
          <a:xfrm>
            <a:off x="812800" y="1127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FIVE RATIOS. ONE SUBJECT, OFF-CENTRE.</a:t>
            </a:r>
            <a:endParaRPr lang="en-US" sz="2800" dirty="0"/>
          </a:p>
        </p:txBody>
      </p:sp>
      <p:pic>
        <p:nvPicPr>
          <p:cNvPr id="4" name="Image 0" descr="Threshold study cropped 3:2." title="Threshold study cropped 3:2.">    </p:cNvPr>
          <p:cNvPicPr>
            <a:picLocks noChangeAspect="1"/>
          </p:cNvPicPr>
          <p:nvPr/>
        </p:nvPicPr>
        <p:blipFill>
          <a:blip r:embed="rId1"/>
          <a:srcRect l="3125" r="3125" t="0" b="0"/>
          <a:stretch/>
        </p:blipFill>
        <p:spPr>
          <a:xfrm>
            <a:off x="812800" y="3725614"/>
            <a:ext cx="2095500" cy="1397000"/>
          </a:xfrm>
          <a:prstGeom prst="rect">
            <a:avLst/>
          </a:prstGeom>
        </p:spPr>
      </p:pic>
      <p:sp>
        <p:nvSpPr>
          <p:cNvPr id="5" name="Text 2"/>
          <p:cNvSpPr/>
          <p:nvPr/>
        </p:nvSpPr>
        <p:spPr>
          <a:xfrm>
            <a:off x="812800" y="5186114"/>
            <a:ext cx="2158365"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3:2</a:t>
            </a:r>
            <a:endParaRPr lang="en-US" sz="1200" dirty="0"/>
          </a:p>
        </p:txBody>
      </p:sp>
      <p:pic>
        <p:nvPicPr>
          <p:cNvPr id="6" name="Image 1" descr="Threshold study cropped 4:5." title="Threshold study cropped 4:5.">    </p:cNvPr>
          <p:cNvPicPr>
            <a:picLocks noChangeAspect="1"/>
          </p:cNvPicPr>
          <p:nvPr/>
        </p:nvPicPr>
        <p:blipFill>
          <a:blip r:embed="rId2"/>
          <a:srcRect l="25000" r="25000" t="0" b="0"/>
          <a:stretch/>
        </p:blipFill>
        <p:spPr>
          <a:xfrm>
            <a:off x="3060700" y="3090614"/>
            <a:ext cx="1625600" cy="2032000"/>
          </a:xfrm>
          <a:prstGeom prst="rect">
            <a:avLst/>
          </a:prstGeom>
        </p:spPr>
      </p:pic>
      <p:sp>
        <p:nvSpPr>
          <p:cNvPr id="7" name="Text 3"/>
          <p:cNvSpPr/>
          <p:nvPr/>
        </p:nvSpPr>
        <p:spPr>
          <a:xfrm>
            <a:off x="3060700" y="5186114"/>
            <a:ext cx="1676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4:5</a:t>
            </a:r>
            <a:endParaRPr lang="en-US" sz="1200" dirty="0"/>
          </a:p>
        </p:txBody>
      </p:sp>
      <p:pic>
        <p:nvPicPr>
          <p:cNvPr id="8" name="Image 2" descr="Threshold study cropped 16:9." title="Threshold study cropped 16:9.">    </p:cNvPr>
          <p:cNvPicPr>
            <a:picLocks noChangeAspect="1"/>
          </p:cNvPicPr>
          <p:nvPr/>
        </p:nvPicPr>
        <p:blipFill>
          <a:blip r:embed="rId3"/>
          <a:srcRect l="0" r="0" t="5000" b="5000"/>
          <a:stretch/>
        </p:blipFill>
        <p:spPr>
          <a:xfrm>
            <a:off x="4838700" y="3408114"/>
            <a:ext cx="3048000" cy="1714500"/>
          </a:xfrm>
          <a:prstGeom prst="rect">
            <a:avLst/>
          </a:prstGeom>
        </p:spPr>
      </p:pic>
      <p:sp>
        <p:nvSpPr>
          <p:cNvPr id="9" name="Text 4"/>
          <p:cNvSpPr/>
          <p:nvPr/>
        </p:nvSpPr>
        <p:spPr>
          <a:xfrm>
            <a:off x="4838700" y="5186114"/>
            <a:ext cx="313944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16:9</a:t>
            </a:r>
            <a:endParaRPr lang="en-US" sz="1200" dirty="0"/>
          </a:p>
        </p:txBody>
      </p:sp>
      <p:pic>
        <p:nvPicPr>
          <p:cNvPr id="10" name="Image 3" descr="Threshold study cropped 1:1." title="Threshold study cropped 1:1.">    </p:cNvPr>
          <p:cNvPicPr>
            <a:picLocks noChangeAspect="1"/>
          </p:cNvPicPr>
          <p:nvPr/>
        </p:nvPicPr>
        <p:blipFill>
          <a:blip r:embed="rId4"/>
          <a:srcRect l="18750" r="18750" t="0" b="0"/>
          <a:stretch/>
        </p:blipFill>
        <p:spPr>
          <a:xfrm>
            <a:off x="8039100" y="3408114"/>
            <a:ext cx="1714500" cy="1714500"/>
          </a:xfrm>
          <a:prstGeom prst="rect">
            <a:avLst/>
          </a:prstGeom>
        </p:spPr>
      </p:pic>
      <p:sp>
        <p:nvSpPr>
          <p:cNvPr id="11" name="Text 5"/>
          <p:cNvSpPr/>
          <p:nvPr/>
        </p:nvSpPr>
        <p:spPr>
          <a:xfrm>
            <a:off x="8039100" y="5186114"/>
            <a:ext cx="1765935"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1:1</a:t>
            </a:r>
            <a:endParaRPr lang="en-US" sz="1200" dirty="0"/>
          </a:p>
        </p:txBody>
      </p:sp>
      <p:pic>
        <p:nvPicPr>
          <p:cNvPr id="12" name="Image 4" descr="Threshold study cropped 9:16." title="Threshold study cropped 9:16.">    </p:cNvPr>
          <p:cNvPicPr>
            <a:picLocks noChangeAspect="1"/>
          </p:cNvPicPr>
          <p:nvPr/>
        </p:nvPicPr>
        <p:blipFill>
          <a:blip r:embed="rId5"/>
          <a:srcRect l="32422" r="32422" t="0" b="0"/>
          <a:stretch/>
        </p:blipFill>
        <p:spPr>
          <a:xfrm>
            <a:off x="9906000" y="3090614"/>
            <a:ext cx="1143000" cy="2032000"/>
          </a:xfrm>
          <a:prstGeom prst="rect">
            <a:avLst/>
          </a:prstGeom>
        </p:spPr>
      </p:pic>
      <p:sp>
        <p:nvSpPr>
          <p:cNvPr id="13" name="Text 6"/>
          <p:cNvSpPr/>
          <p:nvPr/>
        </p:nvSpPr>
        <p:spPr>
          <a:xfrm>
            <a:off x="9906000" y="5186114"/>
            <a:ext cx="11938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9:16</a:t>
            </a:r>
            <a:endParaRPr lang="en-US" sz="1200" dirty="0"/>
          </a:p>
        </p:txBody>
      </p:sp>
      <p:sp>
        <p:nvSpPr>
          <p:cNvPr id="14" name="Text 7"/>
          <p:cNvSpPr/>
          <p:nvPr/>
        </p:nvSpPr>
        <p:spPr>
          <a:xfrm>
            <a:off x="812800" y="5602635"/>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Place the subject on a third and leave the opposite field empty. Keep text in the quiet area, away from the subject.</a:t>
            </a:r>
            <a:endParaRPr lang="en-US" sz="1300" dirty="0"/>
          </a:p>
        </p:txBody>
      </p:sp>
      <p:sp>
        <p:nvSpPr>
          <p:cNvPr id="15" name="Text 8"/>
          <p:cNvSpPr/>
          <p:nvPr/>
        </p:nvSpPr>
        <p:spPr>
          <a:xfrm>
            <a:off x="812800" y="6238280"/>
            <a:ext cx="9326880" cy="238720"/>
          </a:xfrm>
          <a:prstGeom prst="rect">
            <a:avLst/>
          </a:prstGeom>
          <a:noFill/>
          <a:ln/>
        </p:spPr>
        <p:txBody>
          <a:bodyPr wrap="square" lIns="0" tIns="0" rIns="0" bIns="0" rtlCol="0" anchor="t"/>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 · RATIOS CONDITIONAL (W07)</a:t>
            </a:r>
            <a:endParaRPr lang="en-US" sz="1200" dirty="0"/>
          </a:p>
        </p:txBody>
      </p:sp>
      <p:sp>
        <p:nvSpPr>
          <p:cNvPr id="16"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MOTION · THE SIGNATURE SEQUENCE</a:t>
            </a:r>
            <a:endParaRPr lang="en-US" sz="1200" dirty="0"/>
          </a:p>
        </p:txBody>
      </p:sp>
      <p:sp>
        <p:nvSpPr>
          <p:cNvPr id="3" name="Text 1"/>
          <p:cNvSpPr/>
          <p:nvPr>
            <p:ph type="title"/>
          </p:nvPr>
        </p:nvSpPr>
        <p:spPr>
          <a:xfrm>
            <a:off x="812800" y="112772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THE RING DRAWS. THE SPARK FLASHES. THE QUARTER FILLS.</a:t>
            </a:r>
            <a:endParaRPr lang="en-US" sz="3000" dirty="0"/>
          </a:p>
        </p:txBody>
      </p:sp>
      <p:sp>
        <p:nvSpPr>
          <p:cNvPr id="4" name="Shape 2"/>
          <p:cNvSpPr/>
          <p:nvPr/>
        </p:nvSpPr>
        <p:spPr>
          <a:xfrm>
            <a:off x="819150" y="2200870"/>
            <a:ext cx="3424734" cy="3166814"/>
          </a:xfrm>
          <a:prstGeom prst="rect">
            <a:avLst/>
          </a:prstGeom>
          <a:noFill/>
          <a:ln w="12700">
            <a:solidFill>
              <a:srgbClr val="BCACA7"/>
            </a:solidFill>
            <a:prstDash val="solid"/>
          </a:ln>
        </p:spPr>
        <p:txBody>
          <a:bodyPr/>
          <a:p/>
        </p:txBody>
      </p:sp>
      <p:pic>
        <p:nvPicPr>
          <p:cNvPr id="5" name="Image 0" descr="Storyboard frame 1: the ring draws itself." title="Storyboard frame 1: the ring draws itself.">    </p:cNvPr>
          <p:cNvPicPr>
            <a:picLocks noChangeAspect="1"/>
          </p:cNvPicPr>
          <p:nvPr/>
        </p:nvPicPr>
        <p:blipFill>
          <a:blip r:embed="rId1"/>
          <a:srcRect l="0" r="0" t="0" b="0"/>
          <a:stretch/>
        </p:blipFill>
        <p:spPr>
          <a:xfrm>
            <a:off x="1003300" y="2385020"/>
            <a:ext cx="1651000" cy="1651000"/>
          </a:xfrm>
          <a:prstGeom prst="rect">
            <a:avLst/>
          </a:prstGeom>
        </p:spPr>
      </p:pic>
      <p:sp>
        <p:nvSpPr>
          <p:cNvPr id="6" name="Text 3"/>
          <p:cNvSpPr/>
          <p:nvPr/>
        </p:nvSpPr>
        <p:spPr>
          <a:xfrm>
            <a:off x="1003300" y="4612084"/>
            <a:ext cx="314812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01 · DRAW</a:t>
            </a:r>
            <a:endParaRPr lang="en-US" sz="1800" dirty="0"/>
          </a:p>
        </p:txBody>
      </p:sp>
      <p:sp>
        <p:nvSpPr>
          <p:cNvPr id="7" name="Text 4"/>
          <p:cNvSpPr/>
          <p:nvPr/>
        </p:nvSpPr>
        <p:spPr>
          <a:xfrm>
            <a:off x="1003300" y="4970214"/>
            <a:ext cx="3148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ring traces itself.</a:t>
            </a:r>
            <a:endParaRPr lang="en-US" sz="1200" dirty="0"/>
          </a:p>
        </p:txBody>
      </p:sp>
      <p:sp>
        <p:nvSpPr>
          <p:cNvPr id="8" name="Shape 5"/>
          <p:cNvSpPr/>
          <p:nvPr/>
        </p:nvSpPr>
        <p:spPr>
          <a:xfrm>
            <a:off x="4383584" y="2200870"/>
            <a:ext cx="3424783" cy="3166814"/>
          </a:xfrm>
          <a:prstGeom prst="rect">
            <a:avLst/>
          </a:prstGeom>
          <a:noFill/>
          <a:ln w="12700">
            <a:solidFill>
              <a:srgbClr val="BCACA7"/>
            </a:solidFill>
            <a:prstDash val="solid"/>
          </a:ln>
        </p:spPr>
        <p:txBody>
          <a:bodyPr/>
          <a:p/>
        </p:txBody>
      </p:sp>
      <p:pic>
        <p:nvPicPr>
          <p:cNvPr id="9" name="Image 1" descr="Storyboard frame 2: the spark appears once." title="Storyboard frame 2: the spark appears once.">    </p:cNvPr>
          <p:cNvPicPr>
            <a:picLocks noChangeAspect="1"/>
          </p:cNvPicPr>
          <p:nvPr/>
        </p:nvPicPr>
        <p:blipFill>
          <a:blip r:embed="rId2"/>
          <a:srcRect l="0" r="0" t="0" b="0"/>
          <a:stretch/>
        </p:blipFill>
        <p:spPr>
          <a:xfrm>
            <a:off x="4567734" y="2385020"/>
            <a:ext cx="1651000" cy="1651000"/>
          </a:xfrm>
          <a:prstGeom prst="rect">
            <a:avLst/>
          </a:prstGeom>
        </p:spPr>
      </p:pic>
      <p:sp>
        <p:nvSpPr>
          <p:cNvPr id="10" name="Text 6"/>
          <p:cNvSpPr/>
          <p:nvPr/>
        </p:nvSpPr>
        <p:spPr>
          <a:xfrm>
            <a:off x="4567734" y="4612084"/>
            <a:ext cx="314817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02 · FLASH</a:t>
            </a:r>
            <a:endParaRPr lang="en-US" sz="1800" dirty="0"/>
          </a:p>
        </p:txBody>
      </p:sp>
      <p:sp>
        <p:nvSpPr>
          <p:cNvPr id="11" name="Text 7"/>
          <p:cNvSpPr/>
          <p:nvPr/>
        </p:nvSpPr>
        <p:spPr>
          <a:xfrm>
            <a:off x="4567734" y="4970214"/>
            <a:ext cx="3148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spark appears once.</a:t>
            </a:r>
            <a:endParaRPr lang="en-US" sz="1200" dirty="0"/>
          </a:p>
        </p:txBody>
      </p:sp>
      <p:sp>
        <p:nvSpPr>
          <p:cNvPr id="12" name="Shape 8"/>
          <p:cNvSpPr/>
          <p:nvPr/>
        </p:nvSpPr>
        <p:spPr>
          <a:xfrm>
            <a:off x="7948067" y="2200870"/>
            <a:ext cx="3424783" cy="3166814"/>
          </a:xfrm>
          <a:prstGeom prst="rect">
            <a:avLst/>
          </a:prstGeom>
          <a:noFill/>
          <a:ln w="12700">
            <a:solidFill>
              <a:srgbClr val="BCACA7"/>
            </a:solidFill>
            <a:prstDash val="solid"/>
          </a:ln>
        </p:spPr>
        <p:txBody>
          <a:bodyPr/>
          <a:p/>
        </p:txBody>
      </p:sp>
      <p:pic>
        <p:nvPicPr>
          <p:cNvPr id="13" name="Image 2" descr="Storyboard frame 3: the quarter fills." title="Storyboard frame 3: the quarter fills.">    </p:cNvPr>
          <p:cNvPicPr>
            <a:picLocks noChangeAspect="1"/>
          </p:cNvPicPr>
          <p:nvPr/>
        </p:nvPicPr>
        <p:blipFill>
          <a:blip r:embed="rId3"/>
          <a:srcRect l="0" r="0" t="0" b="0"/>
          <a:stretch/>
        </p:blipFill>
        <p:spPr>
          <a:xfrm>
            <a:off x="8132217" y="2385020"/>
            <a:ext cx="1651000" cy="1651000"/>
          </a:xfrm>
          <a:prstGeom prst="rect">
            <a:avLst/>
          </a:prstGeom>
        </p:spPr>
      </p:pic>
      <p:sp>
        <p:nvSpPr>
          <p:cNvPr id="14" name="Text 9"/>
          <p:cNvSpPr/>
          <p:nvPr/>
        </p:nvSpPr>
        <p:spPr>
          <a:xfrm>
            <a:off x="8132217" y="4612084"/>
            <a:ext cx="314817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03 · FILL</a:t>
            </a:r>
            <a:endParaRPr lang="en-US" sz="1800" dirty="0"/>
          </a:p>
        </p:txBody>
      </p:sp>
      <p:sp>
        <p:nvSpPr>
          <p:cNvPr id="15" name="Text 10"/>
          <p:cNvSpPr/>
          <p:nvPr/>
        </p:nvSpPr>
        <p:spPr>
          <a:xfrm>
            <a:off x="8132217" y="4970214"/>
            <a:ext cx="3148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quarter settles the mark.</a:t>
            </a:r>
            <a:endParaRPr lang="en-US" sz="1200" dirty="0"/>
          </a:p>
        </p:txBody>
      </p:sp>
      <p:sp>
        <p:nvSpPr>
          <p:cNvPr id="16" name="Text 11"/>
          <p:cNvSpPr/>
          <p:nvPr/>
        </p:nvSpPr>
        <p:spPr>
          <a:xfrm>
            <a:off x="812800" y="5401467"/>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About 1.5 seconds, ease-out, once. Reduced motion: show the final frame at rest, no animation. Reveal timings CONDITIONAL; motion masters PENDING VALIDATION (VAL-14). Motion tokens: Part B.</a:t>
            </a:r>
            <a:endParaRPr lang="en-US" sz="1300" dirty="0"/>
          </a:p>
        </p:txBody>
      </p:sp>
      <p:sp>
        <p:nvSpPr>
          <p:cNvPr id="17"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IMAGE &amp; MOTION · MOTION</a:t>
            </a:r>
            <a:endParaRPr lang="en-US" sz="1200" dirty="0"/>
          </a:p>
        </p:txBody>
      </p:sp>
      <p:sp>
        <p:nvSpPr>
          <p:cNvPr id="18"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05</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EXPERIENCE</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One brand universe, from the screen to the door to the table.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EXPRESSION · HOMEPAGE AND BOOKING · CONCEPT / NOT PRODUCTION ARTWORK</a:t>
            </a:r>
            <a:endParaRPr lang="en-US" sz="1200" dirty="0"/>
          </a:p>
        </p:txBody>
      </p:sp>
      <p:sp>
        <p:nvSpPr>
          <p:cNvPr id="3" name="Shape 1"/>
          <p:cNvSpPr/>
          <p:nvPr/>
        </p:nvSpPr>
        <p:spPr>
          <a:xfrm>
            <a:off x="812800" y="1203920"/>
            <a:ext cx="6756400" cy="4638080"/>
          </a:xfrm>
          <a:prstGeom prst="rect">
            <a:avLst/>
          </a:prstGeom>
          <a:solidFill>
            <a:srgbClr val="12171D"/>
          </a:solidFill>
          <a:ln/>
        </p:spPr>
        <p:txBody>
          <a:bodyPr/>
          <a:p/>
        </p:txBody>
      </p:sp>
      <p:pic>
        <p:nvPicPr>
          <p:cNvPr id="4" name="Image 0" descr="GEM signature in the homepage concept header." title="GEM signature in the homepage concept header.">    </p:cNvPr>
          <p:cNvPicPr>
            <a:picLocks noChangeAspect="1"/>
          </p:cNvPicPr>
          <p:nvPr/>
        </p:nvPicPr>
        <p:blipFill>
          <a:blip r:embed="rId1"/>
          <a:srcRect l="-355" r="-355" t="0" b="0"/>
          <a:stretch/>
        </p:blipFill>
        <p:spPr>
          <a:xfrm>
            <a:off x="1066800" y="1407120"/>
            <a:ext cx="889000" cy="279400"/>
          </a:xfrm>
          <a:prstGeom prst="rect">
            <a:avLst/>
          </a:prstGeom>
        </p:spPr>
      </p:pic>
      <p:sp>
        <p:nvSpPr>
          <p:cNvPr id="5" name="Text 2"/>
          <p:cNvSpPr/>
          <p:nvPr/>
        </p:nvSpPr>
        <p:spPr>
          <a:xfrm>
            <a:off x="4770120" y="1407120"/>
            <a:ext cx="2545080" cy="304800"/>
          </a:xfrm>
          <a:prstGeom prst="rect">
            <a:avLst/>
          </a:prstGeom>
          <a:noFill/>
          <a:ln/>
        </p:spPr>
        <p:txBody>
          <a:bodyPr wrap="square" lIns="0" tIns="0" rIns="0" bIns="0" rtlCol="0" anchor="t">
            <a:normAutofit/>
          </a:bodyPr>
          <a:lstStyle/>
          <a:p>
            <a:pPr algn="r"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STAY · DINE · CONTACT</a:t>
            </a:r>
            <a:endParaRPr lang="en-US" sz="1200" dirty="0"/>
          </a:p>
        </p:txBody>
      </p:sp>
      <p:sp>
        <p:nvSpPr>
          <p:cNvPr id="6" name="Text 3"/>
          <p:cNvSpPr/>
          <p:nvPr/>
        </p:nvSpPr>
        <p:spPr>
          <a:xfrm>
            <a:off x="1066800" y="4808240"/>
            <a:ext cx="6435852" cy="472430"/>
          </a:xfrm>
          <a:prstGeom prst="rect">
            <a:avLst/>
          </a:prstGeom>
          <a:noFill/>
          <a:ln/>
        </p:spPr>
        <p:txBody>
          <a:bodyPr wrap="square" lIns="0" tIns="0" rIns="0" bIns="0" rtlCol="0" anchor="t">
            <a:normAutofit/>
          </a:bodyPr>
          <a:lstStyle/>
          <a:p>
            <a:pPr algn="l" indent="0" marL="0">
              <a:lnSpc>
                <a:spcPts val="3520"/>
              </a:lnSpc>
              <a:buNone/>
            </a:pPr>
            <a:r>
              <a:rPr lang="en-US" sz="3200" spc="130" kern="0" dirty="0">
                <a:solidFill>
                  <a:srgbClr val="FFFFFF"/>
                </a:solidFill>
                <a:latin typeface="Jost" pitchFamily="34" charset="0"/>
                <a:ea typeface="Jost" pitchFamily="34" charset="-122"/>
                <a:cs typeface="Jost" pitchFamily="34" charset="-120"/>
              </a:rPr>
              <a:t>A QUIET ARRIVAL</a:t>
            </a:r>
            <a:endParaRPr lang="en-US" sz="3200" dirty="0"/>
          </a:p>
        </p:txBody>
      </p:sp>
      <p:sp>
        <p:nvSpPr>
          <p:cNvPr id="7" name="Text 4"/>
          <p:cNvSpPr/>
          <p:nvPr/>
        </p:nvSpPr>
        <p:spPr>
          <a:xfrm>
            <a:off x="1066800" y="5356870"/>
            <a:ext cx="643585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[PENDING] headline and imagery</a:t>
            </a:r>
            <a:endParaRPr lang="en-US" sz="1300" dirty="0"/>
          </a:p>
        </p:txBody>
      </p:sp>
      <p:pic>
        <p:nvPicPr>
          <p:cNvPr id="8" name="Image 1" descr="Homepage concept: cropped ring behind a quiet arrival headline. Concept, not production artwork." title="Homepage concept: cropped ring behind a quiet arrival headli">    </p:cNvPr>
          <p:cNvPicPr>
            <a:picLocks noChangeAspect="1"/>
          </p:cNvPicPr>
          <p:nvPr/>
        </p:nvPicPr>
        <p:blipFill>
          <a:blip r:embed="rId2"/>
          <a:srcRect l="0" r="0" t="-3619" b="-3619"/>
          <a:stretch/>
        </p:blipFill>
        <p:spPr>
          <a:xfrm>
            <a:off x="812800" y="1203920"/>
            <a:ext cx="6756400" cy="4638080"/>
          </a:xfrm>
          <a:prstGeom prst="rect">
            <a:avLst/>
          </a:prstGeom>
        </p:spPr>
      </p:pic>
      <p:sp>
        <p:nvSpPr>
          <p:cNvPr id="9" name="Shape 5"/>
          <p:cNvSpPr/>
          <p:nvPr/>
        </p:nvSpPr>
        <p:spPr>
          <a:xfrm>
            <a:off x="7829550" y="1210270"/>
            <a:ext cx="3543300" cy="4625380"/>
          </a:xfrm>
          <a:prstGeom prst="rect">
            <a:avLst/>
          </a:prstGeom>
          <a:noFill/>
          <a:ln w="12700">
            <a:solidFill>
              <a:srgbClr val="12171D"/>
            </a:solidFill>
            <a:prstDash val="solid"/>
          </a:ln>
        </p:spPr>
        <p:txBody>
          <a:bodyPr/>
          <a:p/>
        </p:txBody>
      </p:sp>
      <p:sp>
        <p:nvSpPr>
          <p:cNvPr id="10" name="Text 6"/>
          <p:cNvSpPr/>
          <p:nvPr/>
        </p:nvSpPr>
        <p:spPr>
          <a:xfrm>
            <a:off x="8039100" y="1419820"/>
            <a:ext cx="321792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BOOKING</a:t>
            </a:r>
            <a:endParaRPr lang="en-US" sz="1200" dirty="0"/>
          </a:p>
        </p:txBody>
      </p:sp>
      <p:sp>
        <p:nvSpPr>
          <p:cNvPr id="11" name="Shape 7"/>
          <p:cNvSpPr/>
          <p:nvPr/>
        </p:nvSpPr>
        <p:spPr>
          <a:xfrm>
            <a:off x="8039100" y="2292201"/>
            <a:ext cx="3124200" cy="0"/>
          </a:xfrm>
          <a:prstGeom prst="line">
            <a:avLst/>
          </a:prstGeom>
          <a:noFill/>
          <a:ln w="12700">
            <a:solidFill>
              <a:srgbClr val="12171D"/>
            </a:solidFill>
            <a:prstDash val="solid"/>
          </a:ln>
        </p:spPr>
        <p:txBody>
          <a:bodyPr/>
          <a:p/>
        </p:txBody>
      </p:sp>
      <p:sp>
        <p:nvSpPr>
          <p:cNvPr id="12" name="Text 8"/>
          <p:cNvSpPr/>
          <p:nvPr/>
        </p:nvSpPr>
        <p:spPr>
          <a:xfrm>
            <a:off x="8039100" y="1760141"/>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Dates</a:t>
            </a:r>
            <a:endParaRPr lang="en-US" sz="1200" dirty="0"/>
          </a:p>
        </p:txBody>
      </p:sp>
      <p:sp>
        <p:nvSpPr>
          <p:cNvPr id="13" name="Text 9"/>
          <p:cNvSpPr/>
          <p:nvPr/>
        </p:nvSpPr>
        <p:spPr>
          <a:xfrm>
            <a:off x="8039100" y="1973461"/>
            <a:ext cx="32179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4" name="Shape 10"/>
          <p:cNvSpPr/>
          <p:nvPr/>
        </p:nvSpPr>
        <p:spPr>
          <a:xfrm>
            <a:off x="8039100" y="2957612"/>
            <a:ext cx="3124200" cy="0"/>
          </a:xfrm>
          <a:prstGeom prst="line">
            <a:avLst/>
          </a:prstGeom>
          <a:noFill/>
          <a:ln w="12700">
            <a:solidFill>
              <a:srgbClr val="12171D"/>
            </a:solidFill>
            <a:prstDash val="solid"/>
          </a:ln>
        </p:spPr>
        <p:txBody>
          <a:bodyPr/>
          <a:p/>
        </p:txBody>
      </p:sp>
      <p:sp>
        <p:nvSpPr>
          <p:cNvPr id="15" name="Text 11"/>
          <p:cNvSpPr/>
          <p:nvPr/>
        </p:nvSpPr>
        <p:spPr>
          <a:xfrm>
            <a:off x="8039100" y="2425551"/>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Guests</a:t>
            </a:r>
            <a:endParaRPr lang="en-US" sz="1200" dirty="0"/>
          </a:p>
        </p:txBody>
      </p:sp>
      <p:sp>
        <p:nvSpPr>
          <p:cNvPr id="16" name="Text 12"/>
          <p:cNvSpPr/>
          <p:nvPr/>
        </p:nvSpPr>
        <p:spPr>
          <a:xfrm>
            <a:off x="8039100" y="2638871"/>
            <a:ext cx="32179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7" name="Text 13"/>
          <p:cNvSpPr/>
          <p:nvPr/>
        </p:nvSpPr>
        <p:spPr>
          <a:xfrm>
            <a:off x="8039100" y="3090962"/>
            <a:ext cx="3124200" cy="459730"/>
          </a:xfrm>
          <a:prstGeom prst="rect">
            <a:avLst/>
          </a:prstGeom>
          <a:solidFill>
            <a:srgbClr val="12171D"/>
          </a:solidFill>
          <a:ln/>
        </p:spPr>
        <p:txBody>
          <a:bodyPr wrap="square" lIns="152400" tIns="114300" rIns="67818" bIns="88900" rtlCol="0" anchor="t">
            <a:normAutofit/>
          </a:bodyPr>
          <a:lstStyle/>
          <a:p>
            <a:pPr algn="l" indent="0" marL="0">
              <a:lnSpc>
                <a:spcPts val="1820"/>
              </a:lnSpc>
              <a:buNone/>
            </a:pPr>
            <a:r>
              <a:rPr lang="en-US" sz="1300" spc="80" kern="0" dirty="0">
                <a:solidFill>
                  <a:srgbClr val="FFFFFF"/>
                </a:solidFill>
                <a:latin typeface="Inter" pitchFamily="34" charset="0"/>
                <a:ea typeface="Inter" pitchFamily="34" charset="-122"/>
                <a:cs typeface="Inter" pitchFamily="34" charset="-120"/>
              </a:rPr>
              <a:t>CHECK AVAILABILITY</a:t>
            </a:r>
            <a:endParaRPr lang="en-US" sz="1300" dirty="0"/>
          </a:p>
        </p:txBody>
      </p:sp>
      <p:sp>
        <p:nvSpPr>
          <p:cNvPr id="18" name="Text 14"/>
          <p:cNvSpPr/>
          <p:nvPr/>
        </p:nvSpPr>
        <p:spPr>
          <a:xfrm>
            <a:off x="8039100" y="3677692"/>
            <a:ext cx="3217926" cy="452041"/>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Near-square edges (control radius per Part B), hairline fields, one clear action.</a:t>
            </a:r>
            <a:endParaRPr lang="en-US" sz="12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EXPERIENCE · DIGITAL</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DIGITAL EXPRESSION · MOBILE, CONCIERGE, B2B · CONCEPT / NOT PRODUCTION ARTWORK</a:t>
            </a:r>
            <a:endParaRPr lang="en-US" sz="1200" dirty="0"/>
          </a:p>
        </p:txBody>
      </p:sp>
      <p:sp>
        <p:nvSpPr>
          <p:cNvPr id="3" name="Shape 1"/>
          <p:cNvSpPr/>
          <p:nvPr/>
        </p:nvSpPr>
        <p:spPr>
          <a:xfrm>
            <a:off x="812800" y="1203920"/>
            <a:ext cx="2413000" cy="4638080"/>
          </a:xfrm>
          <a:prstGeom prst="rect">
            <a:avLst/>
          </a:prstGeom>
          <a:solidFill>
            <a:srgbClr val="FFFFFF"/>
          </a:solidFill>
          <a:ln/>
        </p:spPr>
        <p:txBody>
          <a:bodyPr/>
          <a:p/>
        </p:txBody>
      </p:sp>
      <p:sp>
        <p:nvSpPr>
          <p:cNvPr id="4" name="Text 2"/>
          <p:cNvSpPr/>
          <p:nvPr/>
        </p:nvSpPr>
        <p:spPr>
          <a:xfrm>
            <a:off x="990600" y="1381720"/>
            <a:ext cx="211912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MOBILE · ROOMS</a:t>
            </a:r>
            <a:endParaRPr lang="en-US" sz="1200" dirty="0"/>
          </a:p>
        </p:txBody>
      </p:sp>
      <p:sp>
        <p:nvSpPr>
          <p:cNvPr id="5" name="Text 3"/>
          <p:cNvSpPr/>
          <p:nvPr/>
        </p:nvSpPr>
        <p:spPr>
          <a:xfrm>
            <a:off x="990600" y="1683941"/>
            <a:ext cx="2235200" cy="304800"/>
          </a:xfrm>
          <a:prstGeom prst="rect">
            <a:avLst/>
          </a:prstGeom>
          <a:noFill/>
          <a:ln/>
        </p:spPr>
        <p:txBody>
          <a:bodyPr wrap="square" lIns="0" tIns="0" rIns="0" bIns="0" rtlCol="0" anchor="t">
            <a:normAutofit/>
          </a:bodyPr>
          <a:lstStyle/>
          <a:p>
            <a:pPr algn="l" indent="0" marL="0">
              <a:lnSpc>
                <a:spcPts val="2200"/>
              </a:lnSpc>
              <a:buNone/>
            </a:pPr>
            <a:r>
              <a:rPr lang="en-US" sz="2000" dirty="0">
                <a:solidFill>
                  <a:srgbClr val="12171D"/>
                </a:solidFill>
                <a:latin typeface="Jost" pitchFamily="34" charset="0"/>
                <a:ea typeface="Jost" pitchFamily="34" charset="-122"/>
                <a:cs typeface="Jost" pitchFamily="34" charset="-120"/>
              </a:rPr>
              <a:t>Choose your room</a:t>
            </a:r>
            <a:endParaRPr lang="en-US" sz="2000" dirty="0"/>
          </a:p>
        </p:txBody>
      </p:sp>
      <p:sp>
        <p:nvSpPr>
          <p:cNvPr id="6" name="Text 4"/>
          <p:cNvSpPr/>
          <p:nvPr/>
        </p:nvSpPr>
        <p:spPr>
          <a:xfrm>
            <a:off x="996950" y="2058591"/>
            <a:ext cx="2044700" cy="447030"/>
          </a:xfrm>
          <a:prstGeom prst="rect">
            <a:avLst/>
          </a:prstGeom>
          <a:noFill/>
          <a:ln w="12700">
            <a:solidFill>
              <a:srgbClr val="12171D"/>
            </a:solidFill>
            <a:prstDash val="solid"/>
          </a:ln>
        </p:spPr>
        <p:txBody>
          <a:bodyPr wrap="square" lIns="107950" tIns="107950" rIns="53086"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Room type [PENDING]</a:t>
            </a:r>
            <a:endParaRPr lang="en-US" sz="1300" dirty="0"/>
          </a:p>
        </p:txBody>
      </p:sp>
      <p:sp>
        <p:nvSpPr>
          <p:cNvPr id="7" name="Text 5"/>
          <p:cNvSpPr/>
          <p:nvPr/>
        </p:nvSpPr>
        <p:spPr>
          <a:xfrm>
            <a:off x="996950" y="2607221"/>
            <a:ext cx="2044700" cy="447030"/>
          </a:xfrm>
          <a:prstGeom prst="rect">
            <a:avLst/>
          </a:prstGeom>
          <a:noFill/>
          <a:ln w="12700">
            <a:solidFill>
              <a:srgbClr val="BCACA7"/>
            </a:solidFill>
            <a:prstDash val="solid"/>
          </a:ln>
        </p:spPr>
        <p:txBody>
          <a:bodyPr wrap="square" lIns="107950" tIns="107950" rIns="53086"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Room type [PENDING]</a:t>
            </a:r>
            <a:endParaRPr lang="en-US" sz="1300" dirty="0"/>
          </a:p>
        </p:txBody>
      </p:sp>
      <p:sp>
        <p:nvSpPr>
          <p:cNvPr id="8" name="Text 6"/>
          <p:cNvSpPr/>
          <p:nvPr/>
        </p:nvSpPr>
        <p:spPr>
          <a:xfrm>
            <a:off x="990600" y="5247680"/>
            <a:ext cx="2057400" cy="416520"/>
          </a:xfrm>
          <a:prstGeom prst="rect">
            <a:avLst/>
          </a:prstGeom>
          <a:solidFill>
            <a:srgbClr val="12171D"/>
          </a:solidFill>
          <a:ln/>
        </p:spPr>
        <p:txBody>
          <a:bodyPr wrap="square" lIns="101600" tIns="101600" rIns="45974" bIns="76200" rtlCol="0" anchor="t">
            <a:normAutofit/>
          </a:bodyPr>
          <a:lstStyle/>
          <a:p>
            <a:pPr algn="l" indent="0" marL="0">
              <a:lnSpc>
                <a:spcPts val="1680"/>
              </a:lnSpc>
              <a:buNone/>
            </a:pPr>
            <a:r>
              <a:rPr lang="en-US" sz="1200" spc="70" kern="0" dirty="0">
                <a:solidFill>
                  <a:srgbClr val="FFFFFF"/>
                </a:solidFill>
                <a:latin typeface="Inter" pitchFamily="34" charset="0"/>
                <a:ea typeface="Inter" pitchFamily="34" charset="-122"/>
                <a:cs typeface="Inter" pitchFamily="34" charset="-120"/>
              </a:rPr>
              <a:t>CONTINUE</a:t>
            </a:r>
            <a:endParaRPr lang="en-US" sz="1200" dirty="0"/>
          </a:p>
        </p:txBody>
      </p:sp>
      <p:sp>
        <p:nvSpPr>
          <p:cNvPr id="9" name="Shape 7"/>
          <p:cNvSpPr/>
          <p:nvPr/>
        </p:nvSpPr>
        <p:spPr>
          <a:xfrm>
            <a:off x="3429000" y="1203920"/>
            <a:ext cx="4445000" cy="4638080"/>
          </a:xfrm>
          <a:prstGeom prst="rect">
            <a:avLst/>
          </a:prstGeom>
          <a:solidFill>
            <a:srgbClr val="BCACA7"/>
          </a:solidFill>
          <a:ln/>
        </p:spPr>
        <p:txBody>
          <a:bodyPr/>
          <a:p/>
        </p:txBody>
      </p:sp>
      <p:sp>
        <p:nvSpPr>
          <p:cNvPr id="10" name="Text 8"/>
          <p:cNvSpPr/>
          <p:nvPr/>
        </p:nvSpPr>
        <p:spPr>
          <a:xfrm>
            <a:off x="3657600" y="1432520"/>
            <a:ext cx="410743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CONCIERGE · RESERVATION</a:t>
            </a:r>
            <a:endParaRPr lang="en-US" sz="1200" dirty="0"/>
          </a:p>
        </p:txBody>
      </p:sp>
      <p:sp>
        <p:nvSpPr>
          <p:cNvPr id="11" name="Text 9"/>
          <p:cNvSpPr/>
          <p:nvPr/>
        </p:nvSpPr>
        <p:spPr>
          <a:xfrm>
            <a:off x="3657600" y="1747441"/>
            <a:ext cx="3175000" cy="451445"/>
          </a:xfrm>
          <a:prstGeom prst="rect">
            <a:avLst/>
          </a:prstGeom>
          <a:solidFill>
            <a:srgbClr val="FFFFFF"/>
          </a:solidFill>
          <a:ln/>
        </p:spPr>
        <p:txBody>
          <a:bodyPr wrap="square" lIns="139700" tIns="114300" rIns="52832" bIns="8890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How may we help with your stay?</a:t>
            </a:r>
            <a:endParaRPr lang="en-US" sz="1300" dirty="0"/>
          </a:p>
        </p:txBody>
      </p:sp>
      <p:sp>
        <p:nvSpPr>
          <p:cNvPr id="12" name="Text 10"/>
          <p:cNvSpPr/>
          <p:nvPr/>
        </p:nvSpPr>
        <p:spPr>
          <a:xfrm>
            <a:off x="4978400" y="2300486"/>
            <a:ext cx="2667000" cy="451445"/>
          </a:xfrm>
          <a:prstGeom prst="rect">
            <a:avLst/>
          </a:prstGeom>
          <a:solidFill>
            <a:srgbClr val="12171D"/>
          </a:solidFill>
          <a:ln/>
        </p:spPr>
        <p:txBody>
          <a:bodyPr wrap="square" lIns="139700" tIns="114300" rIns="68072" bIns="8890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[GUEST MESSAGE]</a:t>
            </a:r>
            <a:endParaRPr lang="en-US" sz="1300" dirty="0"/>
          </a:p>
        </p:txBody>
      </p:sp>
      <p:sp>
        <p:nvSpPr>
          <p:cNvPr id="13" name="Text 11"/>
          <p:cNvSpPr/>
          <p:nvPr/>
        </p:nvSpPr>
        <p:spPr>
          <a:xfrm>
            <a:off x="3657600" y="5041950"/>
            <a:ext cx="410743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CONFIRMED</a:t>
            </a:r>
            <a:endParaRPr lang="en-US" sz="1200" dirty="0"/>
          </a:p>
        </p:txBody>
      </p:sp>
      <p:sp>
        <p:nvSpPr>
          <p:cNvPr id="14" name="Text 12"/>
          <p:cNvSpPr/>
          <p:nvPr/>
        </p:nvSpPr>
        <p:spPr>
          <a:xfrm>
            <a:off x="3657600" y="5293370"/>
            <a:ext cx="410743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12171D"/>
                </a:solidFill>
                <a:latin typeface="Jost" pitchFamily="34" charset="0"/>
                <a:ea typeface="Jost" pitchFamily="34" charset="-122"/>
                <a:cs typeface="Jost" pitchFamily="34" charset="-120"/>
              </a:rPr>
              <a:t>Your reservation is set.</a:t>
            </a:r>
            <a:endParaRPr lang="en-US" sz="1800" dirty="0"/>
          </a:p>
        </p:txBody>
      </p:sp>
      <p:sp>
        <p:nvSpPr>
          <p:cNvPr id="15" name="Shape 13"/>
          <p:cNvSpPr/>
          <p:nvPr/>
        </p:nvSpPr>
        <p:spPr>
          <a:xfrm>
            <a:off x="8077200" y="1203920"/>
            <a:ext cx="3302000" cy="4638080"/>
          </a:xfrm>
          <a:prstGeom prst="rect">
            <a:avLst/>
          </a:prstGeom>
          <a:solidFill>
            <a:srgbClr val="FFFFFF"/>
          </a:solidFill>
          <a:ln/>
        </p:spPr>
        <p:txBody>
          <a:bodyPr/>
          <a:p/>
        </p:txBody>
      </p:sp>
      <p:sp>
        <p:nvSpPr>
          <p:cNvPr id="16" name="Text 14"/>
          <p:cNvSpPr/>
          <p:nvPr/>
        </p:nvSpPr>
        <p:spPr>
          <a:xfrm>
            <a:off x="8305800" y="1432520"/>
            <a:ext cx="293014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B2B ENQUIRY</a:t>
            </a:r>
            <a:endParaRPr lang="en-US" sz="1200" dirty="0"/>
          </a:p>
        </p:txBody>
      </p:sp>
      <p:sp>
        <p:nvSpPr>
          <p:cNvPr id="17" name="Text 15"/>
          <p:cNvSpPr/>
          <p:nvPr/>
        </p:nvSpPr>
        <p:spPr>
          <a:xfrm>
            <a:off x="8305800" y="1747441"/>
            <a:ext cx="2930144" cy="584200"/>
          </a:xfrm>
          <a:prstGeom prst="rect">
            <a:avLst/>
          </a:prstGeom>
          <a:noFill/>
          <a:ln/>
        </p:spPr>
        <p:txBody>
          <a:bodyPr wrap="square" lIns="0" tIns="0" rIns="0" bIns="0" rtlCol="0" anchor="t">
            <a:normAutofit/>
          </a:bodyPr>
          <a:lstStyle/>
          <a:p>
            <a:pPr algn="l" indent="0" marL="0">
              <a:lnSpc>
                <a:spcPts val="2200"/>
              </a:lnSpc>
              <a:buNone/>
            </a:pPr>
            <a:r>
              <a:rPr lang="en-US" sz="2000" dirty="0">
                <a:solidFill>
                  <a:srgbClr val="12171D"/>
                </a:solidFill>
                <a:latin typeface="Jost" pitchFamily="34" charset="0"/>
                <a:ea typeface="Jost" pitchFamily="34" charset="-122"/>
                <a:cs typeface="Jost" pitchFamily="34" charset="-120"/>
              </a:rPr>
              <a:t>GEM™ — Amenities &amp; Packaging</a:t>
            </a:r>
            <a:endParaRPr lang="en-US" sz="2000" dirty="0"/>
          </a:p>
        </p:txBody>
      </p:sp>
      <p:sp>
        <p:nvSpPr>
          <p:cNvPr id="18" name="Shape 16"/>
          <p:cNvSpPr/>
          <p:nvPr/>
        </p:nvSpPr>
        <p:spPr>
          <a:xfrm>
            <a:off x="8305800" y="2678311"/>
            <a:ext cx="2844800" cy="0"/>
          </a:xfrm>
          <a:prstGeom prst="line">
            <a:avLst/>
          </a:prstGeom>
          <a:noFill/>
          <a:ln w="12700">
            <a:solidFill>
              <a:srgbClr val="12171D"/>
            </a:solidFill>
            <a:prstDash val="solid"/>
          </a:ln>
        </p:spPr>
        <p:txBody>
          <a:bodyPr/>
          <a:p/>
        </p:txBody>
      </p:sp>
      <p:sp>
        <p:nvSpPr>
          <p:cNvPr id="19" name="Text 17"/>
          <p:cNvSpPr/>
          <p:nvPr/>
        </p:nvSpPr>
        <p:spPr>
          <a:xfrm>
            <a:off x="8305800" y="240784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Property name</a:t>
            </a:r>
            <a:endParaRPr lang="en-US" sz="1200" dirty="0"/>
          </a:p>
        </p:txBody>
      </p:sp>
      <p:sp>
        <p:nvSpPr>
          <p:cNvPr id="20" name="Shape 18"/>
          <p:cNvSpPr/>
          <p:nvPr/>
        </p:nvSpPr>
        <p:spPr>
          <a:xfrm>
            <a:off x="8305800" y="3056731"/>
            <a:ext cx="2844800" cy="0"/>
          </a:xfrm>
          <a:prstGeom prst="line">
            <a:avLst/>
          </a:prstGeom>
          <a:noFill/>
          <a:ln w="12700">
            <a:solidFill>
              <a:srgbClr val="12171D"/>
            </a:solidFill>
            <a:prstDash val="solid"/>
          </a:ln>
        </p:spPr>
        <p:txBody>
          <a:bodyPr/>
          <a:p/>
        </p:txBody>
      </p:sp>
      <p:sp>
        <p:nvSpPr>
          <p:cNvPr id="21" name="Text 19"/>
          <p:cNvSpPr/>
          <p:nvPr/>
        </p:nvSpPr>
        <p:spPr>
          <a:xfrm>
            <a:off x="8305800" y="278626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Programme interest</a:t>
            </a:r>
            <a:endParaRPr lang="en-US" sz="1200" dirty="0"/>
          </a:p>
        </p:txBody>
      </p:sp>
      <p:sp>
        <p:nvSpPr>
          <p:cNvPr id="22" name="Text 20"/>
          <p:cNvSpPr/>
          <p:nvPr/>
        </p:nvSpPr>
        <p:spPr>
          <a:xfrm>
            <a:off x="8305800" y="5196880"/>
            <a:ext cx="2844800" cy="416520"/>
          </a:xfrm>
          <a:prstGeom prst="rect">
            <a:avLst/>
          </a:prstGeom>
          <a:solidFill>
            <a:srgbClr val="12171D"/>
          </a:solidFill>
          <a:ln/>
        </p:spPr>
        <p:txBody>
          <a:bodyPr wrap="square" lIns="101600" tIns="101600" rIns="22352" bIns="76200" rtlCol="0" anchor="t">
            <a:normAutofit/>
          </a:bodyPr>
          <a:lstStyle/>
          <a:p>
            <a:pPr algn="l" indent="0" marL="0">
              <a:lnSpc>
                <a:spcPts val="1680"/>
              </a:lnSpc>
              <a:buNone/>
            </a:pPr>
            <a:r>
              <a:rPr lang="en-US" sz="1200" spc="70" kern="0" dirty="0">
                <a:solidFill>
                  <a:srgbClr val="FFFFFF"/>
                </a:solidFill>
                <a:latin typeface="Inter" pitchFamily="34" charset="0"/>
                <a:ea typeface="Inter" pitchFamily="34" charset="-122"/>
                <a:cs typeface="Inter" pitchFamily="34" charset="-120"/>
              </a:rPr>
              <a:t>SEND ENQUIRY</a:t>
            </a:r>
            <a:endParaRPr lang="en-US" sz="1200" dirty="0"/>
          </a:p>
        </p:txBody>
      </p:sp>
      <p:sp>
        <p:nvSpPr>
          <p:cNvPr id="23" name="Text 2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EXPERIENCE · DIGITAL</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GUEST EXPERIENCE · THE JOURNEY</a:t>
            </a:r>
            <a:endParaRPr lang="en-US" sz="1200" dirty="0"/>
          </a:p>
        </p:txBody>
      </p:sp>
      <p:sp>
        <p:nvSpPr>
          <p:cNvPr id="3" name="Text 1"/>
          <p:cNvSpPr/>
          <p:nvPr>
            <p:ph type="title"/>
          </p:nvPr>
        </p:nvSpPr>
        <p:spPr>
          <a:xfrm>
            <a:off x="812800" y="1178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SIX MOMENTS. ONE BRAND.</a:t>
            </a:r>
            <a:endParaRPr lang="en-US" sz="3200" dirty="0"/>
          </a:p>
        </p:txBody>
      </p:sp>
      <p:pic>
        <p:nvPicPr>
          <p:cNvPr id="4" name="Image 0" descr="Guest journey timeline with six moments." title="Guest journey timeline with six moments.">    </p:cNvPr>
          <p:cNvPicPr>
            <a:picLocks noChangeAspect="1"/>
          </p:cNvPicPr>
          <p:nvPr/>
        </p:nvPicPr>
        <p:blipFill>
          <a:blip r:embed="rId1"/>
          <a:srcRect l="0" r="0" t="-236" b="-236"/>
          <a:stretch/>
        </p:blipFill>
        <p:spPr>
          <a:xfrm>
            <a:off x="812800" y="3036292"/>
            <a:ext cx="10566400" cy="254000"/>
          </a:xfrm>
          <a:prstGeom prst="rect">
            <a:avLst/>
          </a:prstGeom>
        </p:spPr>
      </p:pic>
      <p:sp>
        <p:nvSpPr>
          <p:cNvPr id="5" name="Text 2"/>
          <p:cNvSpPr/>
          <p:nvPr/>
        </p:nvSpPr>
        <p:spPr>
          <a:xfrm>
            <a:off x="812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ARRIVAL</a:t>
            </a:r>
            <a:endParaRPr lang="en-US" sz="1600" dirty="0"/>
          </a:p>
        </p:txBody>
      </p:sp>
      <p:sp>
        <p:nvSpPr>
          <p:cNvPr id="6" name="Text 3"/>
          <p:cNvSpPr/>
          <p:nvPr/>
        </p:nvSpPr>
        <p:spPr>
          <a:xfrm>
            <a:off x="812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Key card, welcome, digital check-in</a:t>
            </a:r>
            <a:endParaRPr lang="en-US" sz="1200" dirty="0"/>
          </a:p>
        </p:txBody>
      </p:sp>
      <p:sp>
        <p:nvSpPr>
          <p:cNvPr id="7" name="Text 4"/>
          <p:cNvSpPr/>
          <p:nvPr/>
        </p:nvSpPr>
        <p:spPr>
          <a:xfrm>
            <a:off x="2590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STAY</a:t>
            </a:r>
            <a:endParaRPr lang="en-US" sz="1600" dirty="0"/>
          </a:p>
        </p:txBody>
      </p:sp>
      <p:sp>
        <p:nvSpPr>
          <p:cNvPr id="8" name="Text 5"/>
          <p:cNvSpPr/>
          <p:nvPr/>
        </p:nvSpPr>
        <p:spPr>
          <a:xfrm>
            <a:off x="2590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Room card, door hanger, amenities</a:t>
            </a:r>
            <a:endParaRPr lang="en-US" sz="1200" dirty="0"/>
          </a:p>
        </p:txBody>
      </p:sp>
      <p:sp>
        <p:nvSpPr>
          <p:cNvPr id="9" name="Text 6"/>
          <p:cNvSpPr/>
          <p:nvPr/>
        </p:nvSpPr>
        <p:spPr>
          <a:xfrm>
            <a:off x="4368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DINING</a:t>
            </a:r>
            <a:endParaRPr lang="en-US" sz="1600" dirty="0"/>
          </a:p>
        </p:txBody>
      </p:sp>
      <p:sp>
        <p:nvSpPr>
          <p:cNvPr id="10" name="Text 7"/>
          <p:cNvSpPr/>
          <p:nvPr/>
        </p:nvSpPr>
        <p:spPr>
          <a:xfrm>
            <a:off x="4368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Menu, table, reservation</a:t>
            </a:r>
            <a:endParaRPr lang="en-US" sz="1200" dirty="0"/>
          </a:p>
        </p:txBody>
      </p:sp>
      <p:sp>
        <p:nvSpPr>
          <p:cNvPr id="11" name="Text 8"/>
          <p:cNvSpPr/>
          <p:nvPr/>
        </p:nvSpPr>
        <p:spPr>
          <a:xfrm>
            <a:off x="6146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SERVICE</a:t>
            </a:r>
            <a:endParaRPr lang="en-US" sz="1600" dirty="0"/>
          </a:p>
        </p:txBody>
      </p:sp>
      <p:sp>
        <p:nvSpPr>
          <p:cNvPr id="12" name="Text 9"/>
          <p:cNvSpPr/>
          <p:nvPr/>
        </p:nvSpPr>
        <p:spPr>
          <a:xfrm>
            <a:off x="6146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Requests, recovery, concierge</a:t>
            </a:r>
            <a:endParaRPr lang="en-US" sz="1200" dirty="0"/>
          </a:p>
        </p:txBody>
      </p:sp>
      <p:sp>
        <p:nvSpPr>
          <p:cNvPr id="13" name="Text 10"/>
          <p:cNvSpPr/>
          <p:nvPr/>
        </p:nvSpPr>
        <p:spPr>
          <a:xfrm>
            <a:off x="7924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DEPARTURE</a:t>
            </a:r>
            <a:endParaRPr lang="en-US" sz="1600" dirty="0"/>
          </a:p>
        </p:txBody>
      </p:sp>
      <p:sp>
        <p:nvSpPr>
          <p:cNvPr id="14" name="Text 11"/>
          <p:cNvSpPr/>
          <p:nvPr/>
        </p:nvSpPr>
        <p:spPr>
          <a:xfrm>
            <a:off x="7924800" y="3765252"/>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Folio, farewell note</a:t>
            </a:r>
            <a:endParaRPr lang="en-US" sz="1200" dirty="0"/>
          </a:p>
        </p:txBody>
      </p:sp>
      <p:sp>
        <p:nvSpPr>
          <p:cNvPr id="15" name="Text 12"/>
          <p:cNvSpPr/>
          <p:nvPr/>
        </p:nvSpPr>
        <p:spPr>
          <a:xfrm>
            <a:off x="9702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RETURN</a:t>
            </a:r>
            <a:endParaRPr lang="en-US" sz="1600" dirty="0"/>
          </a:p>
        </p:txBody>
      </p:sp>
      <p:sp>
        <p:nvSpPr>
          <p:cNvPr id="16" name="Text 13"/>
          <p:cNvSpPr/>
          <p:nvPr/>
        </p:nvSpPr>
        <p:spPr>
          <a:xfrm>
            <a:off x="9702800" y="3765252"/>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Follow-up, invitation</a:t>
            </a:r>
            <a:endParaRPr lang="en-US" sz="1200" dirty="0"/>
          </a:p>
        </p:txBody>
      </p:sp>
      <p:sp>
        <p:nvSpPr>
          <p:cNvPr id="17" name="Text 14"/>
          <p:cNvSpPr/>
          <p:nvPr/>
        </p:nvSpPr>
        <p:spPr>
          <a:xfrm>
            <a:off x="812800" y="5602635"/>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Every touchpoint, physical or digital, uses the same colour, type, geometry and voice.</a:t>
            </a:r>
            <a:endParaRPr lang="en-US" sz="1300" dirty="0"/>
          </a:p>
        </p:txBody>
      </p:sp>
      <p:sp>
        <p:nvSpPr>
          <p:cNvPr id="18"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EXPERIENCE · JOURNEY</a:t>
            </a:r>
            <a:endParaRPr lang="en-US" sz="1200" dirty="0"/>
          </a:p>
        </p:txBody>
      </p:sp>
      <p:sp>
        <p:nvSpPr>
          <p:cNvPr id="19"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ARRIVAL · KEY CARD, SLEEVE, WELCOME, DIGITAL · CONCEPT / NOT PRODUCTION ARTWORK</a:t>
            </a:r>
            <a:endParaRPr lang="en-US" sz="1200" dirty="0"/>
          </a:p>
        </p:txBody>
      </p:sp>
      <p:sp>
        <p:nvSpPr>
          <p:cNvPr id="3" name="Shape 1"/>
          <p:cNvSpPr/>
          <p:nvPr/>
        </p:nvSpPr>
        <p:spPr>
          <a:xfrm>
            <a:off x="812800" y="1203920"/>
            <a:ext cx="3302000" cy="2095500"/>
          </a:xfrm>
          <a:prstGeom prst="rect">
            <a:avLst/>
          </a:prstGeom>
          <a:solidFill>
            <a:srgbClr val="12171D"/>
          </a:solidFill>
          <a:ln/>
        </p:spPr>
        <p:txBody>
          <a:bodyPr/>
          <a:p/>
        </p:txBody>
      </p:sp>
      <p:pic>
        <p:nvPicPr>
          <p:cNvPr id="4" name="Image 0" descr="Key card concept with a cropped ring. Concept, not production artwork." title="Key card concept with a cropped ring. Concept, not productio">    </p:cNvPr>
          <p:cNvPicPr>
            <a:picLocks noChangeAspect="1"/>
          </p:cNvPicPr>
          <p:nvPr/>
        </p:nvPicPr>
        <p:blipFill>
          <a:blip r:embed="rId1"/>
          <a:srcRect l="0" r="0" t="0" b="0"/>
          <a:stretch/>
        </p:blipFill>
        <p:spPr>
          <a:xfrm>
            <a:off x="812800" y="1203920"/>
            <a:ext cx="3302000" cy="2095500"/>
          </a:xfrm>
          <a:prstGeom prst="rect">
            <a:avLst/>
          </a:prstGeom>
        </p:spPr>
      </p:pic>
      <p:pic>
        <p:nvPicPr>
          <p:cNvPr id="5" name="Image 1" descr="GEM signature on the key card concept." title="GEM signature on the key card concept.">    </p:cNvPr>
          <p:cNvPicPr>
            <a:picLocks noChangeAspect="1"/>
          </p:cNvPicPr>
          <p:nvPr/>
        </p:nvPicPr>
        <p:blipFill>
          <a:blip r:embed="rId2"/>
          <a:srcRect l="-642" r="-642" t="0" b="0"/>
          <a:stretch/>
        </p:blipFill>
        <p:spPr>
          <a:xfrm>
            <a:off x="1016000" y="1407120"/>
            <a:ext cx="1016000" cy="317500"/>
          </a:xfrm>
          <a:prstGeom prst="rect">
            <a:avLst/>
          </a:prstGeom>
        </p:spPr>
      </p:pic>
      <p:sp>
        <p:nvSpPr>
          <p:cNvPr id="6" name="Text 2"/>
          <p:cNvSpPr/>
          <p:nvPr/>
        </p:nvSpPr>
        <p:spPr>
          <a:xfrm>
            <a:off x="1016000" y="2908300"/>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KEY CARD</a:t>
            </a:r>
            <a:endParaRPr lang="en-US" sz="1200" dirty="0"/>
          </a:p>
        </p:txBody>
      </p:sp>
      <p:sp>
        <p:nvSpPr>
          <p:cNvPr id="7" name="Shape 3"/>
          <p:cNvSpPr/>
          <p:nvPr/>
        </p:nvSpPr>
        <p:spPr>
          <a:xfrm>
            <a:off x="4318000" y="2475210"/>
            <a:ext cx="2540000" cy="1270000"/>
          </a:xfrm>
          <a:prstGeom prst="rect">
            <a:avLst/>
          </a:prstGeom>
          <a:solidFill>
            <a:srgbClr val="BCACA7"/>
          </a:solidFill>
          <a:ln/>
        </p:spPr>
        <p:txBody>
          <a:bodyPr/>
          <a:p/>
        </p:txBody>
      </p:sp>
      <p:sp>
        <p:nvSpPr>
          <p:cNvPr id="8" name="Text 4"/>
          <p:cNvSpPr/>
          <p:nvPr/>
        </p:nvSpPr>
        <p:spPr>
          <a:xfrm>
            <a:off x="4470400" y="3166170"/>
            <a:ext cx="230225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KEY SLEEVE</a:t>
            </a:r>
            <a:endParaRPr lang="en-US" sz="1200" dirty="0"/>
          </a:p>
        </p:txBody>
      </p:sp>
      <p:sp>
        <p:nvSpPr>
          <p:cNvPr id="9" name="Text 5"/>
          <p:cNvSpPr/>
          <p:nvPr/>
        </p:nvSpPr>
        <p:spPr>
          <a:xfrm>
            <a:off x="4470400" y="3379490"/>
            <a:ext cx="23022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Room number [PENDING]</a:t>
            </a:r>
            <a:endParaRPr lang="en-US" sz="1200" dirty="0"/>
          </a:p>
        </p:txBody>
      </p:sp>
      <p:sp>
        <p:nvSpPr>
          <p:cNvPr id="10" name="Text 6"/>
          <p:cNvSpPr/>
          <p:nvPr/>
        </p:nvSpPr>
        <p:spPr>
          <a:xfrm>
            <a:off x="4324350" y="3878560"/>
            <a:ext cx="2527300" cy="685800"/>
          </a:xfrm>
          <a:prstGeom prst="rect">
            <a:avLst/>
          </a:prstGeom>
          <a:solidFill>
            <a:srgbClr val="FFFFFF"/>
          </a:solidFill>
          <a:ln w="12700">
            <a:solidFill>
              <a:srgbClr val="12171D"/>
            </a:solidFill>
            <a:prstDash val="solid"/>
          </a:ln>
        </p:spPr>
        <p:txBody>
          <a:bodyPr wrap="square" lIns="158750" tIns="6350" rIns="92456" bIns="6350" rtlCol="0" anchor="ctr">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RESERVATION</a:t>
            </a:r>
            <a:endParaRPr lang="en-US" sz="1200" dirty="0"/>
          </a:p>
        </p:txBody>
      </p:sp>
      <p:sp>
        <p:nvSpPr>
          <p:cNvPr id="11" name="Shape 7"/>
          <p:cNvSpPr/>
          <p:nvPr/>
        </p:nvSpPr>
        <p:spPr>
          <a:xfrm>
            <a:off x="7067550" y="2195810"/>
            <a:ext cx="4305300" cy="2654300"/>
          </a:xfrm>
          <a:prstGeom prst="rect">
            <a:avLst/>
          </a:prstGeom>
          <a:noFill/>
          <a:ln w="12700">
            <a:solidFill>
              <a:srgbClr val="12171D"/>
            </a:solidFill>
            <a:prstDash val="solid"/>
          </a:ln>
        </p:spPr>
        <p:txBody>
          <a:bodyPr/>
          <a:p/>
        </p:txBody>
      </p:sp>
      <p:sp>
        <p:nvSpPr>
          <p:cNvPr id="12" name="Text 8"/>
          <p:cNvSpPr/>
          <p:nvPr/>
        </p:nvSpPr>
        <p:spPr>
          <a:xfrm>
            <a:off x="7302500" y="243076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WELCOME CARD</a:t>
            </a:r>
            <a:endParaRPr lang="en-US" sz="1200" dirty="0"/>
          </a:p>
        </p:txBody>
      </p:sp>
      <p:sp>
        <p:nvSpPr>
          <p:cNvPr id="13" name="Text 9"/>
          <p:cNvSpPr/>
          <p:nvPr/>
        </p:nvSpPr>
        <p:spPr>
          <a:xfrm>
            <a:off x="7302500" y="3091855"/>
            <a:ext cx="3950462" cy="332730"/>
          </a:xfrm>
          <a:prstGeom prst="rect">
            <a:avLst/>
          </a:prstGeom>
          <a:noFill/>
          <a:ln/>
        </p:spPr>
        <p:txBody>
          <a:bodyPr wrap="square" lIns="0" tIns="0" rIns="0" bIns="0" rtlCol="0" anchor="t">
            <a:normAutofit/>
          </a:bodyPr>
          <a:lstStyle/>
          <a:p>
            <a:pPr algn="l" indent="0" marL="0">
              <a:lnSpc>
                <a:spcPts val="2420"/>
              </a:lnSpc>
              <a:buNone/>
            </a:pPr>
            <a:r>
              <a:rPr lang="en-US" sz="2200" spc="45" kern="0" dirty="0">
                <a:solidFill>
                  <a:srgbClr val="12171D"/>
                </a:solidFill>
                <a:latin typeface="Jost" pitchFamily="34" charset="0"/>
                <a:ea typeface="Jost" pitchFamily="34" charset="-122"/>
                <a:cs typeface="Jost" pitchFamily="34" charset="-120"/>
              </a:rPr>
              <a:t>Welcome.</a:t>
            </a:r>
            <a:endParaRPr lang="en-US" sz="2200" dirty="0"/>
          </a:p>
        </p:txBody>
      </p:sp>
      <p:sp>
        <p:nvSpPr>
          <p:cNvPr id="14" name="Text 10"/>
          <p:cNvSpPr/>
          <p:nvPr/>
        </p:nvSpPr>
        <p:spPr>
          <a:xfrm>
            <a:off x="7302500" y="3475385"/>
            <a:ext cx="39504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[PENDING] a short, warm line of welcome in the GEM voice.</a:t>
            </a:r>
            <a:endParaRPr lang="en-US" sz="1300" dirty="0"/>
          </a:p>
        </p:txBody>
      </p:sp>
      <p:sp>
        <p:nvSpPr>
          <p:cNvPr id="15" name="Text 11"/>
          <p:cNvSpPr/>
          <p:nvPr/>
        </p:nvSpPr>
        <p:spPr>
          <a:xfrm>
            <a:off x="7302500" y="440184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ARRIVAL ▸ [PENDING]</a:t>
            </a:r>
            <a:endParaRPr lang="en-US" sz="1200" dirty="0"/>
          </a:p>
        </p:txBody>
      </p:sp>
      <p:sp>
        <p:nvSpPr>
          <p:cNvPr id="16"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EXPERIENCE · ARRIVAL</a:t>
            </a:r>
            <a:endParaRPr lang="en-US" sz="1200" dirty="0"/>
          </a:p>
        </p:txBody>
      </p:sp>
      <p:sp>
        <p:nvSpPr>
          <p:cNvPr id="17"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2171D"/>
        </a:solidFill>
      </p:bgPr>
    </p:bg>
    <p:spTree>
      <p:nvGrpSpPr>
        <p:cNvPr id="1" name=""/>
        <p:cNvGrpSpPr/>
        <p:nvPr/>
      </p:nvGrpSpPr>
      <p:grpSpPr>
        <a:xfrm>
          <a:off x="0" y="0"/>
          <a:ext cx="0" cy="0"/>
          <a:chOff x="0" y="0"/>
          <a:chExt cx="0" cy="0"/>
        </a:xfrm>
      </p:grpSpPr>
      <p:pic>
        <p:nvPicPr>
          <p:cNvPr id="2" name="Image 0" descr="Rendered reference study: window light on a wall. Concept, not production photography." title="Rendered reference study: window light on a wall. Concept, n">    </p:cNvPr>
          <p:cNvPicPr>
            <a:picLocks noChangeAspect="1"/>
          </p:cNvPicPr>
          <p:nvPr/>
        </p:nvPicPr>
        <p:blipFill>
          <a:blip r:embed="rId1"/>
          <a:srcRect l="23958" r="23958" t="0" b="0"/>
          <a:stretch/>
        </p:blipFill>
        <p:spPr>
          <a:xfrm>
            <a:off x="0" y="0"/>
            <a:ext cx="5715000" cy="6858000"/>
          </a:xfrm>
          <a:prstGeom prst="rect">
            <a:avLst/>
          </a:prstGeom>
        </p:spPr>
      </p:pic>
      <p:sp>
        <p:nvSpPr>
          <p:cNvPr id="3" name="Text 0"/>
          <p:cNvSpPr/>
          <p:nvPr/>
        </p:nvSpPr>
        <p:spPr>
          <a:xfrm>
            <a:off x="6172200" y="8128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ROOM · CONCEPT / NOT PRODUCTION ARTWORK</a:t>
            </a:r>
            <a:endParaRPr lang="en-US" sz="1200" dirty="0"/>
          </a:p>
        </p:txBody>
      </p:sp>
      <p:sp>
        <p:nvSpPr>
          <p:cNvPr id="4" name="Text 1"/>
          <p:cNvSpPr/>
          <p:nvPr>
            <p:ph type="title"/>
          </p:nvPr>
        </p:nvSpPr>
        <p:spPr>
          <a:xfrm>
            <a:off x="6172200" y="1178520"/>
            <a:ext cx="5363210"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THE ROOM SPEAKS SOFTLY</a:t>
            </a:r>
            <a:endParaRPr lang="en-US" sz="2800" dirty="0"/>
          </a:p>
        </p:txBody>
      </p:sp>
      <p:sp>
        <p:nvSpPr>
          <p:cNvPr id="5" name="Text 2"/>
          <p:cNvSpPr/>
          <p:nvPr/>
        </p:nvSpPr>
        <p:spPr>
          <a:xfrm>
            <a:off x="6172200" y="2719040"/>
            <a:ext cx="2540000" cy="1270000"/>
          </a:xfrm>
          <a:prstGeom prst="rect">
            <a:avLst/>
          </a:prstGeom>
          <a:solidFill>
            <a:srgbClr val="BCACA7"/>
          </a:solidFill>
          <a:ln/>
        </p:spPr>
        <p:txBody>
          <a:bodyPr wrap="square" lIns="127000" tIns="127000" rIns="58420"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DOOR HANGER</a:t>
            </a:r>
            <a:endParaRPr lang="en-US" sz="1200" dirty="0"/>
          </a:p>
        </p:txBody>
      </p:sp>
      <p:sp>
        <p:nvSpPr>
          <p:cNvPr id="6" name="Text 3"/>
          <p:cNvSpPr/>
          <p:nvPr/>
        </p:nvSpPr>
        <p:spPr>
          <a:xfrm>
            <a:off x="8820150" y="2725390"/>
            <a:ext cx="2552700" cy="1257300"/>
          </a:xfrm>
          <a:prstGeom prst="rect">
            <a:avLst/>
          </a:prstGeom>
          <a:noFill/>
          <a:ln w="12700">
            <a:solidFill>
              <a:srgbClr val="BCACA7"/>
            </a:solidFill>
            <a:prstDash val="solid"/>
          </a:ln>
        </p:spPr>
        <p:txBody>
          <a:bodyPr wrap="square" lIns="133350" tIns="133350" rIns="64770" bIns="133350" rtlCol="0" anchor="b">
            <a:normAutofit/>
          </a:bodyPr>
          <a:lstStyle/>
          <a:p>
            <a:pPr algn="l"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WI-FI CARD</a:t>
            </a:r>
            <a:endParaRPr lang="en-US" sz="1200" dirty="0"/>
          </a:p>
        </p:txBody>
      </p:sp>
      <p:sp>
        <p:nvSpPr>
          <p:cNvPr id="7" name="Shape 4"/>
          <p:cNvSpPr/>
          <p:nvPr/>
        </p:nvSpPr>
        <p:spPr>
          <a:xfrm>
            <a:off x="6172200" y="5141615"/>
            <a:ext cx="5207000" cy="0"/>
          </a:xfrm>
          <a:prstGeom prst="line">
            <a:avLst/>
          </a:prstGeom>
          <a:noFill/>
          <a:ln w="6350">
            <a:solidFill>
              <a:srgbClr val="BCACA7"/>
            </a:solidFill>
            <a:prstDash val="solid"/>
          </a:ln>
        </p:spPr>
        <p:txBody>
          <a:bodyPr/>
          <a:p/>
        </p:txBody>
      </p:sp>
      <p:sp>
        <p:nvSpPr>
          <p:cNvPr id="8" name="Text 5"/>
          <p:cNvSpPr/>
          <p:nvPr/>
        </p:nvSpPr>
        <p:spPr>
          <a:xfrm>
            <a:off x="6172200" y="5220990"/>
            <a:ext cx="53632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Stationery and guest notes in Ink and Beige</a:t>
            </a:r>
            <a:endParaRPr lang="en-US" sz="1300" dirty="0"/>
          </a:p>
        </p:txBody>
      </p:sp>
      <p:sp>
        <p:nvSpPr>
          <p:cNvPr id="9" name="Shape 6"/>
          <p:cNvSpPr/>
          <p:nvPr/>
        </p:nvSpPr>
        <p:spPr>
          <a:xfrm>
            <a:off x="6172200" y="5531495"/>
            <a:ext cx="5207000" cy="0"/>
          </a:xfrm>
          <a:prstGeom prst="line">
            <a:avLst/>
          </a:prstGeom>
          <a:noFill/>
          <a:ln w="6350">
            <a:solidFill>
              <a:srgbClr val="BCACA7"/>
            </a:solidFill>
            <a:prstDash val="solid"/>
          </a:ln>
        </p:spPr>
        <p:txBody>
          <a:bodyPr/>
          <a:p/>
        </p:txBody>
      </p:sp>
      <p:sp>
        <p:nvSpPr>
          <p:cNvPr id="10" name="Text 7"/>
          <p:cNvSpPr/>
          <p:nvPr/>
        </p:nvSpPr>
        <p:spPr>
          <a:xfrm>
            <a:off x="6172200" y="5610870"/>
            <a:ext cx="53632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Amenities set as a composed group, with one detail</a:t>
            </a:r>
            <a:endParaRPr lang="en-US" sz="1300" dirty="0"/>
          </a:p>
        </p:txBody>
      </p:sp>
      <p:sp>
        <p:nvSpPr>
          <p:cNvPr id="11" name="Text 8"/>
          <p:cNvSpPr/>
          <p:nvPr/>
        </p:nvSpPr>
        <p:spPr>
          <a:xfrm>
            <a:off x="5892800" y="6024959"/>
            <a:ext cx="4055110" cy="452041"/>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IMAGE · NOT PRODUCTION PHOTOGRAPHY</a:t>
            </a:r>
            <a:endParaRPr lang="en-US" sz="1200" dirty="0"/>
          </a:p>
        </p:txBody>
      </p:sp>
      <p:sp>
        <p:nvSpPr>
          <p:cNvPr id="12"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DINING · TABLE DETAIL · REFERENCE</a:t>
            </a:r>
            <a:endParaRPr lang="en-US" sz="1200" dirty="0"/>
          </a:p>
        </p:txBody>
      </p:sp>
      <p:sp>
        <p:nvSpPr>
          <p:cNvPr id="3" name="Shape 1"/>
          <p:cNvSpPr/>
          <p:nvPr/>
        </p:nvSpPr>
        <p:spPr>
          <a:xfrm>
            <a:off x="812800" y="1178520"/>
            <a:ext cx="4826000" cy="4297759"/>
          </a:xfrm>
          <a:prstGeom prst="rect">
            <a:avLst/>
          </a:prstGeom>
          <a:solidFill>
            <a:srgbClr val="12171D"/>
          </a:solidFill>
          <a:ln/>
        </p:spPr>
        <p:txBody>
          <a:bodyPr/>
          <a:p/>
        </p:txBody>
      </p:sp>
      <p:pic>
        <p:nvPicPr>
          <p:cNvPr id="4" name="Image 0" descr="Rendered reference study: table setting from above, few objects. Concept, not production photography." title="Rendered reference study: table setting from above, few obje">    </p:cNvPr>
          <p:cNvPicPr>
            <a:picLocks noChangeAspect="1"/>
          </p:cNvPicPr>
          <p:nvPr/>
        </p:nvPicPr>
        <p:blipFill>
          <a:blip r:embed="rId1"/>
          <a:srcRect l="14909" r="14909" t="0" b="0"/>
          <a:stretch/>
        </p:blipFill>
        <p:spPr>
          <a:xfrm>
            <a:off x="812800" y="1178520"/>
            <a:ext cx="4826000" cy="4297759"/>
          </a:xfrm>
          <a:prstGeom prst="rect">
            <a:avLst/>
          </a:prstGeom>
        </p:spPr>
      </p:pic>
      <p:sp>
        <p:nvSpPr>
          <p:cNvPr id="5" name="Text 2"/>
          <p:cNvSpPr/>
          <p:nvPr/>
        </p:nvSpPr>
        <p:spPr>
          <a:xfrm>
            <a:off x="812800" y="562868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Few objects, generous space between them.</a:t>
            </a:r>
            <a:endParaRPr lang="en-US" sz="1200" dirty="0"/>
          </a:p>
        </p:txBody>
      </p:sp>
      <p:sp>
        <p:nvSpPr>
          <p:cNvPr id="6" name="Shape 3"/>
          <p:cNvSpPr/>
          <p:nvPr/>
        </p:nvSpPr>
        <p:spPr>
          <a:xfrm>
            <a:off x="5994400" y="812800"/>
            <a:ext cx="5384800" cy="1427361"/>
          </a:xfrm>
          <a:prstGeom prst="rect">
            <a:avLst/>
          </a:prstGeom>
          <a:solidFill>
            <a:srgbClr val="12171D"/>
          </a:solidFill>
          <a:ln/>
        </p:spPr>
        <p:txBody>
          <a:bodyPr/>
          <a:p/>
        </p:txBody>
      </p:sp>
      <p:sp>
        <p:nvSpPr>
          <p:cNvPr id="7" name="Text 4"/>
          <p:cNvSpPr/>
          <p:nvPr/>
        </p:nvSpPr>
        <p:spPr>
          <a:xfrm>
            <a:off x="6223000" y="104140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MENU · CONCEPT</a:t>
            </a:r>
            <a:endParaRPr lang="en-US" sz="1200" dirty="0"/>
          </a:p>
        </p:txBody>
      </p:sp>
      <p:sp>
        <p:nvSpPr>
          <p:cNvPr id="8" name="Text 5"/>
          <p:cNvSpPr/>
          <p:nvPr/>
        </p:nvSpPr>
        <p:spPr>
          <a:xfrm>
            <a:off x="6223000" y="1330920"/>
            <a:ext cx="5075428" cy="416520"/>
          </a:xfrm>
          <a:prstGeom prst="rect">
            <a:avLst/>
          </a:prstGeom>
          <a:noFill/>
          <a:ln/>
        </p:spPr>
        <p:txBody>
          <a:bodyPr wrap="square" lIns="0" tIns="0" rIns="0" bIns="0" rtlCol="0" anchor="t">
            <a:normAutofit/>
          </a:bodyPr>
          <a:lstStyle/>
          <a:p>
            <a:pPr algn="l" indent="0" marL="0">
              <a:lnSpc>
                <a:spcPts val="3080"/>
              </a:lnSpc>
              <a:buNone/>
            </a:pPr>
            <a:r>
              <a:rPr lang="en-US" sz="2200" spc="130" kern="0" dirty="0">
                <a:solidFill>
                  <a:srgbClr val="FFFFFF"/>
                </a:solidFill>
                <a:latin typeface="Jost" pitchFamily="34" charset="0"/>
                <a:ea typeface="Jost" pitchFamily="34" charset="-122"/>
                <a:cs typeface="Jost" pitchFamily="34" charset="-120"/>
              </a:rPr>
              <a:t>MENU</a:t>
            </a:r>
            <a:endParaRPr lang="en-US" sz="2200" dirty="0"/>
          </a:p>
        </p:txBody>
      </p:sp>
      <p:sp>
        <p:nvSpPr>
          <p:cNvPr id="9" name="Text 6"/>
          <p:cNvSpPr/>
          <p:nvPr/>
        </p:nvSpPr>
        <p:spPr>
          <a:xfrm>
            <a:off x="6223000" y="1798241"/>
            <a:ext cx="507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 dishes, one column, wide margins</a:t>
            </a:r>
            <a:endParaRPr lang="en-US" sz="1200" dirty="0"/>
          </a:p>
        </p:txBody>
      </p:sp>
      <p:sp>
        <p:nvSpPr>
          <p:cNvPr id="10" name="Shape 7"/>
          <p:cNvSpPr/>
          <p:nvPr/>
        </p:nvSpPr>
        <p:spPr>
          <a:xfrm>
            <a:off x="6000750" y="3082280"/>
            <a:ext cx="5372100" cy="965150"/>
          </a:xfrm>
          <a:prstGeom prst="rect">
            <a:avLst/>
          </a:prstGeom>
          <a:noFill/>
          <a:ln w="12700">
            <a:solidFill>
              <a:srgbClr val="12171D"/>
            </a:solidFill>
            <a:prstDash val="solid"/>
          </a:ln>
        </p:spPr>
        <p:txBody>
          <a:bodyPr/>
          <a:p/>
        </p:txBody>
      </p:sp>
      <p:sp>
        <p:nvSpPr>
          <p:cNvPr id="11" name="Text 8"/>
          <p:cNvSpPr/>
          <p:nvPr/>
        </p:nvSpPr>
        <p:spPr>
          <a:xfrm>
            <a:off x="6235700" y="3317230"/>
            <a:ext cx="504926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RESERVATION · CONCEPT</a:t>
            </a:r>
            <a:endParaRPr lang="en-US" sz="1200" dirty="0"/>
          </a:p>
        </p:txBody>
      </p:sp>
      <p:sp>
        <p:nvSpPr>
          <p:cNvPr id="12" name="Text 9"/>
          <p:cNvSpPr/>
          <p:nvPr/>
        </p:nvSpPr>
        <p:spPr>
          <a:xfrm>
            <a:off x="6235700" y="3581350"/>
            <a:ext cx="50492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A card, a screen, a confirmation. The same voice each time.</a:t>
            </a:r>
            <a:endParaRPr lang="en-US" sz="1300" dirty="0"/>
          </a:p>
        </p:txBody>
      </p:sp>
      <p:sp>
        <p:nvSpPr>
          <p:cNvPr id="13" name="Shape 10"/>
          <p:cNvSpPr/>
          <p:nvPr/>
        </p:nvSpPr>
        <p:spPr>
          <a:xfrm>
            <a:off x="5994400" y="4889550"/>
            <a:ext cx="5384800" cy="952450"/>
          </a:xfrm>
          <a:prstGeom prst="rect">
            <a:avLst/>
          </a:prstGeom>
          <a:solidFill>
            <a:srgbClr val="BCACA7"/>
          </a:solidFill>
          <a:ln/>
        </p:spPr>
        <p:txBody>
          <a:bodyPr/>
          <a:p/>
        </p:txBody>
      </p:sp>
      <p:sp>
        <p:nvSpPr>
          <p:cNvPr id="14" name="Text 11"/>
          <p:cNvSpPr/>
          <p:nvPr/>
        </p:nvSpPr>
        <p:spPr>
          <a:xfrm>
            <a:off x="6223000" y="511815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DINING · CONCEPT</a:t>
            </a:r>
            <a:endParaRPr lang="en-US" sz="1200" dirty="0"/>
          </a:p>
        </p:txBody>
      </p:sp>
      <p:sp>
        <p:nvSpPr>
          <p:cNvPr id="15" name="Text 12"/>
          <p:cNvSpPr/>
          <p:nvPr/>
        </p:nvSpPr>
        <p:spPr>
          <a:xfrm>
            <a:off x="6223000" y="5382270"/>
            <a:ext cx="507542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Order, request or reserve from one calm screen. [PENDING]</a:t>
            </a:r>
            <a:endParaRPr lang="en-US" sz="1300" dirty="0"/>
          </a:p>
        </p:txBody>
      </p:sp>
      <p:sp>
        <p:nvSpPr>
          <p:cNvPr id="16"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REFERENCE · CONCEPT / NOT PRODUCTION PHOTOGRAPHY OR ARTWORK</a:t>
            </a:r>
            <a:endParaRPr lang="en-US" sz="1200" dirty="0"/>
          </a:p>
        </p:txBody>
      </p:sp>
      <p:sp>
        <p:nvSpPr>
          <p:cNvPr id="17"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06</a:t>
            </a:r>
            <a:endParaRPr lang="en-US" sz="1400" dirty="0"/>
          </a:p>
        </p:txBody>
      </p:sp>
      <p:sp>
        <p:nvSpPr>
          <p:cNvPr id="4" name="Text 1"/>
          <p:cNvSpPr/>
          <p:nvPr>
            <p:ph type="title"/>
          </p:nvPr>
        </p:nvSpPr>
        <p:spPr>
          <a:xfrm>
            <a:off x="812800" y="2159000"/>
            <a:ext cx="7848600" cy="1732260"/>
          </a:xfrm>
          <a:prstGeom prst="rect">
            <a:avLst/>
          </a:prstGeom>
          <a:noFill/>
          <a:ln/>
        </p:spPr>
        <p:txBody>
          <a:bodyPr wrap="square" lIns="0" tIns="0" rIns="0" bIns="0" rtlCol="0" anchor="t">
            <a:normAutofit/>
          </a:bodyPr>
          <a:lstStyle/>
          <a:p>
            <a:pPr algn="l" indent="0" marL="0">
              <a:lnSpc>
                <a:spcPts val="6720"/>
              </a:lnSpc>
              <a:buNone/>
            </a:pPr>
            <a:r>
              <a:rPr lang="en-US" sz="6400" b="0" i="0" spc="510" kern="0" dirty="0">
                <a:solidFill>
                  <a:srgbClr val="FFFFFF"/>
                </a:solidFill>
                <a:latin typeface="Jost" pitchFamily="34" charset="0"/>
                <a:ea typeface="Jost" pitchFamily="34" charset="-122"/>
                <a:cs typeface="Jost" pitchFamily="34" charset="-120"/>
              </a:rPr>
              <a:t>AMENITIES &amp; PACKAGING</a:t>
            </a:r>
            <a:endParaRPr lang="en-US" sz="6400" dirty="0"/>
          </a:p>
        </p:txBody>
      </p:sp>
      <p:sp>
        <p:nvSpPr>
          <p:cNvPr id="5" name="Text 2"/>
          <p:cNvSpPr/>
          <p:nvPr/>
        </p:nvSpPr>
        <p:spPr>
          <a:xfrm>
            <a:off x="812800" y="4064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The primary B2B stream, under one master brand.</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AMENITIES &amp; PACKAGING · THE STREAM</a:t>
            </a:r>
            <a:endParaRPr lang="en-US" sz="1200" dirty="0"/>
          </a:p>
        </p:txBody>
      </p:sp>
      <p:sp>
        <p:nvSpPr>
          <p:cNvPr id="3" name="Text 1"/>
          <p:cNvSpPr/>
          <p:nvPr>
            <p:ph type="title"/>
          </p:nvPr>
        </p:nvSpPr>
        <p:spPr>
          <a:xfrm>
            <a:off x="812800" y="1254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GEM™ — Amenities &amp; Packaging: a descriptor, not a new brand.</a:t>
            </a:r>
            <a:endParaRPr lang="en-US" sz="3200" dirty="0"/>
          </a:p>
        </p:txBody>
      </p:sp>
      <p:sp>
        <p:nvSpPr>
          <p:cNvPr id="4" name="Shape 2"/>
          <p:cNvSpPr/>
          <p:nvPr/>
        </p:nvSpPr>
        <p:spPr>
          <a:xfrm>
            <a:off x="812800" y="2377380"/>
            <a:ext cx="3429000" cy="2757289"/>
          </a:xfrm>
          <a:prstGeom prst="rect">
            <a:avLst/>
          </a:prstGeom>
          <a:solidFill>
            <a:srgbClr val="12171D"/>
          </a:solidFill>
          <a:ln/>
        </p:spPr>
        <p:txBody>
          <a:bodyPr/>
          <a:p/>
        </p:txBody>
      </p:sp>
      <p:sp>
        <p:nvSpPr>
          <p:cNvPr id="5" name="Text 3"/>
          <p:cNvSpPr/>
          <p:nvPr/>
        </p:nvSpPr>
        <p:spPr>
          <a:xfrm>
            <a:off x="1041400" y="26059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TIER</a:t>
            </a:r>
            <a:endParaRPr lang="en-US" sz="1200" dirty="0"/>
          </a:p>
        </p:txBody>
      </p:sp>
      <p:sp>
        <p:nvSpPr>
          <p:cNvPr id="6" name="Text 4"/>
          <p:cNvSpPr/>
          <p:nvPr/>
        </p:nvSpPr>
        <p:spPr>
          <a:xfrm>
            <a:off x="1041400" y="401210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Core Collection</a:t>
            </a:r>
            <a:endParaRPr lang="en-US" sz="2200" dirty="0"/>
          </a:p>
        </p:txBody>
      </p:sp>
      <p:sp>
        <p:nvSpPr>
          <p:cNvPr id="7" name="Text 5"/>
          <p:cNvSpPr/>
          <p:nvPr/>
        </p:nvSpPr>
        <p:spPr>
          <a:xfrm>
            <a:off x="1041400" y="4479429"/>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consistent GEM range. Name [REQUIRES OWNER]. Scope [PENDING]</a:t>
            </a:r>
            <a:endParaRPr lang="en-US" sz="1200" dirty="0"/>
          </a:p>
        </p:txBody>
      </p:sp>
      <p:sp>
        <p:nvSpPr>
          <p:cNvPr id="8" name="Shape 6"/>
          <p:cNvSpPr/>
          <p:nvPr/>
        </p:nvSpPr>
        <p:spPr>
          <a:xfrm>
            <a:off x="4368800" y="2377380"/>
            <a:ext cx="3429000" cy="2757289"/>
          </a:xfrm>
          <a:prstGeom prst="rect">
            <a:avLst/>
          </a:prstGeom>
          <a:solidFill>
            <a:srgbClr val="BCACA7"/>
          </a:solidFill>
          <a:ln/>
        </p:spPr>
        <p:txBody>
          <a:bodyPr/>
          <a:p/>
        </p:txBody>
      </p:sp>
      <p:sp>
        <p:nvSpPr>
          <p:cNvPr id="9" name="Text 7"/>
          <p:cNvSpPr/>
          <p:nvPr/>
        </p:nvSpPr>
        <p:spPr>
          <a:xfrm>
            <a:off x="4597400" y="26059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TIER</a:t>
            </a:r>
            <a:endParaRPr lang="en-US" sz="1200" dirty="0"/>
          </a:p>
        </p:txBody>
      </p:sp>
      <p:sp>
        <p:nvSpPr>
          <p:cNvPr id="10" name="Text 8"/>
          <p:cNvSpPr/>
          <p:nvPr/>
        </p:nvSpPr>
        <p:spPr>
          <a:xfrm>
            <a:off x="4597400" y="422542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Property Edition</a:t>
            </a:r>
            <a:endParaRPr lang="en-US" sz="2200" dirty="0"/>
          </a:p>
        </p:txBody>
      </p:sp>
      <p:sp>
        <p:nvSpPr>
          <p:cNvPr id="11" name="Text 9"/>
          <p:cNvSpPr/>
          <p:nvPr/>
        </p:nvSpPr>
        <p:spPr>
          <a:xfrm>
            <a:off x="4597400" y="4692749"/>
            <a:ext cx="3200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Tailored to a property. Scope [PENDING]</a:t>
            </a:r>
            <a:endParaRPr lang="en-US" sz="1200" dirty="0"/>
          </a:p>
        </p:txBody>
      </p:sp>
      <p:sp>
        <p:nvSpPr>
          <p:cNvPr id="12" name="Shape 10"/>
          <p:cNvSpPr/>
          <p:nvPr/>
        </p:nvSpPr>
        <p:spPr>
          <a:xfrm>
            <a:off x="7931150" y="2383730"/>
            <a:ext cx="3441700" cy="2744589"/>
          </a:xfrm>
          <a:prstGeom prst="rect">
            <a:avLst/>
          </a:prstGeom>
          <a:noFill/>
          <a:ln w="12700">
            <a:solidFill>
              <a:srgbClr val="12171D"/>
            </a:solidFill>
            <a:prstDash val="solid"/>
          </a:ln>
        </p:spPr>
        <p:txBody>
          <a:bodyPr/>
          <a:p/>
        </p:txBody>
      </p:sp>
      <p:sp>
        <p:nvSpPr>
          <p:cNvPr id="13" name="Text 11"/>
          <p:cNvSpPr/>
          <p:nvPr/>
        </p:nvSpPr>
        <p:spPr>
          <a:xfrm>
            <a:off x="8166100" y="26186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TIER</a:t>
            </a:r>
            <a:endParaRPr lang="en-US" sz="1200" dirty="0"/>
          </a:p>
        </p:txBody>
      </p:sp>
      <p:sp>
        <p:nvSpPr>
          <p:cNvPr id="14" name="Text 12"/>
          <p:cNvSpPr/>
          <p:nvPr/>
        </p:nvSpPr>
        <p:spPr>
          <a:xfrm>
            <a:off x="8166100" y="399940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Bespoke Programme</a:t>
            </a:r>
            <a:endParaRPr lang="en-US" sz="2200" dirty="0"/>
          </a:p>
        </p:txBody>
      </p:sp>
      <p:sp>
        <p:nvSpPr>
          <p:cNvPr id="15" name="Text 13"/>
          <p:cNvSpPr/>
          <p:nvPr/>
        </p:nvSpPr>
        <p:spPr>
          <a:xfrm>
            <a:off x="8166100" y="4466729"/>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Developed with a partner. Scope [PENDING]</a:t>
            </a:r>
            <a:endParaRPr lang="en-US" sz="1200" dirty="0"/>
          </a:p>
        </p:txBody>
      </p:sp>
      <p:sp>
        <p:nvSpPr>
          <p:cNvPr id="16" name="Text 14"/>
          <p:cNvSpPr/>
          <p:nvPr/>
        </p:nvSpPr>
        <p:spPr>
          <a:xfrm>
            <a:off x="812800" y="5363270"/>
            <a:ext cx="10883392" cy="6858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Same logo, same palette, same type in every tier. All tiers are CONDITIONAL until commercial scope closes (AC03, VAL-01). Property Edition and Bespoke programmes are named in the register (E14); the name Core Collection is [REQUIRES OWNER].</a:t>
            </a:r>
            <a:endParaRPr lang="en-US" sz="13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PACKAGING · THE HIERARCHY</a:t>
            </a:r>
            <a:endParaRPr lang="en-US" sz="1200" dirty="0"/>
          </a:p>
        </p:txBody>
      </p:sp>
      <p:sp>
        <p:nvSpPr>
          <p:cNvPr id="3" name="Text 1"/>
          <p:cNvSpPr/>
          <p:nvPr>
            <p:ph type="title"/>
          </p:nvPr>
        </p:nvSpPr>
        <p:spPr>
          <a:xfrm>
            <a:off x="812800" y="1203920"/>
            <a:ext cx="4055110" cy="91946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READ FROM THE TOP, DOWN.</a:t>
            </a:r>
            <a:endParaRPr lang="en-US" sz="3200" dirty="0"/>
          </a:p>
        </p:txBody>
      </p:sp>
      <p:sp>
        <p:nvSpPr>
          <p:cNvPr id="4" name="Text 2"/>
          <p:cNvSpPr/>
          <p:nvPr/>
        </p:nvSpPr>
        <p:spPr>
          <a:xfrm>
            <a:off x="812800" y="5123904"/>
            <a:ext cx="4055110" cy="743496"/>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The brand is seen first, then the tier, then the product and its function, then quantity, information and the SKU. Six levels, as approved (T05). Never reverse the order.</a:t>
            </a:r>
            <a:endParaRPr lang="en-US" sz="1300" dirty="0"/>
          </a:p>
        </p:txBody>
      </p:sp>
      <p:sp>
        <p:nvSpPr>
          <p:cNvPr id="5" name="Shape 3"/>
          <p:cNvSpPr/>
          <p:nvPr/>
        </p:nvSpPr>
        <p:spPr>
          <a:xfrm>
            <a:off x="5359400" y="1509464"/>
            <a:ext cx="6019800" cy="0"/>
          </a:xfrm>
          <a:prstGeom prst="line">
            <a:avLst/>
          </a:prstGeom>
          <a:noFill/>
          <a:ln w="6350">
            <a:solidFill>
              <a:srgbClr val="BCACA7"/>
            </a:solidFill>
            <a:prstDash val="solid"/>
          </a:ln>
        </p:spPr>
        <p:txBody>
          <a:bodyPr/>
          <a:p/>
        </p:txBody>
      </p:sp>
      <p:sp>
        <p:nvSpPr>
          <p:cNvPr id="6" name="Text 4"/>
          <p:cNvSpPr/>
          <p:nvPr/>
        </p:nvSpPr>
        <p:spPr>
          <a:xfrm>
            <a:off x="5359400" y="1823789"/>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01</a:t>
            </a:r>
            <a:endParaRPr lang="en-US" sz="1200" dirty="0"/>
          </a:p>
        </p:txBody>
      </p:sp>
      <p:sp>
        <p:nvSpPr>
          <p:cNvPr id="7" name="Text 5"/>
          <p:cNvSpPr/>
          <p:nvPr/>
        </p:nvSpPr>
        <p:spPr>
          <a:xfrm>
            <a:off x="5943600" y="1614239"/>
            <a:ext cx="1332012" cy="523230"/>
          </a:xfrm>
          <a:prstGeom prst="rect">
            <a:avLst/>
          </a:prstGeom>
          <a:noFill/>
          <a:ln/>
        </p:spPr>
        <p:txBody>
          <a:bodyPr wrap="square" lIns="0" tIns="0" rIns="0" bIns="0" rtlCol="0" anchor="t">
            <a:normAutofit/>
          </a:bodyPr>
          <a:lstStyle/>
          <a:p>
            <a:pPr algn="l" indent="0" marL="0">
              <a:lnSpc>
                <a:spcPts val="3920"/>
              </a:lnSpc>
              <a:buNone/>
            </a:pPr>
            <a:r>
              <a:rPr lang="en-US" sz="2800" spc="225" kern="0" dirty="0">
                <a:solidFill>
                  <a:srgbClr val="FFFFFF"/>
                </a:solidFill>
                <a:latin typeface="Jost" pitchFamily="34" charset="0"/>
                <a:ea typeface="Jost" pitchFamily="34" charset="-122"/>
                <a:cs typeface="Jost" pitchFamily="34" charset="-120"/>
              </a:rPr>
              <a:t>GEM™</a:t>
            </a:r>
            <a:endParaRPr lang="en-US" sz="2800" dirty="0"/>
          </a:p>
        </p:txBody>
      </p:sp>
      <p:sp>
        <p:nvSpPr>
          <p:cNvPr id="8" name="Shape 6"/>
          <p:cNvSpPr/>
          <p:nvPr/>
        </p:nvSpPr>
        <p:spPr>
          <a:xfrm>
            <a:off x="5359400" y="2216845"/>
            <a:ext cx="6019800" cy="0"/>
          </a:xfrm>
          <a:prstGeom prst="line">
            <a:avLst/>
          </a:prstGeom>
          <a:noFill/>
          <a:ln w="6350">
            <a:solidFill>
              <a:srgbClr val="BCACA7"/>
            </a:solidFill>
            <a:prstDash val="solid"/>
          </a:ln>
        </p:spPr>
        <p:txBody>
          <a:bodyPr/>
          <a:p/>
        </p:txBody>
      </p:sp>
      <p:sp>
        <p:nvSpPr>
          <p:cNvPr id="9" name="Text 7"/>
          <p:cNvSpPr/>
          <p:nvPr/>
        </p:nvSpPr>
        <p:spPr>
          <a:xfrm>
            <a:off x="5359400" y="245179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02</a:t>
            </a:r>
            <a:endParaRPr lang="en-US" sz="1200" dirty="0"/>
          </a:p>
        </p:txBody>
      </p:sp>
      <p:sp>
        <p:nvSpPr>
          <p:cNvPr id="10" name="Text 8"/>
          <p:cNvSpPr/>
          <p:nvPr/>
        </p:nvSpPr>
        <p:spPr>
          <a:xfrm>
            <a:off x="5943600" y="2321620"/>
            <a:ext cx="2372380"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Collection / tier</a:t>
            </a:r>
            <a:endParaRPr lang="en-US" sz="2200" dirty="0"/>
          </a:p>
        </p:txBody>
      </p:sp>
      <p:sp>
        <p:nvSpPr>
          <p:cNvPr id="11" name="Shape 9"/>
          <p:cNvSpPr/>
          <p:nvPr/>
        </p:nvSpPr>
        <p:spPr>
          <a:xfrm>
            <a:off x="5359400" y="2817515"/>
            <a:ext cx="6019800" cy="0"/>
          </a:xfrm>
          <a:prstGeom prst="line">
            <a:avLst/>
          </a:prstGeom>
          <a:noFill/>
          <a:ln w="6350">
            <a:solidFill>
              <a:srgbClr val="BCACA7"/>
            </a:solidFill>
            <a:prstDash val="solid"/>
          </a:ln>
        </p:spPr>
        <p:txBody>
          <a:bodyPr/>
          <a:p/>
        </p:txBody>
      </p:sp>
      <p:sp>
        <p:nvSpPr>
          <p:cNvPr id="12" name="Text 10"/>
          <p:cNvSpPr/>
          <p:nvPr/>
        </p:nvSpPr>
        <p:spPr>
          <a:xfrm>
            <a:off x="5359400" y="299849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13" name="Text 11"/>
          <p:cNvSpPr/>
          <p:nvPr/>
        </p:nvSpPr>
        <p:spPr>
          <a:xfrm>
            <a:off x="5943600" y="2922290"/>
            <a:ext cx="2377440"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Product / function</a:t>
            </a:r>
            <a:endParaRPr lang="en-US" sz="1800" dirty="0"/>
          </a:p>
        </p:txBody>
      </p:sp>
      <p:sp>
        <p:nvSpPr>
          <p:cNvPr id="17" name="Shape 15"/>
          <p:cNvSpPr/>
          <p:nvPr/>
        </p:nvSpPr>
        <p:spPr>
          <a:xfrm>
            <a:off x="5359400" y="3347857"/>
            <a:ext cx="6019800" cy="0"/>
          </a:xfrm>
          <a:prstGeom prst="line">
            <a:avLst/>
          </a:prstGeom>
          <a:noFill/>
          <a:ln w="6350">
            <a:solidFill>
              <a:srgbClr val="BCACA7"/>
            </a:solidFill>
            <a:prstDash val="solid"/>
          </a:ln>
        </p:spPr>
        <p:txBody>
          <a:bodyPr/>
          <a:p/>
        </p:txBody>
      </p:sp>
      <p:sp>
        <p:nvSpPr>
          <p:cNvPr id="18" name="Text 16"/>
          <p:cNvSpPr/>
          <p:nvPr/>
        </p:nvSpPr>
        <p:spPr>
          <a:xfrm>
            <a:off x="5359400" y="3478032"/>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04</a:t>
            </a:r>
            <a:endParaRPr lang="en-US" sz="1200" dirty="0"/>
          </a:p>
        </p:txBody>
      </p:sp>
      <p:sp>
        <p:nvSpPr>
          <p:cNvPr id="19" name="Text 17"/>
          <p:cNvSpPr/>
          <p:nvPr/>
        </p:nvSpPr>
        <p:spPr>
          <a:xfrm>
            <a:off x="5943600" y="3452632"/>
            <a:ext cx="164592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Quantity / size</a:t>
            </a:r>
            <a:endParaRPr lang="en-US" sz="1400" dirty="0"/>
          </a:p>
        </p:txBody>
      </p:sp>
      <p:sp>
        <p:nvSpPr>
          <p:cNvPr id="20" name="Shape 18"/>
          <p:cNvSpPr/>
          <p:nvPr/>
        </p:nvSpPr>
        <p:spPr>
          <a:xfrm>
            <a:off x="5359400" y="3806297"/>
            <a:ext cx="6019800" cy="0"/>
          </a:xfrm>
          <a:prstGeom prst="line">
            <a:avLst/>
          </a:prstGeom>
          <a:noFill/>
          <a:ln w="6350">
            <a:solidFill>
              <a:srgbClr val="BCACA7"/>
            </a:solidFill>
            <a:prstDash val="solid"/>
          </a:ln>
        </p:spPr>
        <p:txBody>
          <a:bodyPr/>
          <a:p/>
        </p:txBody>
      </p:sp>
      <p:sp>
        <p:nvSpPr>
          <p:cNvPr id="21" name="Text 19"/>
          <p:cNvSpPr/>
          <p:nvPr/>
        </p:nvSpPr>
        <p:spPr>
          <a:xfrm>
            <a:off x="5359400" y="3920597"/>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
        <p:nvSpPr>
          <p:cNvPr id="22" name="Text 20"/>
          <p:cNvSpPr/>
          <p:nvPr/>
        </p:nvSpPr>
        <p:spPr>
          <a:xfrm>
            <a:off x="5943600" y="3911072"/>
            <a:ext cx="310896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Instructions / market information</a:t>
            </a:r>
            <a:endParaRPr lang="en-US" sz="1300" dirty="0"/>
          </a:p>
        </p:txBody>
      </p:sp>
      <p:sp>
        <p:nvSpPr>
          <p:cNvPr id="23" name="Shape 21"/>
          <p:cNvSpPr/>
          <p:nvPr/>
        </p:nvSpPr>
        <p:spPr>
          <a:xfrm>
            <a:off x="5359400" y="4246977"/>
            <a:ext cx="6019800" cy="0"/>
          </a:xfrm>
          <a:prstGeom prst="line">
            <a:avLst/>
          </a:prstGeom>
          <a:noFill/>
          <a:ln w="6350">
            <a:solidFill>
              <a:srgbClr val="BCACA7"/>
            </a:solidFill>
            <a:prstDash val="solid"/>
          </a:ln>
        </p:spPr>
        <p:txBody>
          <a:bodyPr/>
          <a:p/>
        </p:txBody>
      </p:sp>
      <p:sp>
        <p:nvSpPr>
          <p:cNvPr id="24" name="Shape 22"/>
          <p:cNvSpPr/>
          <p:nvPr/>
        </p:nvSpPr>
        <p:spPr>
          <a:xfrm>
            <a:off x="5359400" y="4669848"/>
            <a:ext cx="6019800" cy="0"/>
          </a:xfrm>
          <a:prstGeom prst="line">
            <a:avLst/>
          </a:prstGeom>
          <a:noFill/>
          <a:ln w="6350">
            <a:solidFill>
              <a:srgbClr val="BCACA7"/>
            </a:solidFill>
            <a:prstDash val="solid"/>
          </a:ln>
        </p:spPr>
        <p:txBody>
          <a:bodyPr/>
          <a:p/>
        </p:txBody>
      </p:sp>
      <p:sp>
        <p:nvSpPr>
          <p:cNvPr id="25" name="Text 23"/>
          <p:cNvSpPr/>
          <p:nvPr/>
        </p:nvSpPr>
        <p:spPr>
          <a:xfrm>
            <a:off x="5359400" y="4351752"/>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
        <p:nvSpPr>
          <p:cNvPr id="26" name="Text 24"/>
          <p:cNvSpPr/>
          <p:nvPr/>
        </p:nvSpPr>
        <p:spPr>
          <a:xfrm>
            <a:off x="5943600" y="4351752"/>
            <a:ext cx="18947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SKU / artwork version</a:t>
            </a:r>
            <a:endParaRPr lang="en-US" sz="1200" dirty="0"/>
          </a:p>
        </p:txBody>
      </p:sp>
      <p:sp>
        <p:nvSpPr>
          <p:cNvPr id="27" name="Text 2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PILOT AMENITY FAMILY · CONCEPT / NOT PRODUCTION ARTWORK</a:t>
            </a:r>
            <a:endParaRPr lang="en-US" sz="1200" dirty="0"/>
          </a:p>
        </p:txBody>
      </p:sp>
      <p:sp>
        <p:nvSpPr>
          <p:cNvPr id="3" name="Shape 1"/>
          <p:cNvSpPr/>
          <p:nvPr/>
        </p:nvSpPr>
        <p:spPr>
          <a:xfrm>
            <a:off x="812800" y="2148880"/>
            <a:ext cx="2026890" cy="3302000"/>
          </a:xfrm>
          <a:prstGeom prst="rect">
            <a:avLst/>
          </a:prstGeom>
          <a:solidFill>
            <a:srgbClr val="12171D"/>
          </a:solidFill>
          <a:ln/>
        </p:spPr>
        <p:txBody>
          <a:bodyPr/>
          <a:p/>
        </p:txBody>
      </p:sp>
      <p:pic>
        <p:nvPicPr>
          <p:cNvPr id="4" name="Image 0" descr="GEM symbol on the Shampoo concept pack." title="GEM symbol on the Shampoo concept pack.">    </p:cNvPr>
          <p:cNvPicPr>
            <a:picLocks noChangeAspect="1"/>
          </p:cNvPicPr>
          <p:nvPr/>
        </p:nvPicPr>
        <p:blipFill>
          <a:blip r:embed="rId1"/>
          <a:srcRect l="0" r="0" t="0" b="0"/>
          <a:stretch/>
        </p:blipFill>
        <p:spPr>
          <a:xfrm>
            <a:off x="965200" y="2301280"/>
            <a:ext cx="381000" cy="381000"/>
          </a:xfrm>
          <a:prstGeom prst="rect">
            <a:avLst/>
          </a:prstGeom>
        </p:spPr>
      </p:pic>
      <p:sp>
        <p:nvSpPr>
          <p:cNvPr id="5" name="Text 2"/>
          <p:cNvSpPr/>
          <p:nvPr/>
        </p:nvSpPr>
        <p:spPr>
          <a:xfrm>
            <a:off x="965200" y="4546749"/>
            <a:ext cx="1773753"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GEM™</a:t>
            </a:r>
            <a:endParaRPr lang="en-US" sz="1200" dirty="0"/>
          </a:p>
        </p:txBody>
      </p:sp>
      <p:sp>
        <p:nvSpPr>
          <p:cNvPr id="6" name="Text 3"/>
          <p:cNvSpPr/>
          <p:nvPr/>
        </p:nvSpPr>
        <p:spPr>
          <a:xfrm>
            <a:off x="965200" y="4810869"/>
            <a:ext cx="1773753"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FFFFFF"/>
                </a:solidFill>
                <a:latin typeface="Jost" pitchFamily="34" charset="0"/>
                <a:ea typeface="Jost" pitchFamily="34" charset="-122"/>
                <a:cs typeface="Jost" pitchFamily="34" charset="-120"/>
              </a:rPr>
              <a:t>Shampoo</a:t>
            </a:r>
            <a:endParaRPr lang="en-US" sz="1600" dirty="0"/>
          </a:p>
        </p:txBody>
      </p:sp>
      <p:sp>
        <p:nvSpPr>
          <p:cNvPr id="7" name="Text 4"/>
          <p:cNvSpPr/>
          <p:nvPr/>
        </p:nvSpPr>
        <p:spPr>
          <a:xfrm>
            <a:off x="965200" y="5085159"/>
            <a:ext cx="17737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a:t>
            </a:r>
            <a:endParaRPr lang="en-US" sz="1200" dirty="0"/>
          </a:p>
        </p:txBody>
      </p:sp>
      <p:sp>
        <p:nvSpPr>
          <p:cNvPr id="8" name="Shape 5"/>
          <p:cNvSpPr/>
          <p:nvPr/>
        </p:nvSpPr>
        <p:spPr>
          <a:xfrm>
            <a:off x="2941290" y="2148880"/>
            <a:ext cx="2026940" cy="3302000"/>
          </a:xfrm>
          <a:prstGeom prst="rect">
            <a:avLst/>
          </a:prstGeom>
          <a:solidFill>
            <a:srgbClr val="12171D"/>
          </a:solidFill>
          <a:ln/>
        </p:spPr>
        <p:txBody>
          <a:bodyPr/>
          <a:p/>
        </p:txBody>
      </p:sp>
      <p:pic>
        <p:nvPicPr>
          <p:cNvPr id="9" name="Image 1" descr="GEM symbol on the Conditioner concept pack." title="GEM symbol on the Conditioner concept pack.">    </p:cNvPr>
          <p:cNvPicPr>
            <a:picLocks noChangeAspect="1"/>
          </p:cNvPicPr>
          <p:nvPr/>
        </p:nvPicPr>
        <p:blipFill>
          <a:blip r:embed="rId2"/>
          <a:srcRect l="0" r="0" t="0" b="0"/>
          <a:stretch/>
        </p:blipFill>
        <p:spPr>
          <a:xfrm>
            <a:off x="3093690" y="2301280"/>
            <a:ext cx="381000" cy="381000"/>
          </a:xfrm>
          <a:prstGeom prst="rect">
            <a:avLst/>
          </a:prstGeom>
        </p:spPr>
      </p:pic>
      <p:sp>
        <p:nvSpPr>
          <p:cNvPr id="10" name="Text 6"/>
          <p:cNvSpPr/>
          <p:nvPr/>
        </p:nvSpPr>
        <p:spPr>
          <a:xfrm>
            <a:off x="3093690" y="45467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GEM™</a:t>
            </a:r>
            <a:endParaRPr lang="en-US" sz="1200" dirty="0"/>
          </a:p>
        </p:txBody>
      </p:sp>
      <p:sp>
        <p:nvSpPr>
          <p:cNvPr id="11" name="Text 7"/>
          <p:cNvSpPr/>
          <p:nvPr/>
        </p:nvSpPr>
        <p:spPr>
          <a:xfrm>
            <a:off x="3093690" y="48108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FFFFFF"/>
                </a:solidFill>
                <a:latin typeface="Jost" pitchFamily="34" charset="0"/>
                <a:ea typeface="Jost" pitchFamily="34" charset="-122"/>
                <a:cs typeface="Jost" pitchFamily="34" charset="-120"/>
              </a:rPr>
              <a:t>Conditioner</a:t>
            </a:r>
            <a:endParaRPr lang="en-US" sz="1600" dirty="0"/>
          </a:p>
        </p:txBody>
      </p:sp>
      <p:sp>
        <p:nvSpPr>
          <p:cNvPr id="12" name="Text 8"/>
          <p:cNvSpPr/>
          <p:nvPr/>
        </p:nvSpPr>
        <p:spPr>
          <a:xfrm>
            <a:off x="3093690" y="50851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a:t>
            </a:r>
            <a:endParaRPr lang="en-US" sz="1200" dirty="0"/>
          </a:p>
        </p:txBody>
      </p:sp>
      <p:sp>
        <p:nvSpPr>
          <p:cNvPr id="13" name="Shape 9"/>
          <p:cNvSpPr/>
          <p:nvPr/>
        </p:nvSpPr>
        <p:spPr>
          <a:xfrm>
            <a:off x="5069830" y="2148880"/>
            <a:ext cx="2026890" cy="3302000"/>
          </a:xfrm>
          <a:prstGeom prst="rect">
            <a:avLst/>
          </a:prstGeom>
          <a:solidFill>
            <a:srgbClr val="BCACA7"/>
          </a:solidFill>
          <a:ln/>
        </p:spPr>
        <p:txBody>
          <a:bodyPr/>
          <a:p/>
        </p:txBody>
      </p:sp>
      <p:pic>
        <p:nvPicPr>
          <p:cNvPr id="14" name="Image 2" descr="GEM symbol on the Body Wash concept pack." title="GEM symbol on the Body Wash concept pack.">    </p:cNvPr>
          <p:cNvPicPr>
            <a:picLocks noChangeAspect="1"/>
          </p:cNvPicPr>
          <p:nvPr/>
        </p:nvPicPr>
        <p:blipFill>
          <a:blip r:embed="rId3"/>
          <a:srcRect l="0" r="0" t="0" b="0"/>
          <a:stretch/>
        </p:blipFill>
        <p:spPr>
          <a:xfrm>
            <a:off x="5222230" y="2301280"/>
            <a:ext cx="381000" cy="381000"/>
          </a:xfrm>
          <a:prstGeom prst="rect">
            <a:avLst/>
          </a:prstGeom>
        </p:spPr>
      </p:pic>
      <p:sp>
        <p:nvSpPr>
          <p:cNvPr id="15" name="Text 10"/>
          <p:cNvSpPr/>
          <p:nvPr/>
        </p:nvSpPr>
        <p:spPr>
          <a:xfrm>
            <a:off x="5222230" y="4546749"/>
            <a:ext cx="1773753"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16" name="Text 11"/>
          <p:cNvSpPr/>
          <p:nvPr/>
        </p:nvSpPr>
        <p:spPr>
          <a:xfrm>
            <a:off x="5222230" y="4810869"/>
            <a:ext cx="1773753"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Body Wash</a:t>
            </a:r>
            <a:endParaRPr lang="en-US" sz="1600" dirty="0"/>
          </a:p>
        </p:txBody>
      </p:sp>
      <p:sp>
        <p:nvSpPr>
          <p:cNvPr id="17" name="Text 12"/>
          <p:cNvSpPr/>
          <p:nvPr/>
        </p:nvSpPr>
        <p:spPr>
          <a:xfrm>
            <a:off x="5222230" y="5085159"/>
            <a:ext cx="17737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18" name="Shape 13"/>
          <p:cNvSpPr/>
          <p:nvPr/>
        </p:nvSpPr>
        <p:spPr>
          <a:xfrm>
            <a:off x="7198320" y="2148880"/>
            <a:ext cx="2026940" cy="3302000"/>
          </a:xfrm>
          <a:prstGeom prst="rect">
            <a:avLst/>
          </a:prstGeom>
          <a:solidFill>
            <a:srgbClr val="BCACA7"/>
          </a:solidFill>
          <a:ln/>
        </p:spPr>
        <p:txBody>
          <a:bodyPr/>
          <a:p/>
        </p:txBody>
      </p:sp>
      <p:pic>
        <p:nvPicPr>
          <p:cNvPr id="19" name="Image 3" descr="GEM symbol on the Body Lotion concept pack." title="GEM symbol on the Body Lotion concept pack.">    </p:cNvPr>
          <p:cNvPicPr>
            <a:picLocks noChangeAspect="1"/>
          </p:cNvPicPr>
          <p:nvPr/>
        </p:nvPicPr>
        <p:blipFill>
          <a:blip r:embed="rId4"/>
          <a:srcRect l="0" r="0" t="0" b="0"/>
          <a:stretch/>
        </p:blipFill>
        <p:spPr>
          <a:xfrm>
            <a:off x="7350720" y="2301280"/>
            <a:ext cx="381000" cy="381000"/>
          </a:xfrm>
          <a:prstGeom prst="rect">
            <a:avLst/>
          </a:prstGeom>
        </p:spPr>
      </p:pic>
      <p:sp>
        <p:nvSpPr>
          <p:cNvPr id="20" name="Text 14"/>
          <p:cNvSpPr/>
          <p:nvPr/>
        </p:nvSpPr>
        <p:spPr>
          <a:xfrm>
            <a:off x="7350720" y="45467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21" name="Text 15"/>
          <p:cNvSpPr/>
          <p:nvPr/>
        </p:nvSpPr>
        <p:spPr>
          <a:xfrm>
            <a:off x="7350720" y="48108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Body Lotion</a:t>
            </a:r>
            <a:endParaRPr lang="en-US" sz="1600" dirty="0"/>
          </a:p>
        </p:txBody>
      </p:sp>
      <p:sp>
        <p:nvSpPr>
          <p:cNvPr id="22" name="Text 16"/>
          <p:cNvSpPr/>
          <p:nvPr/>
        </p:nvSpPr>
        <p:spPr>
          <a:xfrm>
            <a:off x="7350720" y="50851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23" name="Shape 17"/>
          <p:cNvSpPr/>
          <p:nvPr/>
        </p:nvSpPr>
        <p:spPr>
          <a:xfrm>
            <a:off x="9333210" y="2155230"/>
            <a:ext cx="2039640" cy="3289300"/>
          </a:xfrm>
          <a:prstGeom prst="rect">
            <a:avLst/>
          </a:prstGeom>
          <a:solidFill>
            <a:srgbClr val="FFFFFF"/>
          </a:solidFill>
          <a:ln w="12700">
            <a:solidFill>
              <a:srgbClr val="12171D"/>
            </a:solidFill>
            <a:prstDash val="solid"/>
          </a:ln>
        </p:spPr>
        <p:txBody>
          <a:bodyPr/>
          <a:p/>
        </p:txBody>
      </p:sp>
      <p:pic>
        <p:nvPicPr>
          <p:cNvPr id="24" name="Image 4" descr="GEM symbol on the Hand Wash concept pack." title="GEM symbol on the Hand Wash concept pack.">    </p:cNvPr>
          <p:cNvPicPr>
            <a:picLocks noChangeAspect="1"/>
          </p:cNvPicPr>
          <p:nvPr/>
        </p:nvPicPr>
        <p:blipFill>
          <a:blip r:embed="rId5"/>
          <a:srcRect l="0" r="0" t="0" b="0"/>
          <a:stretch/>
        </p:blipFill>
        <p:spPr>
          <a:xfrm>
            <a:off x="9491960" y="2313980"/>
            <a:ext cx="381000" cy="381000"/>
          </a:xfrm>
          <a:prstGeom prst="rect">
            <a:avLst/>
          </a:prstGeom>
        </p:spPr>
      </p:pic>
      <p:sp>
        <p:nvSpPr>
          <p:cNvPr id="25" name="Text 18"/>
          <p:cNvSpPr/>
          <p:nvPr/>
        </p:nvSpPr>
        <p:spPr>
          <a:xfrm>
            <a:off x="9491960" y="45340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26" name="Text 19"/>
          <p:cNvSpPr/>
          <p:nvPr/>
        </p:nvSpPr>
        <p:spPr>
          <a:xfrm>
            <a:off x="9491960" y="47981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Hand Wash</a:t>
            </a:r>
            <a:endParaRPr lang="en-US" sz="1600" dirty="0"/>
          </a:p>
        </p:txBody>
      </p:sp>
      <p:sp>
        <p:nvSpPr>
          <p:cNvPr id="27" name="Text 20"/>
          <p:cNvSpPr/>
          <p:nvPr/>
        </p:nvSpPr>
        <p:spPr>
          <a:xfrm>
            <a:off x="9491960" y="50724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28" name="Text 21"/>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 on every pack: volume, ingredients, claims, origin, certifications, supplier, MOQ and price. None are stated.</a:t>
            </a:r>
            <a:endParaRPr lang="en-US" sz="1200" dirty="0"/>
          </a:p>
        </p:txBody>
      </p:sp>
      <p:sp>
        <p:nvSpPr>
          <p:cNvPr id="29"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30"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MATERIALS AND FINISHES · DIRECTION</a:t>
            </a:r>
            <a:endParaRPr lang="en-US" sz="1200" dirty="0"/>
          </a:p>
        </p:txBody>
      </p:sp>
      <p:sp>
        <p:nvSpPr>
          <p:cNvPr id="3" name="Shape 1"/>
          <p:cNvSpPr/>
          <p:nvPr/>
        </p:nvSpPr>
        <p:spPr>
          <a:xfrm>
            <a:off x="812800" y="1178520"/>
            <a:ext cx="4064000" cy="4297759"/>
          </a:xfrm>
          <a:prstGeom prst="rect">
            <a:avLst/>
          </a:prstGeom>
          <a:solidFill>
            <a:srgbClr val="020202"/>
          </a:solidFill>
          <a:ln/>
        </p:spPr>
        <p:txBody>
          <a:bodyPr/>
          <a:p/>
        </p:txBody>
      </p:sp>
      <p:pic>
        <p:nvPicPr>
          <p:cNvPr id="4" name="Image 0" descr="Rendered reference study: pressed ring on one surface. Concept, not production photography." title="Rendered reference study: pressed ring on one surface. Conce">    </p:cNvPr>
          <p:cNvPicPr>
            <a:picLocks noChangeAspect="1"/>
          </p:cNvPicPr>
          <p:nvPr/>
        </p:nvPicPr>
        <p:blipFill>
          <a:blip r:embed="rId1"/>
          <a:srcRect l="20450" r="20450" t="0" b="0"/>
          <a:stretch/>
        </p:blipFill>
        <p:spPr>
          <a:xfrm>
            <a:off x="812800" y="1178520"/>
            <a:ext cx="4064000" cy="4297759"/>
          </a:xfrm>
          <a:prstGeom prst="rect">
            <a:avLst/>
          </a:prstGeom>
        </p:spPr>
      </p:pic>
      <p:sp>
        <p:nvSpPr>
          <p:cNvPr id="5" name="Text 2"/>
          <p:cNvSpPr/>
          <p:nvPr/>
        </p:nvSpPr>
        <p:spPr>
          <a:xfrm>
            <a:off x="812800" y="56286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REFERENCE · pressed ring, one surface, one gesture</a:t>
            </a:r>
            <a:endParaRPr lang="en-US" sz="1200" dirty="0"/>
          </a:p>
        </p:txBody>
      </p:sp>
      <p:sp>
        <p:nvSpPr>
          <p:cNvPr id="6" name="Shape 3"/>
          <p:cNvSpPr/>
          <p:nvPr/>
        </p:nvSpPr>
        <p:spPr>
          <a:xfrm>
            <a:off x="5334000" y="815975"/>
            <a:ext cx="3022600" cy="0"/>
          </a:xfrm>
          <a:prstGeom prst="line">
            <a:avLst/>
          </a:prstGeom>
          <a:noFill/>
          <a:ln w="6350">
            <a:solidFill>
              <a:srgbClr val="BCACA7"/>
            </a:solidFill>
            <a:prstDash val="solid"/>
          </a:ln>
        </p:spPr>
        <p:txBody>
          <a:bodyPr/>
          <a:p/>
        </p:txBody>
      </p:sp>
      <p:sp>
        <p:nvSpPr>
          <p:cNvPr id="7" name="Text 4"/>
          <p:cNvSpPr/>
          <p:nvPr/>
        </p:nvSpPr>
        <p:spPr>
          <a:xfrm>
            <a:off x="5334000" y="89535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Warm uncoated stock</a:t>
            </a:r>
            <a:endParaRPr lang="en-US" sz="1400" dirty="0"/>
          </a:p>
        </p:txBody>
      </p:sp>
      <p:sp>
        <p:nvSpPr>
          <p:cNvPr id="8" name="Shape 5"/>
          <p:cNvSpPr/>
          <p:nvPr/>
        </p:nvSpPr>
        <p:spPr>
          <a:xfrm>
            <a:off x="8356600" y="815975"/>
            <a:ext cx="3022600" cy="0"/>
          </a:xfrm>
          <a:prstGeom prst="line">
            <a:avLst/>
          </a:prstGeom>
          <a:noFill/>
          <a:ln w="6350">
            <a:solidFill>
              <a:srgbClr val="BCACA7"/>
            </a:solidFill>
            <a:prstDash val="solid"/>
          </a:ln>
        </p:spPr>
        <p:txBody>
          <a:bodyPr/>
          <a:p/>
        </p:txBody>
      </p:sp>
      <p:sp>
        <p:nvSpPr>
          <p:cNvPr id="9" name="Text 6"/>
          <p:cNvSpPr/>
          <p:nvPr/>
        </p:nvSpPr>
        <p:spPr>
          <a:xfrm>
            <a:off x="8356600" y="89535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Ink board</a:t>
            </a:r>
            <a:endParaRPr lang="en-US" sz="1400" dirty="0"/>
          </a:p>
        </p:txBody>
      </p:sp>
      <p:sp>
        <p:nvSpPr>
          <p:cNvPr id="10" name="Shape 7"/>
          <p:cNvSpPr/>
          <p:nvPr/>
        </p:nvSpPr>
        <p:spPr>
          <a:xfrm>
            <a:off x="5334000" y="1138535"/>
            <a:ext cx="3022600" cy="0"/>
          </a:xfrm>
          <a:prstGeom prst="line">
            <a:avLst/>
          </a:prstGeom>
          <a:noFill/>
          <a:ln w="6350">
            <a:solidFill>
              <a:srgbClr val="BCACA7"/>
            </a:solidFill>
            <a:prstDash val="solid"/>
          </a:ln>
        </p:spPr>
        <p:txBody>
          <a:bodyPr/>
          <a:p/>
        </p:txBody>
      </p:sp>
      <p:sp>
        <p:nvSpPr>
          <p:cNvPr id="11" name="Text 8"/>
          <p:cNvSpPr/>
          <p:nvPr/>
        </p:nvSpPr>
        <p:spPr>
          <a:xfrm>
            <a:off x="5334000" y="121791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Beige</a:t>
            </a:r>
            <a:endParaRPr lang="en-US" sz="1400" dirty="0"/>
          </a:p>
        </p:txBody>
      </p:sp>
      <p:sp>
        <p:nvSpPr>
          <p:cNvPr id="12" name="Shape 9"/>
          <p:cNvSpPr/>
          <p:nvPr/>
        </p:nvSpPr>
        <p:spPr>
          <a:xfrm>
            <a:off x="8356600" y="1138535"/>
            <a:ext cx="3022600" cy="0"/>
          </a:xfrm>
          <a:prstGeom prst="line">
            <a:avLst/>
          </a:prstGeom>
          <a:noFill/>
          <a:ln w="6350">
            <a:solidFill>
              <a:srgbClr val="BCACA7"/>
            </a:solidFill>
            <a:prstDash val="solid"/>
          </a:ln>
        </p:spPr>
        <p:txBody>
          <a:bodyPr/>
          <a:p/>
        </p:txBody>
      </p:sp>
      <p:sp>
        <p:nvSpPr>
          <p:cNvPr id="13" name="Text 10"/>
          <p:cNvSpPr/>
          <p:nvPr/>
        </p:nvSpPr>
        <p:spPr>
          <a:xfrm>
            <a:off x="8356600" y="121791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Deboss</a:t>
            </a:r>
            <a:endParaRPr lang="en-US" sz="1400" dirty="0"/>
          </a:p>
        </p:txBody>
      </p:sp>
      <p:sp>
        <p:nvSpPr>
          <p:cNvPr id="14" name="Shape 11"/>
          <p:cNvSpPr/>
          <p:nvPr/>
        </p:nvSpPr>
        <p:spPr>
          <a:xfrm>
            <a:off x="5334000" y="1461095"/>
            <a:ext cx="3022600" cy="0"/>
          </a:xfrm>
          <a:prstGeom prst="line">
            <a:avLst/>
          </a:prstGeom>
          <a:noFill/>
          <a:ln w="6350">
            <a:solidFill>
              <a:srgbClr val="BCACA7"/>
            </a:solidFill>
            <a:prstDash val="solid"/>
          </a:ln>
        </p:spPr>
        <p:txBody>
          <a:bodyPr/>
          <a:p/>
        </p:txBody>
      </p:sp>
      <p:sp>
        <p:nvSpPr>
          <p:cNvPr id="15" name="Text 12"/>
          <p:cNvSpPr/>
          <p:nvPr/>
        </p:nvSpPr>
        <p:spPr>
          <a:xfrm>
            <a:off x="5334000" y="154047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Blind emboss</a:t>
            </a:r>
            <a:endParaRPr lang="en-US" sz="1400" dirty="0"/>
          </a:p>
        </p:txBody>
      </p:sp>
      <p:sp>
        <p:nvSpPr>
          <p:cNvPr id="16" name="Shape 13"/>
          <p:cNvSpPr/>
          <p:nvPr/>
        </p:nvSpPr>
        <p:spPr>
          <a:xfrm>
            <a:off x="8356600" y="1461095"/>
            <a:ext cx="3022600" cy="0"/>
          </a:xfrm>
          <a:prstGeom prst="line">
            <a:avLst/>
          </a:prstGeom>
          <a:noFill/>
          <a:ln w="6350">
            <a:solidFill>
              <a:srgbClr val="BCACA7"/>
            </a:solidFill>
            <a:prstDash val="solid"/>
          </a:ln>
        </p:spPr>
        <p:txBody>
          <a:bodyPr/>
          <a:p/>
        </p:txBody>
      </p:sp>
      <p:sp>
        <p:nvSpPr>
          <p:cNvPr id="17" name="Text 14"/>
          <p:cNvSpPr/>
          <p:nvPr/>
        </p:nvSpPr>
        <p:spPr>
          <a:xfrm>
            <a:off x="8356600" y="154047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Soft-touch</a:t>
            </a:r>
            <a:endParaRPr lang="en-US" sz="1400" dirty="0"/>
          </a:p>
        </p:txBody>
      </p:sp>
      <p:sp>
        <p:nvSpPr>
          <p:cNvPr id="18" name="Shape 15"/>
          <p:cNvSpPr/>
          <p:nvPr/>
        </p:nvSpPr>
        <p:spPr>
          <a:xfrm>
            <a:off x="5334000" y="1783655"/>
            <a:ext cx="3022600" cy="0"/>
          </a:xfrm>
          <a:prstGeom prst="line">
            <a:avLst/>
          </a:prstGeom>
          <a:noFill/>
          <a:ln w="6350">
            <a:solidFill>
              <a:srgbClr val="BCACA7"/>
            </a:solidFill>
            <a:prstDash val="solid"/>
          </a:ln>
        </p:spPr>
        <p:txBody>
          <a:bodyPr/>
          <a:p/>
        </p:txBody>
      </p:sp>
      <p:sp>
        <p:nvSpPr>
          <p:cNvPr id="19" name="Text 16"/>
          <p:cNvSpPr/>
          <p:nvPr/>
        </p:nvSpPr>
        <p:spPr>
          <a:xfrm>
            <a:off x="5334000" y="186303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Precision die-cut</a:t>
            </a:r>
            <a:endParaRPr lang="en-US" sz="1400" dirty="0"/>
          </a:p>
        </p:txBody>
      </p:sp>
      <p:sp>
        <p:nvSpPr>
          <p:cNvPr id="20" name="Shape 17"/>
          <p:cNvSpPr/>
          <p:nvPr/>
        </p:nvSpPr>
        <p:spPr>
          <a:xfrm>
            <a:off x="5334000" y="3200450"/>
            <a:ext cx="6045200" cy="1117501"/>
          </a:xfrm>
          <a:prstGeom prst="rect">
            <a:avLst/>
          </a:prstGeom>
          <a:solidFill>
            <a:srgbClr val="BCACA7"/>
          </a:solidFill>
          <a:ln/>
        </p:spPr>
        <p:txBody>
          <a:bodyPr/>
          <a:p/>
        </p:txBody>
      </p:sp>
      <p:sp>
        <p:nvSpPr>
          <p:cNvPr id="21" name="Text 18"/>
          <p:cNvSpPr/>
          <p:nvPr/>
        </p:nvSpPr>
        <p:spPr>
          <a:xfrm>
            <a:off x="5537200" y="3378250"/>
            <a:ext cx="58079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AVOID</a:t>
            </a:r>
            <a:endParaRPr lang="en-US" sz="1200" dirty="0"/>
          </a:p>
        </p:txBody>
      </p:sp>
      <p:sp>
        <p:nvSpPr>
          <p:cNvPr id="22" name="Text 19"/>
          <p:cNvSpPr/>
          <p:nvPr/>
        </p:nvSpPr>
        <p:spPr>
          <a:xfrm>
            <a:off x="5537200" y="3642370"/>
            <a:ext cx="580796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Decorative gold, holographic, chrome, heavy foil, gloss-heavy cues.</a:t>
            </a:r>
            <a:endParaRPr lang="en-US" sz="1400" dirty="0"/>
          </a:p>
        </p:txBody>
      </p:sp>
      <p:sp>
        <p:nvSpPr>
          <p:cNvPr id="23" name="Text 20"/>
          <p:cNvSpPr/>
          <p:nvPr/>
        </p:nvSpPr>
        <p:spPr>
          <a:xfrm>
            <a:off x="5334000" y="5415359"/>
            <a:ext cx="62265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Feel before shine. Finish suppliers, stock weights and tolerances are [REQUIRES OWNER] and belong in Part C.</a:t>
            </a:r>
            <a:endParaRPr lang="en-US" sz="1200" dirty="0"/>
          </a:p>
        </p:txBody>
      </p:sp>
      <p:sp>
        <p:nvSpPr>
          <p:cNvPr id="24"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25"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07</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ENVIRONMENT</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Wayfinding, signage and the physical expression of GEM.</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WAYFINDING AND ENVIRONMENT · PRINCIPLES · CONCEPT</a:t>
            </a:r>
            <a:endParaRPr lang="en-US" sz="1200" dirty="0"/>
          </a:p>
        </p:txBody>
      </p:sp>
      <p:sp>
        <p:nvSpPr>
          <p:cNvPr id="3" name="Shape 1"/>
          <p:cNvSpPr/>
          <p:nvPr/>
        </p:nvSpPr>
        <p:spPr>
          <a:xfrm>
            <a:off x="812800" y="1203920"/>
            <a:ext cx="3378200" cy="3590429"/>
          </a:xfrm>
          <a:prstGeom prst="rect">
            <a:avLst/>
          </a:prstGeom>
          <a:solidFill>
            <a:srgbClr val="12171D"/>
          </a:solidFill>
          <a:ln/>
        </p:spPr>
        <p:txBody>
          <a:bodyPr/>
          <a:p/>
        </p:txBody>
      </p:sp>
      <p:sp>
        <p:nvSpPr>
          <p:cNvPr id="4" name="Text 2"/>
          <p:cNvSpPr/>
          <p:nvPr/>
        </p:nvSpPr>
        <p:spPr>
          <a:xfrm>
            <a:off x="1041400" y="14325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DIRECTION</a:t>
            </a:r>
            <a:endParaRPr lang="en-US" sz="1200" dirty="0"/>
          </a:p>
        </p:txBody>
      </p:sp>
      <p:pic>
        <p:nvPicPr>
          <p:cNvPr id="5" name="Image 0" descr="Illustrative direction arrow glyph." title="Illustrative direction arrow glyph.">    </p:cNvPr>
          <p:cNvPicPr>
            <a:picLocks noChangeAspect="1"/>
          </p:cNvPicPr>
          <p:nvPr/>
        </p:nvPicPr>
        <p:blipFill>
          <a:blip r:embed="rId1"/>
          <a:srcRect l="0" r="0" t="0" b="0"/>
          <a:stretch/>
        </p:blipFill>
        <p:spPr>
          <a:xfrm>
            <a:off x="1041400" y="4108549"/>
            <a:ext cx="457200" cy="457200"/>
          </a:xfrm>
          <a:prstGeom prst="rect">
            <a:avLst/>
          </a:prstGeom>
        </p:spPr>
      </p:pic>
      <p:sp>
        <p:nvSpPr>
          <p:cNvPr id="6" name="Text 3"/>
          <p:cNvSpPr/>
          <p:nvPr/>
        </p:nvSpPr>
        <p:spPr>
          <a:xfrm>
            <a:off x="1651000" y="4141589"/>
            <a:ext cx="986671"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Dining</a:t>
            </a:r>
            <a:endParaRPr lang="en-US" sz="2200" dirty="0"/>
          </a:p>
        </p:txBody>
      </p:sp>
      <p:sp>
        <p:nvSpPr>
          <p:cNvPr id="7" name="Shape 4"/>
          <p:cNvSpPr/>
          <p:nvPr/>
        </p:nvSpPr>
        <p:spPr>
          <a:xfrm>
            <a:off x="4394200" y="1203920"/>
            <a:ext cx="3378200" cy="3590429"/>
          </a:xfrm>
          <a:prstGeom prst="rect">
            <a:avLst/>
          </a:prstGeom>
          <a:solidFill>
            <a:srgbClr val="BCACA7"/>
          </a:solidFill>
          <a:ln/>
        </p:spPr>
        <p:txBody>
          <a:bodyPr/>
          <a:p/>
        </p:txBody>
      </p:sp>
      <p:sp>
        <p:nvSpPr>
          <p:cNvPr id="8" name="Text 5"/>
          <p:cNvSpPr/>
          <p:nvPr/>
        </p:nvSpPr>
        <p:spPr>
          <a:xfrm>
            <a:off x="4622800" y="14325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ROOM NUMBER</a:t>
            </a:r>
            <a:endParaRPr lang="en-US" sz="1200" dirty="0"/>
          </a:p>
        </p:txBody>
      </p:sp>
      <p:sp>
        <p:nvSpPr>
          <p:cNvPr id="9" name="Text 6"/>
          <p:cNvSpPr/>
          <p:nvPr/>
        </p:nvSpPr>
        <p:spPr>
          <a:xfrm>
            <a:off x="4622800" y="3676749"/>
            <a:ext cx="3008630" cy="914400"/>
          </a:xfrm>
          <a:prstGeom prst="rect">
            <a:avLst/>
          </a:prstGeom>
          <a:noFill/>
          <a:ln/>
        </p:spPr>
        <p:txBody>
          <a:bodyPr wrap="square" lIns="0" tIns="0" rIns="0" bIns="0" rtlCol="0" anchor="t">
            <a:normAutofit/>
          </a:bodyPr>
          <a:lstStyle/>
          <a:p>
            <a:pPr algn="l" indent="0" marL="0">
              <a:lnSpc>
                <a:spcPts val="7000"/>
              </a:lnSpc>
              <a:buNone/>
            </a:pPr>
            <a:r>
              <a:rPr lang="en-US" sz="7000" spc="280" kern="0" dirty="0">
                <a:solidFill>
                  <a:srgbClr val="12171D"/>
                </a:solidFill>
                <a:latin typeface="Jost" pitchFamily="34" charset="0"/>
                <a:ea typeface="Jost" pitchFamily="34" charset="-122"/>
                <a:cs typeface="Jost" pitchFamily="34" charset="-120"/>
              </a:rPr>
              <a:t>000</a:t>
            </a:r>
            <a:endParaRPr lang="en-US" sz="7000" dirty="0"/>
          </a:p>
        </p:txBody>
      </p:sp>
      <p:sp>
        <p:nvSpPr>
          <p:cNvPr id="10" name="Shape 7"/>
          <p:cNvSpPr/>
          <p:nvPr/>
        </p:nvSpPr>
        <p:spPr>
          <a:xfrm>
            <a:off x="7981950" y="1210270"/>
            <a:ext cx="3390900" cy="3577729"/>
          </a:xfrm>
          <a:prstGeom prst="rect">
            <a:avLst/>
          </a:prstGeom>
          <a:noFill/>
          <a:ln w="12700">
            <a:solidFill>
              <a:srgbClr val="12171D"/>
            </a:solidFill>
            <a:prstDash val="solid"/>
          </a:ln>
        </p:spPr>
        <p:txBody>
          <a:bodyPr/>
          <a:p/>
        </p:txBody>
      </p:sp>
      <p:sp>
        <p:nvSpPr>
          <p:cNvPr id="11" name="Text 8"/>
          <p:cNvSpPr/>
          <p:nvPr/>
        </p:nvSpPr>
        <p:spPr>
          <a:xfrm>
            <a:off x="8216900" y="14452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 ORDER</a:t>
            </a:r>
            <a:endParaRPr lang="en-US" sz="1200" dirty="0"/>
          </a:p>
        </p:txBody>
      </p:sp>
      <p:sp>
        <p:nvSpPr>
          <p:cNvPr id="12" name="Text 9"/>
          <p:cNvSpPr/>
          <p:nvPr/>
        </p:nvSpPr>
        <p:spPr>
          <a:xfrm>
            <a:off x="8129270" y="3791099"/>
            <a:ext cx="300863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12171D"/>
                </a:solidFill>
                <a:latin typeface="Noto Sans Arabic" pitchFamily="34" charset="0"/>
                <a:ea typeface="Noto Sans Arabic" pitchFamily="34" charset="-122"/>
                <a:cs typeface="Noto Sans Arabic" pitchFamily="34" charset="-120"/>
              </a:rPr>
              <a:t>[عربي]</a:t>
            </a:r>
            <a:endParaRPr lang="en-US" sz="2200" dirty="0"/>
          </a:p>
        </p:txBody>
      </p:sp>
      <p:sp>
        <p:nvSpPr>
          <p:cNvPr id="13" name="Text 10"/>
          <p:cNvSpPr/>
          <p:nvPr/>
        </p:nvSpPr>
        <p:spPr>
          <a:xfrm>
            <a:off x="8216900" y="4233019"/>
            <a:ext cx="3008630"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[ENGLISH]</a:t>
            </a:r>
            <a:endParaRPr lang="en-US" sz="1800" dirty="0"/>
          </a:p>
        </p:txBody>
      </p:sp>
      <p:sp>
        <p:nvSpPr>
          <p:cNvPr id="14" name="Text 11"/>
          <p:cNvSpPr/>
          <p:nvPr/>
        </p:nvSpPr>
        <p:spPr>
          <a:xfrm>
            <a:off x="812800" y="4919472"/>
            <a:ext cx="10883392" cy="77724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One direction, one message per sign. Read left to right in English, right to left in Arabic. For Saudi/GCC bilingual wayfinding Arabic leads by default: Arabic first and right, English secondary and left, with equivalent information and legibility (S07). Geometry is shared with the brand.</a:t>
            </a:r>
            <a:endParaRPr lang="en-US" sz="1300" dirty="0"/>
          </a:p>
        </p:txBody>
      </p:sp>
      <p:sp>
        <p:nvSpPr>
          <p:cNvPr id="15" name="Text 12"/>
          <p:cNvSpPr/>
          <p:nvPr/>
        </p:nvSpPr>
        <p:spPr>
          <a:xfrm>
            <a:off x="812800" y="5715000"/>
            <a:ext cx="10883392" cy="457200"/>
          </a:xfrm>
          <a:prstGeom prst="rect">
            <a:avLst/>
          </a:prstGeom>
          <a:noFill/>
          <a:ln/>
        </p:spPr>
        <p:txBody>
          <a:bodyPr wrap="square" lIns="0" tIns="0" rIns="0" bIns="0" rtlCol="0" anchor="t"/>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PROJECT-SPECIFIC / REQUIRES SITE VALIDATION · ARABIC: PENDING LOCALIZATION APPROVAL · EXTERNAL PROPERTY SIGNAGE: DEFERRED (S02)</a:t>
            </a:r>
            <a:endParaRPr lang="en-US" sz="1200" dirty="0"/>
          </a:p>
        </p:txBody>
      </p:sp>
      <p:sp>
        <p:nvSpPr>
          <p:cNvPr id="16"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WAYFINDING</a:t>
            </a:r>
            <a:endParaRPr lang="en-US" sz="1200" dirty="0"/>
          </a:p>
        </p:txBody>
      </p:sp>
      <p:sp>
        <p:nvSpPr>
          <p:cNvPr id="17"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SIGNAGE LANGUAGE · EN · AR · BILINGUAL · CONCEPT</a:t>
            </a:r>
            <a:endParaRPr lang="en-US" sz="1200" dirty="0"/>
          </a:p>
        </p:txBody>
      </p:sp>
      <p:sp>
        <p:nvSpPr>
          <p:cNvPr id="3" name="Text 1"/>
          <p:cNvSpPr/>
          <p:nvPr>
            <p:ph type="title"/>
          </p:nvPr>
        </p:nvSpPr>
        <p:spPr>
          <a:xfrm>
            <a:off x="812800" y="1127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ONE HIERARCHY, THREE FORMS.</a:t>
            </a:r>
            <a:endParaRPr lang="en-US" sz="2800" dirty="0"/>
          </a:p>
        </p:txBody>
      </p:sp>
      <p:sp>
        <p:nvSpPr>
          <p:cNvPr id="4" name="Shape 2"/>
          <p:cNvSpPr/>
          <p:nvPr/>
        </p:nvSpPr>
        <p:spPr>
          <a:xfrm>
            <a:off x="812800" y="1722041"/>
            <a:ext cx="3437434" cy="3490119"/>
          </a:xfrm>
          <a:prstGeom prst="rect">
            <a:avLst/>
          </a:prstGeom>
          <a:solidFill>
            <a:srgbClr val="FFFFFF"/>
          </a:solidFill>
          <a:ln/>
        </p:spPr>
        <p:txBody>
          <a:bodyPr/>
          <a:p/>
        </p:txBody>
      </p:sp>
      <p:sp>
        <p:nvSpPr>
          <p:cNvPr id="5" name="Text 3"/>
          <p:cNvSpPr/>
          <p:nvPr/>
        </p:nvSpPr>
        <p:spPr>
          <a:xfrm>
            <a:off x="1016000" y="1925241"/>
            <a:ext cx="312196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ENGLISH</a:t>
            </a:r>
            <a:endParaRPr lang="en-US" sz="1200" dirty="0"/>
          </a:p>
        </p:txBody>
      </p:sp>
      <p:pic>
        <p:nvPicPr>
          <p:cNvPr id="6" name="Image 0" descr="Illustrative information glyph, English sign concept." title="Illustrative information glyph, English sign concept.">    </p:cNvPr>
          <p:cNvPicPr>
            <a:picLocks noChangeAspect="1"/>
          </p:cNvPicPr>
          <p:nvPr/>
        </p:nvPicPr>
        <p:blipFill>
          <a:blip r:embed="rId1"/>
          <a:srcRect l="0" r="0" t="0" b="0"/>
          <a:stretch/>
        </p:blipFill>
        <p:spPr>
          <a:xfrm>
            <a:off x="1016000" y="4064099"/>
            <a:ext cx="406400" cy="406400"/>
          </a:xfrm>
          <a:prstGeom prst="rect">
            <a:avLst/>
          </a:prstGeom>
        </p:spPr>
      </p:pic>
      <p:sp>
        <p:nvSpPr>
          <p:cNvPr id="7" name="Text 4"/>
          <p:cNvSpPr/>
          <p:nvPr/>
        </p:nvSpPr>
        <p:spPr>
          <a:xfrm>
            <a:off x="1016000" y="4546699"/>
            <a:ext cx="3121965" cy="487660"/>
          </a:xfrm>
          <a:prstGeom prst="rect">
            <a:avLst/>
          </a:prstGeom>
          <a:noFill/>
          <a:ln/>
        </p:spPr>
        <p:txBody>
          <a:bodyPr wrap="square" lIns="0" tIns="0" rIns="0" bIns="0" rtlCol="0" anchor="t">
            <a:normAutofit/>
          </a:bodyPr>
          <a:lstStyle/>
          <a:p>
            <a:pPr algn="l" indent="0" marL="0">
              <a:lnSpc>
                <a:spcPts val="3640"/>
              </a:lnSpc>
              <a:buNone/>
            </a:pPr>
            <a:r>
              <a:rPr lang="en-US" sz="2600" spc="50" kern="0" dirty="0">
                <a:solidFill>
                  <a:srgbClr val="12171D"/>
                </a:solidFill>
                <a:latin typeface="Jost" pitchFamily="34" charset="0"/>
                <a:ea typeface="Jost" pitchFamily="34" charset="-122"/>
                <a:cs typeface="Jost" pitchFamily="34" charset="-120"/>
              </a:rPr>
              <a:t>Reception</a:t>
            </a:r>
            <a:endParaRPr lang="en-US" sz="2600" dirty="0"/>
          </a:p>
        </p:txBody>
      </p:sp>
      <p:sp>
        <p:nvSpPr>
          <p:cNvPr id="8" name="Shape 5"/>
          <p:cNvSpPr/>
          <p:nvPr/>
        </p:nvSpPr>
        <p:spPr>
          <a:xfrm>
            <a:off x="4377234" y="1722041"/>
            <a:ext cx="3437483" cy="3490119"/>
          </a:xfrm>
          <a:prstGeom prst="rect">
            <a:avLst/>
          </a:prstGeom>
          <a:solidFill>
            <a:srgbClr val="FFFFFF"/>
          </a:solidFill>
          <a:ln/>
        </p:spPr>
        <p:txBody>
          <a:bodyPr/>
          <a:p/>
        </p:txBody>
      </p:sp>
      <p:sp>
        <p:nvSpPr>
          <p:cNvPr id="9" name="Text 6"/>
          <p:cNvSpPr/>
          <p:nvPr/>
        </p:nvSpPr>
        <p:spPr>
          <a:xfrm>
            <a:off x="4489501" y="1925241"/>
            <a:ext cx="312201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Noto Sans Arabic" pitchFamily="34" charset="0"/>
                <a:ea typeface="Noto Sans Arabic" pitchFamily="34" charset="-122"/>
                <a:cs typeface="Noto Sans Arabic" pitchFamily="34" charset="-120"/>
              </a:rPr>
              <a:t>العربية</a:t>
            </a:r>
            <a:endParaRPr lang="en-US" sz="1200" dirty="0"/>
          </a:p>
        </p:txBody>
      </p:sp>
      <p:pic>
        <p:nvPicPr>
          <p:cNvPr id="10" name="Image 1" descr="Illustrative information glyph, Arabic sign concept." title="Illustrative information glyph, Arabic sign concept.">    </p:cNvPr>
          <p:cNvPicPr>
            <a:picLocks noChangeAspect="1"/>
          </p:cNvPicPr>
          <p:nvPr/>
        </p:nvPicPr>
        <p:blipFill>
          <a:blip r:embed="rId2"/>
          <a:srcRect l="0" r="0" t="0" b="0"/>
          <a:stretch/>
        </p:blipFill>
        <p:spPr>
          <a:xfrm>
            <a:off x="7205117" y="3992959"/>
            <a:ext cx="406400" cy="406400"/>
          </a:xfrm>
          <a:prstGeom prst="rect">
            <a:avLst/>
          </a:prstGeom>
        </p:spPr>
      </p:pic>
      <p:sp>
        <p:nvSpPr>
          <p:cNvPr id="11" name="Text 7"/>
          <p:cNvSpPr/>
          <p:nvPr/>
        </p:nvSpPr>
        <p:spPr>
          <a:xfrm>
            <a:off x="5873681" y="4475559"/>
            <a:ext cx="1737836" cy="558800"/>
          </a:xfrm>
          <a:prstGeom prst="rect">
            <a:avLst/>
          </a:prstGeom>
          <a:noFill/>
          <a:ln/>
        </p:spPr>
        <p:txBody>
          <a:bodyPr wrap="square" lIns="0" tIns="0" rIns="0" bIns="0" rtlCol="0" anchor="t">
            <a:normAutofit/>
          </a:bodyPr>
          <a:lstStyle/>
          <a:p>
            <a:pPr algn="r" indent="0" marL="0">
              <a:lnSpc>
                <a:spcPts val="4200"/>
              </a:lnSpc>
              <a:buNone/>
            </a:pPr>
            <a:r>
              <a:rPr lang="en-US" sz="3000" dirty="0">
                <a:solidFill>
                  <a:srgbClr val="12171D"/>
                </a:solidFill>
                <a:latin typeface="Noto Sans Arabic" pitchFamily="34" charset="0"/>
                <a:ea typeface="Noto Sans Arabic" pitchFamily="34" charset="-122"/>
                <a:cs typeface="Noto Sans Arabic" pitchFamily="34" charset="-120"/>
              </a:rPr>
              <a:t>الاستقبال</a:t>
            </a:r>
            <a:endParaRPr lang="en-US" sz="3000" dirty="0"/>
          </a:p>
        </p:txBody>
      </p:sp>
      <p:sp>
        <p:nvSpPr>
          <p:cNvPr id="12" name="Shape 8"/>
          <p:cNvSpPr/>
          <p:nvPr/>
        </p:nvSpPr>
        <p:spPr>
          <a:xfrm>
            <a:off x="7941717" y="1722041"/>
            <a:ext cx="3437483" cy="3490119"/>
          </a:xfrm>
          <a:prstGeom prst="rect">
            <a:avLst/>
          </a:prstGeom>
          <a:solidFill>
            <a:srgbClr val="BCACA7"/>
          </a:solidFill>
          <a:ln/>
        </p:spPr>
        <p:txBody>
          <a:bodyPr/>
          <a:p/>
        </p:txBody>
      </p:sp>
      <p:sp>
        <p:nvSpPr>
          <p:cNvPr id="13" name="Text 9"/>
          <p:cNvSpPr/>
          <p:nvPr/>
        </p:nvSpPr>
        <p:spPr>
          <a:xfrm>
            <a:off x="8144917" y="1925241"/>
            <a:ext cx="312201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a:t>
            </a:r>
            <a:endParaRPr lang="en-US" sz="1200" dirty="0"/>
          </a:p>
        </p:txBody>
      </p:sp>
      <p:sp>
        <p:nvSpPr>
          <p:cNvPr id="14" name="Text 10"/>
          <p:cNvSpPr/>
          <p:nvPr/>
        </p:nvSpPr>
        <p:spPr>
          <a:xfrm>
            <a:off x="8053984" y="4104779"/>
            <a:ext cx="3122016" cy="487660"/>
          </a:xfrm>
          <a:prstGeom prst="rect">
            <a:avLst/>
          </a:prstGeom>
          <a:noFill/>
          <a:ln/>
        </p:spPr>
        <p:txBody>
          <a:bodyPr wrap="square" lIns="0" tIns="0" rIns="0" bIns="0" rtlCol="0" anchor="t">
            <a:normAutofit/>
          </a:bodyPr>
          <a:lstStyle/>
          <a:p>
            <a:pPr algn="r" indent="0" marL="0">
              <a:lnSpc>
                <a:spcPts val="3640"/>
              </a:lnSpc>
              <a:buNone/>
            </a:pPr>
            <a:r>
              <a:rPr lang="en-US" sz="2600" dirty="0">
                <a:solidFill>
                  <a:srgbClr val="12171D"/>
                </a:solidFill>
                <a:latin typeface="Noto Sans Arabic" pitchFamily="34" charset="0"/>
                <a:ea typeface="Noto Sans Arabic" pitchFamily="34" charset="-122"/>
                <a:cs typeface="Noto Sans Arabic" pitchFamily="34" charset="-120"/>
              </a:rPr>
              <a:t>الاستقبال</a:t>
            </a:r>
            <a:endParaRPr lang="en-US" sz="2600" dirty="0"/>
          </a:p>
        </p:txBody>
      </p:sp>
      <p:sp>
        <p:nvSpPr>
          <p:cNvPr id="15" name="Text 11"/>
          <p:cNvSpPr/>
          <p:nvPr/>
        </p:nvSpPr>
        <p:spPr>
          <a:xfrm>
            <a:off x="8144917" y="4617839"/>
            <a:ext cx="3122016"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Reception</a:t>
            </a:r>
            <a:endParaRPr lang="en-US" sz="2200" dirty="0"/>
          </a:p>
        </p:txBody>
      </p:sp>
      <p:sp>
        <p:nvSpPr>
          <p:cNvPr id="16" name="Text 12"/>
          <p:cNvSpPr/>
          <p:nvPr/>
        </p:nvSpPr>
        <p:spPr>
          <a:xfrm>
            <a:off x="812800" y="54153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Glyph, then name. High contrast, generous spacing, matte material direction. No dimensions are given. Arabic is a working string, PENDING LOCALIZATION APPROVAL. PROJECT-SPECIFIC / REQUIRES SITE VALIDATION.</a:t>
            </a:r>
            <a:endParaRPr lang="en-US" sz="1200" dirty="0"/>
          </a:p>
        </p:txBody>
      </p:sp>
      <p:sp>
        <p:nvSpPr>
          <p:cNvPr id="17"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ENVIRONMENT · SIGNAGE</a:t>
            </a:r>
            <a:endParaRPr lang="en-US" sz="1200" dirty="0"/>
          </a:p>
        </p:txBody>
      </p:sp>
      <p:sp>
        <p:nvSpPr>
          <p:cNvPr id="18"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CORPORATE AND B2B · CONCEPT / NOT PRODUCTION ARTWORK</a:t>
            </a:r>
            <a:endParaRPr lang="en-US" sz="1200" dirty="0"/>
          </a:p>
        </p:txBody>
      </p:sp>
      <p:sp>
        <p:nvSpPr>
          <p:cNvPr id="3" name="Shape 1"/>
          <p:cNvSpPr/>
          <p:nvPr/>
        </p:nvSpPr>
        <p:spPr>
          <a:xfrm>
            <a:off x="819150" y="1210270"/>
            <a:ext cx="3289300" cy="4625380"/>
          </a:xfrm>
          <a:prstGeom prst="rect">
            <a:avLst/>
          </a:prstGeom>
          <a:noFill/>
          <a:ln w="12700">
            <a:solidFill>
              <a:srgbClr val="12171D"/>
            </a:solidFill>
            <a:prstDash val="solid"/>
          </a:ln>
        </p:spPr>
        <p:txBody>
          <a:bodyPr/>
          <a:p/>
        </p:txBody>
      </p:sp>
      <p:pic>
        <p:nvPicPr>
          <p:cNvPr id="4" name="Image 0" descr="GEM signature on the letterhead concept." title="GEM signature on the letterhead concept.">    </p:cNvPr>
          <p:cNvPicPr>
            <a:picLocks noChangeAspect="1"/>
          </p:cNvPicPr>
          <p:nvPr/>
        </p:nvPicPr>
        <p:blipFill>
          <a:blip r:embed="rId1"/>
          <a:srcRect l="0" r="0" t="-24" b="-24"/>
          <a:stretch/>
        </p:blipFill>
        <p:spPr>
          <a:xfrm>
            <a:off x="1054100" y="1445220"/>
            <a:ext cx="1143000" cy="361950"/>
          </a:xfrm>
          <a:prstGeom prst="rect">
            <a:avLst/>
          </a:prstGeom>
        </p:spPr>
      </p:pic>
      <p:sp>
        <p:nvSpPr>
          <p:cNvPr id="5" name="Shape 2"/>
          <p:cNvSpPr/>
          <p:nvPr/>
        </p:nvSpPr>
        <p:spPr>
          <a:xfrm>
            <a:off x="1054100" y="3482975"/>
            <a:ext cx="1651000" cy="25400"/>
          </a:xfrm>
          <a:prstGeom prst="rect">
            <a:avLst/>
          </a:prstGeom>
          <a:solidFill>
            <a:srgbClr val="12171D"/>
          </a:solidFill>
          <a:ln/>
        </p:spPr>
        <p:txBody>
          <a:bodyPr/>
          <a:p/>
        </p:txBody>
      </p:sp>
      <p:sp>
        <p:nvSpPr>
          <p:cNvPr id="6" name="Shape 3"/>
          <p:cNvSpPr/>
          <p:nvPr/>
        </p:nvSpPr>
        <p:spPr>
          <a:xfrm>
            <a:off x="1054100" y="3584575"/>
            <a:ext cx="1270000" cy="25400"/>
          </a:xfrm>
          <a:prstGeom prst="rect">
            <a:avLst/>
          </a:prstGeom>
          <a:solidFill>
            <a:srgbClr val="BCACA7"/>
          </a:solidFill>
          <a:ln/>
        </p:spPr>
        <p:txBody>
          <a:bodyPr/>
          <a:p/>
        </p:txBody>
      </p:sp>
      <p:sp>
        <p:nvSpPr>
          <p:cNvPr id="7" name="Shape 4"/>
          <p:cNvSpPr/>
          <p:nvPr/>
        </p:nvSpPr>
        <p:spPr>
          <a:xfrm>
            <a:off x="1054100" y="3686175"/>
            <a:ext cx="1460500" cy="25400"/>
          </a:xfrm>
          <a:prstGeom prst="rect">
            <a:avLst/>
          </a:prstGeom>
          <a:solidFill>
            <a:srgbClr val="BCACA7"/>
          </a:solidFill>
          <a:ln/>
        </p:spPr>
        <p:txBody>
          <a:bodyPr/>
          <a:p/>
        </p:txBody>
      </p:sp>
      <p:sp>
        <p:nvSpPr>
          <p:cNvPr id="8" name="Text 5"/>
          <p:cNvSpPr/>
          <p:nvPr/>
        </p:nvSpPr>
        <p:spPr>
          <a:xfrm>
            <a:off x="1054100" y="5387380"/>
            <a:ext cx="290398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LETTERHEAD</a:t>
            </a:r>
            <a:endParaRPr lang="en-US" sz="1200" dirty="0"/>
          </a:p>
        </p:txBody>
      </p:sp>
      <p:sp>
        <p:nvSpPr>
          <p:cNvPr id="9" name="Shape 6"/>
          <p:cNvSpPr/>
          <p:nvPr/>
        </p:nvSpPr>
        <p:spPr>
          <a:xfrm>
            <a:off x="4292600" y="1203920"/>
            <a:ext cx="4241800" cy="2458740"/>
          </a:xfrm>
          <a:prstGeom prst="rect">
            <a:avLst/>
          </a:prstGeom>
          <a:solidFill>
            <a:srgbClr val="12171D"/>
          </a:solidFill>
          <a:ln/>
        </p:spPr>
        <p:txBody>
          <a:bodyPr/>
          <a:p/>
        </p:txBody>
      </p:sp>
      <p:sp>
        <p:nvSpPr>
          <p:cNvPr id="10" name="Text 7"/>
          <p:cNvSpPr/>
          <p:nvPr/>
        </p:nvSpPr>
        <p:spPr>
          <a:xfrm>
            <a:off x="4495800" y="140712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PROPOSAL</a:t>
            </a:r>
            <a:endParaRPr lang="en-US" sz="1200" dirty="0"/>
          </a:p>
        </p:txBody>
      </p:sp>
      <p:sp>
        <p:nvSpPr>
          <p:cNvPr id="11" name="Text 8"/>
          <p:cNvSpPr/>
          <p:nvPr/>
        </p:nvSpPr>
        <p:spPr>
          <a:xfrm>
            <a:off x="4495800" y="2677220"/>
            <a:ext cx="3950462" cy="807641"/>
          </a:xfrm>
          <a:prstGeom prst="rect">
            <a:avLst/>
          </a:prstGeom>
          <a:noFill/>
          <a:ln/>
        </p:spPr>
        <p:txBody>
          <a:bodyPr wrap="square" lIns="0" tIns="0" rIns="0" bIns="0" rtlCol="0" anchor="t">
            <a:normAutofit/>
          </a:bodyPr>
          <a:lstStyle/>
          <a:p>
            <a:pPr algn="l" indent="0" marL="0">
              <a:lnSpc>
                <a:spcPts val="3080"/>
              </a:lnSpc>
              <a:buNone/>
            </a:pPr>
            <a:r>
              <a:rPr lang="en-US" sz="2200" spc="90" kern="0" dirty="0">
                <a:solidFill>
                  <a:srgbClr val="FFFFFF"/>
                </a:solidFill>
                <a:latin typeface="Jost" pitchFamily="34" charset="0"/>
                <a:ea typeface="Jost" pitchFamily="34" charset="-122"/>
                <a:cs typeface="Jost" pitchFamily="34" charset="-120"/>
              </a:rPr>
              <a:t>GEM™ — AMENITIES &amp; PACKAGING</a:t>
            </a:r>
            <a:endParaRPr lang="en-US" sz="2200" dirty="0"/>
          </a:p>
        </p:txBody>
      </p:sp>
      <p:sp>
        <p:nvSpPr>
          <p:cNvPr id="12" name="Shape 9"/>
          <p:cNvSpPr/>
          <p:nvPr/>
        </p:nvSpPr>
        <p:spPr>
          <a:xfrm>
            <a:off x="4292600" y="3789660"/>
            <a:ext cx="2044700" cy="2052340"/>
          </a:xfrm>
          <a:prstGeom prst="rect">
            <a:avLst/>
          </a:prstGeom>
          <a:solidFill>
            <a:srgbClr val="BCACA7"/>
          </a:solidFill>
          <a:ln/>
        </p:spPr>
        <p:txBody>
          <a:bodyPr/>
          <a:p/>
        </p:txBody>
      </p:sp>
      <p:sp>
        <p:nvSpPr>
          <p:cNvPr id="13" name="Text 10"/>
          <p:cNvSpPr/>
          <p:nvPr/>
        </p:nvSpPr>
        <p:spPr>
          <a:xfrm>
            <a:off x="4470400" y="5237559"/>
            <a:ext cx="17399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QUOTATION</a:t>
            </a:r>
            <a:endParaRPr lang="en-US" sz="1200" dirty="0"/>
          </a:p>
        </p:txBody>
      </p:sp>
      <p:sp>
        <p:nvSpPr>
          <p:cNvPr id="14" name="Text 11"/>
          <p:cNvSpPr/>
          <p:nvPr/>
        </p:nvSpPr>
        <p:spPr>
          <a:xfrm>
            <a:off x="4470400" y="5450880"/>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Prices [PENDING]</a:t>
            </a:r>
            <a:endParaRPr lang="en-US" sz="1200" dirty="0"/>
          </a:p>
        </p:txBody>
      </p:sp>
      <p:sp>
        <p:nvSpPr>
          <p:cNvPr id="15" name="Shape 12"/>
          <p:cNvSpPr/>
          <p:nvPr/>
        </p:nvSpPr>
        <p:spPr>
          <a:xfrm>
            <a:off x="6470650" y="3796010"/>
            <a:ext cx="2057400" cy="2039640"/>
          </a:xfrm>
          <a:prstGeom prst="rect">
            <a:avLst/>
          </a:prstGeom>
          <a:noFill/>
          <a:ln w="12700">
            <a:solidFill>
              <a:srgbClr val="12171D"/>
            </a:solidFill>
            <a:prstDash val="solid"/>
          </a:ln>
        </p:spPr>
        <p:txBody>
          <a:bodyPr/>
          <a:p/>
        </p:txBody>
      </p:sp>
      <p:sp>
        <p:nvSpPr>
          <p:cNvPr id="16" name="Text 13"/>
          <p:cNvSpPr/>
          <p:nvPr/>
        </p:nvSpPr>
        <p:spPr>
          <a:xfrm>
            <a:off x="6654800" y="5011539"/>
            <a:ext cx="173990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SPECIFICATION SHEET</a:t>
            </a:r>
            <a:endParaRPr lang="en-US" sz="1200" dirty="0"/>
          </a:p>
        </p:txBody>
      </p:sp>
      <p:sp>
        <p:nvSpPr>
          <p:cNvPr id="17" name="Text 14"/>
          <p:cNvSpPr/>
          <p:nvPr/>
        </p:nvSpPr>
        <p:spPr>
          <a:xfrm>
            <a:off x="6654800" y="5438180"/>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Fields [PENDING]</a:t>
            </a:r>
            <a:endParaRPr lang="en-US" sz="1200" dirty="0"/>
          </a:p>
        </p:txBody>
      </p:sp>
      <p:sp>
        <p:nvSpPr>
          <p:cNvPr id="18" name="Text 15"/>
          <p:cNvSpPr/>
          <p:nvPr/>
        </p:nvSpPr>
        <p:spPr>
          <a:xfrm>
            <a:off x="8718550" y="1210270"/>
            <a:ext cx="2654300" cy="2306340"/>
          </a:xfrm>
          <a:prstGeom prst="rect">
            <a:avLst/>
          </a:prstGeom>
          <a:noFill/>
          <a:ln w="12700">
            <a:solidFill>
              <a:srgbClr val="12171D"/>
            </a:solidFill>
            <a:prstDash val="solid"/>
          </a:ln>
        </p:spPr>
        <p:txBody>
          <a:bodyPr wrap="square" lIns="184150" tIns="184150" rIns="115570" bIns="184150" rtlCol="0" anchor="b">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PRODUCT SHEET</a:t>
            </a:r>
            <a:endParaRPr lang="en-US" sz="1200" dirty="0"/>
          </a:p>
        </p:txBody>
      </p:sp>
      <p:sp>
        <p:nvSpPr>
          <p:cNvPr id="19" name="Shape 16"/>
          <p:cNvSpPr/>
          <p:nvPr/>
        </p:nvSpPr>
        <p:spPr>
          <a:xfrm>
            <a:off x="8731250" y="3649960"/>
            <a:ext cx="0" cy="2192040"/>
          </a:xfrm>
          <a:prstGeom prst="line">
            <a:avLst/>
          </a:prstGeom>
          <a:noFill/>
          <a:ln w="38100">
            <a:solidFill>
              <a:srgbClr val="12171D"/>
            </a:solidFill>
            <a:prstDash val="solid"/>
          </a:ln>
        </p:spPr>
        <p:txBody>
          <a:bodyPr/>
          <a:p/>
        </p:txBody>
      </p:sp>
      <p:sp>
        <p:nvSpPr>
          <p:cNvPr id="20" name="Text 17"/>
          <p:cNvSpPr/>
          <p:nvPr/>
        </p:nvSpPr>
        <p:spPr>
          <a:xfrm>
            <a:off x="8902700" y="5250259"/>
            <a:ext cx="239382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EMAIL SIGNATURE</a:t>
            </a:r>
            <a:endParaRPr lang="en-US" sz="1200" dirty="0"/>
          </a:p>
        </p:txBody>
      </p:sp>
      <p:sp>
        <p:nvSpPr>
          <p:cNvPr id="21" name="Text 18"/>
          <p:cNvSpPr/>
          <p:nvPr/>
        </p:nvSpPr>
        <p:spPr>
          <a:xfrm>
            <a:off x="8902700" y="5501680"/>
            <a:ext cx="23938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[NAME] · [ROLE] · GEM™</a:t>
            </a:r>
            <a:endParaRPr lang="en-US" sz="1200" dirty="0"/>
          </a:p>
        </p:txBody>
      </p:sp>
      <p:sp>
        <p:nvSpPr>
          <p:cNvPr id="22"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CORPORATE</a:t>
            </a:r>
            <a:endParaRPr lang="en-US" sz="1200" dirty="0"/>
          </a:p>
        </p:txBody>
      </p:sp>
      <p:sp>
        <p:nvSpPr>
          <p:cNvPr id="23"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PRESENTATIONS · PHILOSOPHY · CONCEPT</a:t>
            </a:r>
            <a:endParaRPr lang="en-US" sz="1200" dirty="0"/>
          </a:p>
        </p:txBody>
      </p:sp>
      <p:sp>
        <p:nvSpPr>
          <p:cNvPr id="3" name="Text 1"/>
          <p:cNvSpPr/>
          <p:nvPr>
            <p:ph type="title"/>
          </p:nvPr>
        </p:nvSpPr>
        <p:spPr>
          <a:xfrm>
            <a:off x="812800" y="1102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105" kern="0" dirty="0">
                <a:solidFill>
                  <a:srgbClr val="FFFFFF"/>
                </a:solidFill>
                <a:latin typeface="Jost" pitchFamily="34" charset="0"/>
                <a:ea typeface="Jost" pitchFamily="34" charset="-122"/>
                <a:cs typeface="Jost" pitchFamily="34" charset="-120"/>
              </a:rPr>
              <a:t>ONE IDEA PER SLIDE. SPACE DOES THE REST.</a:t>
            </a:r>
            <a:endParaRPr lang="en-US" sz="2600" dirty="0"/>
          </a:p>
        </p:txBody>
      </p:sp>
      <p:sp>
        <p:nvSpPr>
          <p:cNvPr id="4" name="Text 2"/>
          <p:cNvSpPr/>
          <p:nvPr/>
        </p:nvSpPr>
        <p:spPr>
          <a:xfrm>
            <a:off x="819150" y="1649661"/>
            <a:ext cx="3424734" cy="1888480"/>
          </a:xfrm>
          <a:prstGeom prst="rect">
            <a:avLst/>
          </a:prstGeom>
          <a:solidFill>
            <a:srgbClr val="12171D"/>
          </a:solidFill>
          <a:ln w="12700">
            <a:solidFill>
              <a:srgbClr val="BCACA7"/>
            </a:solidFill>
            <a:prstDash val="solid"/>
          </a:ln>
        </p:spPr>
        <p:txBody>
          <a:bodyPr wrap="square" lIns="133350" tIns="133350" rIns="38609" bIns="133350" rtlCol="0" anchor="b">
            <a:normAutofit/>
          </a:bodyPr>
          <a:lstStyle/>
          <a:p>
            <a:pPr algn="l"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COVER</a:t>
            </a:r>
            <a:endParaRPr lang="en-US" sz="1200" dirty="0"/>
          </a:p>
        </p:txBody>
      </p:sp>
      <p:sp>
        <p:nvSpPr>
          <p:cNvPr id="5" name="Text 3"/>
          <p:cNvSpPr/>
          <p:nvPr/>
        </p:nvSpPr>
        <p:spPr>
          <a:xfrm>
            <a:off x="4377234" y="1643311"/>
            <a:ext cx="3437483" cy="1901180"/>
          </a:xfrm>
          <a:prstGeom prst="rect">
            <a:avLst/>
          </a:prstGeom>
          <a:solidFill>
            <a:srgbClr val="BCACA7"/>
          </a:solidFill>
          <a:ln/>
        </p:spPr>
        <p:txBody>
          <a:bodyPr wrap="square" lIns="127000" tIns="127000" rIns="31496"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SECTION DIVIDER</a:t>
            </a:r>
            <a:endParaRPr lang="en-US" sz="1200" dirty="0"/>
          </a:p>
        </p:txBody>
      </p:sp>
      <p:sp>
        <p:nvSpPr>
          <p:cNvPr id="6" name="Text 4"/>
          <p:cNvSpPr/>
          <p:nvPr/>
        </p:nvSpPr>
        <p:spPr>
          <a:xfrm>
            <a:off x="7941717" y="1643311"/>
            <a:ext cx="3437434" cy="1901180"/>
          </a:xfrm>
          <a:prstGeom prst="rect">
            <a:avLst/>
          </a:prstGeom>
          <a:solidFill>
            <a:srgbClr val="FFFFFF"/>
          </a:solidFill>
          <a:ln/>
        </p:spPr>
        <p:txBody>
          <a:bodyPr wrap="square" lIns="127000" tIns="127000" rIns="31497"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CONTENT</a:t>
            </a:r>
            <a:endParaRPr lang="en-US" sz="1200" dirty="0"/>
          </a:p>
        </p:txBody>
      </p:sp>
      <p:sp>
        <p:nvSpPr>
          <p:cNvPr id="7" name="Shape 5"/>
          <p:cNvSpPr/>
          <p:nvPr/>
        </p:nvSpPr>
        <p:spPr>
          <a:xfrm>
            <a:off x="812800" y="3671491"/>
            <a:ext cx="3437434" cy="2170509"/>
          </a:xfrm>
          <a:prstGeom prst="rect">
            <a:avLst/>
          </a:prstGeom>
          <a:solidFill>
            <a:srgbClr val="FFFFFF"/>
          </a:solidFill>
          <a:ln/>
        </p:spPr>
        <p:txBody>
          <a:bodyPr/>
          <a:p/>
        </p:txBody>
      </p:sp>
      <p:sp>
        <p:nvSpPr>
          <p:cNvPr id="8" name="Text 6"/>
          <p:cNvSpPr/>
          <p:nvPr/>
        </p:nvSpPr>
        <p:spPr>
          <a:xfrm>
            <a:off x="939800" y="5501680"/>
            <a:ext cx="56078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DATA</a:t>
            </a:r>
            <a:endParaRPr lang="en-US" sz="1200" dirty="0"/>
          </a:p>
        </p:txBody>
      </p:sp>
      <p:pic>
        <p:nvPicPr>
          <p:cNvPr id="9" name="Image 0" descr="Miniature bar marks on the data slide concept." title="Miniature bar marks on the data slide concept.">    </p:cNvPr>
          <p:cNvPicPr>
            <a:picLocks noChangeAspect="1"/>
          </p:cNvPicPr>
          <p:nvPr/>
        </p:nvPicPr>
        <p:blipFill>
          <a:blip r:embed="rId1"/>
          <a:srcRect l="0" r="0" t="0" b="0"/>
          <a:stretch/>
        </p:blipFill>
        <p:spPr>
          <a:xfrm>
            <a:off x="3361234" y="5207000"/>
            <a:ext cx="762000" cy="508000"/>
          </a:xfrm>
          <a:prstGeom prst="rect">
            <a:avLst/>
          </a:prstGeom>
        </p:spPr>
      </p:pic>
      <p:sp>
        <p:nvSpPr>
          <p:cNvPr id="10" name="Shape 7"/>
          <p:cNvSpPr/>
          <p:nvPr/>
        </p:nvSpPr>
        <p:spPr>
          <a:xfrm>
            <a:off x="4377234" y="3671491"/>
            <a:ext cx="3437483" cy="2170509"/>
          </a:xfrm>
          <a:prstGeom prst="rect">
            <a:avLst/>
          </a:prstGeom>
          <a:solidFill>
            <a:srgbClr val="020202"/>
          </a:solidFill>
          <a:ln/>
        </p:spPr>
        <p:txBody>
          <a:bodyPr/>
          <a:p/>
        </p:txBody>
      </p:sp>
      <p:pic>
        <p:nvPicPr>
          <p:cNvPr id="11" name="Image 1" descr="Image-led slide miniature using the threshold study." title="Image-led slide miniature using the threshold study.">    </p:cNvPr>
          <p:cNvPicPr>
            <a:picLocks noChangeAspect="1"/>
          </p:cNvPicPr>
          <p:nvPr/>
        </p:nvPicPr>
        <p:blipFill>
          <a:blip r:embed="rId2"/>
          <a:srcRect l="509" r="509" t="0" b="0"/>
          <a:stretch/>
        </p:blipFill>
        <p:spPr>
          <a:xfrm>
            <a:off x="4377234" y="3671491"/>
            <a:ext cx="3437483" cy="2170509"/>
          </a:xfrm>
          <a:prstGeom prst="rect">
            <a:avLst/>
          </a:prstGeom>
        </p:spPr>
      </p:pic>
      <p:sp>
        <p:nvSpPr>
          <p:cNvPr id="12" name="Text 8"/>
          <p:cNvSpPr/>
          <p:nvPr/>
        </p:nvSpPr>
        <p:spPr>
          <a:xfrm>
            <a:off x="4377234" y="5527080"/>
            <a:ext cx="1267321" cy="314920"/>
          </a:xfrm>
          <a:prstGeom prst="rect">
            <a:avLst/>
          </a:prstGeom>
          <a:solidFill>
            <a:srgbClr val="12171D"/>
          </a:solidFill>
          <a:ln/>
        </p:spPr>
        <p:txBody>
          <a:bodyPr wrap="none" lIns="0" tIns="0" rIns="0" bIns="0" rtlCol="0" anchor="ctr">
            <a:normAutofit/>
          </a:bodyPr>
          <a:lstStyle/>
          <a:p>
            <a:pPr algn="ctr"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IMAGE-LED</a:t>
            </a:r>
            <a:endParaRPr lang="en-US" sz="1200" dirty="0"/>
          </a:p>
        </p:txBody>
      </p:sp>
      <p:sp>
        <p:nvSpPr>
          <p:cNvPr id="13" name="Shape 9"/>
          <p:cNvSpPr/>
          <p:nvPr/>
        </p:nvSpPr>
        <p:spPr>
          <a:xfrm>
            <a:off x="7941717" y="3671491"/>
            <a:ext cx="3437434" cy="2170509"/>
          </a:xfrm>
          <a:prstGeom prst="rect">
            <a:avLst/>
          </a:prstGeom>
          <a:solidFill>
            <a:srgbClr val="BCACA7"/>
          </a:solidFill>
          <a:ln/>
        </p:spPr>
        <p:txBody>
          <a:bodyPr/>
          <a:p/>
        </p:txBody>
      </p:sp>
      <p:sp>
        <p:nvSpPr>
          <p:cNvPr id="14" name="Text 10"/>
          <p:cNvSpPr/>
          <p:nvPr/>
        </p:nvSpPr>
        <p:spPr>
          <a:xfrm>
            <a:off x="7973214" y="3798491"/>
            <a:ext cx="3278937"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2171D"/>
                </a:solidFill>
                <a:latin typeface="Noto Sans Arabic" pitchFamily="34" charset="0"/>
                <a:ea typeface="Noto Sans Arabic" pitchFamily="34" charset="-122"/>
                <a:cs typeface="Noto Sans Arabic" pitchFamily="34" charset="-120"/>
              </a:rPr>
              <a:t>[عربي]</a:t>
            </a:r>
            <a:endParaRPr lang="en-US" sz="1600" dirty="0"/>
          </a:p>
        </p:txBody>
      </p:sp>
      <p:sp>
        <p:nvSpPr>
          <p:cNvPr id="15" name="Text 11"/>
          <p:cNvSpPr/>
          <p:nvPr/>
        </p:nvSpPr>
        <p:spPr>
          <a:xfrm>
            <a:off x="8068717" y="5501680"/>
            <a:ext cx="3278937"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BILINGUAL</a:t>
            </a:r>
            <a:endParaRPr lang="en-US" sz="1200" dirty="0"/>
          </a:p>
        </p:txBody>
      </p:sp>
      <p:sp>
        <p:nvSpPr>
          <p:cNvPr id="16" name="Text 12"/>
          <p:cNvSpPr/>
          <p:nvPr/>
        </p:nvSpPr>
        <p:spPr>
          <a:xfrm>
            <a:off x="812800" y="6024959"/>
            <a:ext cx="7194550" cy="452041"/>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CONCEPT / NOT PRODUCTION ARTWORK · ARABIC: PENDING LOCALIZATION APPROVAL · TEMPLATES: OPEN DELIVERABLE (AB10, W01, W13)</a:t>
            </a:r>
            <a:endParaRPr lang="en-US" sz="1200" dirty="0"/>
          </a:p>
        </p:txBody>
      </p:sp>
      <p:sp>
        <p:nvSpPr>
          <p:cNvPr id="17"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SOCIAL AND CAMPAIGN · CONCEPT / NOT PRODUCTION ARTWORK</a:t>
            </a:r>
            <a:endParaRPr lang="en-US" sz="1200" dirty="0"/>
          </a:p>
        </p:txBody>
      </p:sp>
      <p:sp>
        <p:nvSpPr>
          <p:cNvPr id="3" name="Text 1"/>
          <p:cNvSpPr/>
          <p:nvPr>
            <p:ph type="title"/>
          </p:nvPr>
        </p:nvSpPr>
        <p:spPr>
          <a:xfrm>
            <a:off x="812800" y="1102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Quiet in the feed is a strength.</a:t>
            </a:r>
            <a:endParaRPr lang="en-US" sz="2600" dirty="0"/>
          </a:p>
        </p:txBody>
      </p:sp>
      <p:sp>
        <p:nvSpPr>
          <p:cNvPr id="4" name="Shape 2"/>
          <p:cNvSpPr/>
          <p:nvPr/>
        </p:nvSpPr>
        <p:spPr>
          <a:xfrm>
            <a:off x="812800" y="2989014"/>
            <a:ext cx="2159000" cy="2159000"/>
          </a:xfrm>
          <a:prstGeom prst="rect">
            <a:avLst/>
          </a:prstGeom>
          <a:solidFill>
            <a:srgbClr val="12171D"/>
          </a:solidFill>
          <a:ln/>
        </p:spPr>
        <p:txBody>
          <a:bodyPr/>
          <a:p/>
        </p:txBody>
      </p:sp>
      <p:pic>
        <p:nvPicPr>
          <p:cNvPr id="5" name="Image 0" descr="1:1 social concept with a cropped ring." title="1:1 social concept with a cropped ring.">    </p:cNvPr>
          <p:cNvPicPr>
            <a:picLocks noChangeAspect="1"/>
          </p:cNvPicPr>
          <p:nvPr/>
        </p:nvPicPr>
        <p:blipFill>
          <a:blip r:embed="rId1"/>
          <a:srcRect l="0" r="0" t="0" b="0"/>
          <a:stretch/>
        </p:blipFill>
        <p:spPr>
          <a:xfrm>
            <a:off x="812800" y="2989014"/>
            <a:ext cx="2159000" cy="2159000"/>
          </a:xfrm>
          <a:prstGeom prst="rect">
            <a:avLst/>
          </a:prstGeom>
        </p:spPr>
      </p:pic>
      <p:sp>
        <p:nvSpPr>
          <p:cNvPr id="6" name="Text 3"/>
          <p:cNvSpPr/>
          <p:nvPr/>
        </p:nvSpPr>
        <p:spPr>
          <a:xfrm>
            <a:off x="965200" y="4800054"/>
            <a:ext cx="1701800" cy="220960"/>
          </a:xfrm>
          <a:prstGeom prst="rect">
            <a:avLst/>
          </a:prstGeom>
          <a:noFill/>
          <a:ln/>
        </p:spPr>
        <p:txBody>
          <a:bodyPr wrap="square" lIns="0" tIns="0" rIns="0" bIns="0" rtlCol="0" anchor="t">
            <a:normAutofit/>
          </a:bodyPr>
          <a:lstStyle/>
          <a:p>
            <a:pPr algn="l" indent="0" marL="0">
              <a:lnSpc>
                <a:spcPts val="1540"/>
              </a:lnSpc>
              <a:buNone/>
            </a:pPr>
            <a:r>
              <a:rPr lang="en-US" sz="1400" spc="55" kern="0" dirty="0">
                <a:solidFill>
                  <a:srgbClr val="FFFFFF"/>
                </a:solidFill>
                <a:latin typeface="Jost" pitchFamily="34" charset="0"/>
                <a:ea typeface="Jost" pitchFamily="34" charset="-122"/>
                <a:cs typeface="Jost" pitchFamily="34" charset="-120"/>
              </a:rPr>
              <a:t>[HEADLINE]</a:t>
            </a:r>
            <a:endParaRPr lang="en-US" sz="1400" dirty="0"/>
          </a:p>
        </p:txBody>
      </p:sp>
      <p:sp>
        <p:nvSpPr>
          <p:cNvPr id="7" name="Text 4"/>
          <p:cNvSpPr/>
          <p:nvPr/>
        </p:nvSpPr>
        <p:spPr>
          <a:xfrm>
            <a:off x="812800" y="5211514"/>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1:1</a:t>
            </a:r>
            <a:endParaRPr lang="en-US" sz="1200" dirty="0"/>
          </a:p>
        </p:txBody>
      </p:sp>
      <p:sp>
        <p:nvSpPr>
          <p:cNvPr id="8" name="Shape 5"/>
          <p:cNvSpPr/>
          <p:nvPr/>
        </p:nvSpPr>
        <p:spPr>
          <a:xfrm>
            <a:off x="3149600" y="2766764"/>
            <a:ext cx="1905000" cy="2381250"/>
          </a:xfrm>
          <a:prstGeom prst="rect">
            <a:avLst/>
          </a:prstGeom>
          <a:solidFill>
            <a:srgbClr val="BCACA7"/>
          </a:solidFill>
          <a:ln/>
        </p:spPr>
        <p:txBody>
          <a:bodyPr/>
          <a:p/>
        </p:txBody>
      </p:sp>
      <p:sp>
        <p:nvSpPr>
          <p:cNvPr id="9" name="Text 6"/>
          <p:cNvSpPr/>
          <p:nvPr/>
        </p:nvSpPr>
        <p:spPr>
          <a:xfrm>
            <a:off x="3302000" y="4800054"/>
            <a:ext cx="1574800" cy="220960"/>
          </a:xfrm>
          <a:prstGeom prst="rect">
            <a:avLst/>
          </a:prstGeom>
          <a:noFill/>
          <a:ln/>
        </p:spPr>
        <p:txBody>
          <a:bodyPr wrap="square" lIns="0" tIns="0" rIns="0" bIns="0" rtlCol="0" anchor="t">
            <a:normAutofit/>
          </a:bodyPr>
          <a:lstStyle/>
          <a:p>
            <a:pPr algn="l" indent="0" marL="0">
              <a:lnSpc>
                <a:spcPts val="1540"/>
              </a:lnSpc>
              <a:buNone/>
            </a:pPr>
            <a:r>
              <a:rPr lang="en-US" sz="1400" spc="55" kern="0" dirty="0">
                <a:solidFill>
                  <a:srgbClr val="12171D"/>
                </a:solidFill>
                <a:latin typeface="Jost" pitchFamily="34" charset="0"/>
                <a:ea typeface="Jost" pitchFamily="34" charset="-122"/>
                <a:cs typeface="Jost" pitchFamily="34" charset="-120"/>
              </a:rPr>
              <a:t>[HEADLINE]</a:t>
            </a:r>
            <a:endParaRPr lang="en-US" sz="1400" dirty="0"/>
          </a:p>
        </p:txBody>
      </p:sp>
      <p:sp>
        <p:nvSpPr>
          <p:cNvPr id="10" name="Text 7"/>
          <p:cNvSpPr/>
          <p:nvPr/>
        </p:nvSpPr>
        <p:spPr>
          <a:xfrm>
            <a:off x="3149600" y="5211514"/>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4:5</a:t>
            </a:r>
            <a:endParaRPr lang="en-US" sz="1200" dirty="0"/>
          </a:p>
        </p:txBody>
      </p:sp>
      <p:sp>
        <p:nvSpPr>
          <p:cNvPr id="11" name="Shape 8"/>
          <p:cNvSpPr/>
          <p:nvPr/>
        </p:nvSpPr>
        <p:spPr>
          <a:xfrm>
            <a:off x="5232400" y="2779464"/>
            <a:ext cx="1333500" cy="2368550"/>
          </a:xfrm>
          <a:prstGeom prst="rect">
            <a:avLst/>
          </a:prstGeom>
          <a:solidFill>
            <a:srgbClr val="12171D"/>
          </a:solidFill>
          <a:ln/>
        </p:spPr>
        <p:txBody>
          <a:bodyPr/>
          <a:p/>
        </p:txBody>
      </p:sp>
      <p:pic>
        <p:nvPicPr>
          <p:cNvPr id="12" name="Image 1" descr="9:16 social concept with a quarter form." title="9:16 social concept with a quarter form.">    </p:cNvPr>
          <p:cNvPicPr>
            <a:picLocks noChangeAspect="1"/>
          </p:cNvPicPr>
          <p:nvPr/>
        </p:nvPicPr>
        <p:blipFill>
          <a:blip r:embed="rId2"/>
          <a:srcRect l="0" r="0" t="0" b="0"/>
          <a:stretch/>
        </p:blipFill>
        <p:spPr>
          <a:xfrm>
            <a:off x="5232400" y="2779464"/>
            <a:ext cx="1333500" cy="2368550"/>
          </a:xfrm>
          <a:prstGeom prst="rect">
            <a:avLst/>
          </a:prstGeom>
        </p:spPr>
      </p:pic>
      <p:sp>
        <p:nvSpPr>
          <p:cNvPr id="13" name="Text 9"/>
          <p:cNvSpPr/>
          <p:nvPr/>
        </p:nvSpPr>
        <p:spPr>
          <a:xfrm>
            <a:off x="5359400" y="2957264"/>
            <a:ext cx="1130300" cy="193030"/>
          </a:xfrm>
          <a:prstGeom prst="rect">
            <a:avLst/>
          </a:prstGeom>
          <a:noFill/>
          <a:ln/>
        </p:spPr>
        <p:txBody>
          <a:bodyPr wrap="square" lIns="0" tIns="0" rIns="0" bIns="0" rtlCol="0" anchor="t">
            <a:normAutofit/>
          </a:bodyPr>
          <a:lstStyle/>
          <a:p>
            <a:pPr algn="l" indent="0" marL="0">
              <a:lnSpc>
                <a:spcPts val="1320"/>
              </a:lnSpc>
              <a:buNone/>
            </a:pPr>
            <a:r>
              <a:rPr lang="en-US" sz="1200" spc="50" kern="0" dirty="0">
                <a:solidFill>
                  <a:srgbClr val="FFFFFF"/>
                </a:solidFill>
                <a:latin typeface="Jost" pitchFamily="34" charset="0"/>
                <a:ea typeface="Jost" pitchFamily="34" charset="-122"/>
                <a:cs typeface="Jost" pitchFamily="34" charset="-120"/>
              </a:rPr>
              <a:t>[HEADLINE]</a:t>
            </a:r>
            <a:endParaRPr lang="en-US" sz="1200" dirty="0"/>
          </a:p>
        </p:txBody>
      </p:sp>
      <p:sp>
        <p:nvSpPr>
          <p:cNvPr id="14" name="Text 10"/>
          <p:cNvSpPr/>
          <p:nvPr/>
        </p:nvSpPr>
        <p:spPr>
          <a:xfrm>
            <a:off x="5232400" y="5211514"/>
            <a:ext cx="13843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9:16</a:t>
            </a:r>
            <a:endParaRPr lang="en-US" sz="1200" dirty="0"/>
          </a:p>
        </p:txBody>
      </p:sp>
      <p:sp>
        <p:nvSpPr>
          <p:cNvPr id="15" name="Shape 11"/>
          <p:cNvSpPr/>
          <p:nvPr/>
        </p:nvSpPr>
        <p:spPr>
          <a:xfrm>
            <a:off x="6743700" y="3293814"/>
            <a:ext cx="3302000" cy="1854200"/>
          </a:xfrm>
          <a:prstGeom prst="rect">
            <a:avLst/>
          </a:prstGeom>
          <a:solidFill>
            <a:srgbClr val="12171D"/>
          </a:solidFill>
          <a:ln/>
        </p:spPr>
        <p:txBody>
          <a:bodyPr/>
          <a:p/>
        </p:txBody>
      </p:sp>
      <p:sp>
        <p:nvSpPr>
          <p:cNvPr id="16" name="Text 12"/>
          <p:cNvSpPr/>
          <p:nvPr/>
        </p:nvSpPr>
        <p:spPr>
          <a:xfrm>
            <a:off x="6921500" y="4746724"/>
            <a:ext cx="2485390" cy="248890"/>
          </a:xfrm>
          <a:prstGeom prst="rect">
            <a:avLst/>
          </a:prstGeom>
          <a:noFill/>
          <a:ln/>
        </p:spPr>
        <p:txBody>
          <a:bodyPr wrap="square" lIns="0" tIns="0" rIns="0" bIns="0" rtlCol="0" anchor="t">
            <a:normAutofit/>
          </a:bodyPr>
          <a:lstStyle/>
          <a:p>
            <a:pPr algn="l" indent="0" marL="0">
              <a:lnSpc>
                <a:spcPts val="1760"/>
              </a:lnSpc>
              <a:buNone/>
            </a:pPr>
            <a:r>
              <a:rPr lang="en-US" sz="1600" spc="65" kern="0" dirty="0">
                <a:solidFill>
                  <a:srgbClr val="FFFFFF"/>
                </a:solidFill>
                <a:latin typeface="Jost" pitchFamily="34" charset="0"/>
                <a:ea typeface="Jost" pitchFamily="34" charset="-122"/>
                <a:cs typeface="Jost" pitchFamily="34" charset="-120"/>
              </a:rPr>
              <a:t>[HEADLINE]</a:t>
            </a:r>
            <a:endParaRPr lang="en-US" sz="1600" dirty="0"/>
          </a:p>
        </p:txBody>
      </p:sp>
      <p:sp>
        <p:nvSpPr>
          <p:cNvPr id="17" name="Text 13"/>
          <p:cNvSpPr/>
          <p:nvPr/>
        </p:nvSpPr>
        <p:spPr>
          <a:xfrm>
            <a:off x="6743700" y="5211514"/>
            <a:ext cx="340106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16:9</a:t>
            </a:r>
            <a:endParaRPr lang="en-US" sz="1200" dirty="0"/>
          </a:p>
        </p:txBody>
      </p:sp>
      <p:sp>
        <p:nvSpPr>
          <p:cNvPr id="18" name="Text 14"/>
          <p:cNvSpPr/>
          <p:nvPr/>
        </p:nvSpPr>
        <p:spPr>
          <a:xfrm>
            <a:off x="812800" y="5602635"/>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One form, one line, one spark at most. No loud colour, no stickers, no gradients. Social starter set: OPEN DELIVERABLE (W07), not yet produced.</a:t>
            </a:r>
            <a:endParaRPr lang="en-US" sz="13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SOCIAL</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08</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STEWARDSHIP</a:t>
            </a:r>
            <a:endParaRPr lang="en-US" sz="7200" dirty="0"/>
          </a:p>
        </p:txBody>
      </p:sp>
      <p:sp>
        <p:nvSpPr>
          <p:cNvPr id="5" name="Text 2"/>
          <p:cNvSpPr/>
          <p:nvPr/>
        </p:nvSpPr>
        <p:spPr>
          <a:xfrm>
            <a:off x="812800" y="3810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Access, governance, status and what remains open.</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ACCESSIBILITY</a:t>
            </a:r>
            <a:endParaRPr lang="en-US" sz="1200" dirty="0"/>
          </a:p>
        </p:txBody>
      </p:sp>
      <p:sp>
        <p:nvSpPr>
          <p:cNvPr id="3" name="Text 1"/>
          <p:cNvSpPr/>
          <p:nvPr>
            <p:ph type="title"/>
          </p:nvPr>
        </p:nvSpPr>
        <p:spPr>
          <a:xfrm>
            <a:off x="812800" y="128012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0" i="0" spc="95" kern="0" dirty="0">
                <a:solidFill>
                  <a:srgbClr val="12171D"/>
                </a:solidFill>
                <a:latin typeface="Jost" pitchFamily="34" charset="0"/>
                <a:ea typeface="Jost" pitchFamily="34" charset="-122"/>
                <a:cs typeface="Jost" pitchFamily="34" charset="-120"/>
              </a:rPr>
              <a:t>Luxury must remain usable.</a:t>
            </a:r>
            <a:endParaRPr lang="en-US" sz="4800" dirty="0"/>
          </a:p>
        </p:txBody>
      </p:sp>
      <p:sp>
        <p:nvSpPr>
          <p:cNvPr id="4" name="Shape 2"/>
          <p:cNvSpPr/>
          <p:nvPr/>
        </p:nvSpPr>
        <p:spPr>
          <a:xfrm>
            <a:off x="812800" y="2180530"/>
            <a:ext cx="2641600" cy="0"/>
          </a:xfrm>
          <a:prstGeom prst="line">
            <a:avLst/>
          </a:prstGeom>
          <a:noFill/>
          <a:ln w="12700">
            <a:solidFill>
              <a:srgbClr val="12171D"/>
            </a:solidFill>
            <a:prstDash val="solid"/>
          </a:ln>
        </p:spPr>
        <p:txBody>
          <a:bodyPr/>
          <a:p/>
        </p:txBody>
      </p:sp>
      <p:sp>
        <p:nvSpPr>
          <p:cNvPr id="5" name="Text 3"/>
          <p:cNvSpPr/>
          <p:nvPr/>
        </p:nvSpPr>
        <p:spPr>
          <a:xfrm>
            <a:off x="8128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Contrast</a:t>
            </a:r>
            <a:endParaRPr lang="en-US" sz="1500" dirty="0"/>
          </a:p>
        </p:txBody>
      </p:sp>
      <p:sp>
        <p:nvSpPr>
          <p:cNvPr id="6" name="Text 4"/>
          <p:cNvSpPr/>
          <p:nvPr/>
        </p:nvSpPr>
        <p:spPr>
          <a:xfrm>
            <a:off x="8128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18.0. Beige on Ink 8.2. Never Beige on White.</a:t>
            </a:r>
            <a:endParaRPr lang="en-US" sz="1200" dirty="0"/>
          </a:p>
        </p:txBody>
      </p:sp>
      <p:sp>
        <p:nvSpPr>
          <p:cNvPr id="7" name="Shape 5"/>
          <p:cNvSpPr/>
          <p:nvPr/>
        </p:nvSpPr>
        <p:spPr>
          <a:xfrm>
            <a:off x="3454400" y="2180530"/>
            <a:ext cx="2641600" cy="0"/>
          </a:xfrm>
          <a:prstGeom prst="line">
            <a:avLst/>
          </a:prstGeom>
          <a:noFill/>
          <a:ln w="12700">
            <a:solidFill>
              <a:srgbClr val="12171D"/>
            </a:solidFill>
            <a:prstDash val="solid"/>
          </a:ln>
        </p:spPr>
        <p:txBody>
          <a:bodyPr/>
          <a:p/>
        </p:txBody>
      </p:sp>
      <p:sp>
        <p:nvSpPr>
          <p:cNvPr id="8" name="Text 6"/>
          <p:cNvSpPr/>
          <p:nvPr/>
        </p:nvSpPr>
        <p:spPr>
          <a:xfrm>
            <a:off x="34544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Legibility</a:t>
            </a:r>
            <a:endParaRPr lang="en-US" sz="1500" dirty="0"/>
          </a:p>
        </p:txBody>
      </p:sp>
      <p:sp>
        <p:nvSpPr>
          <p:cNvPr id="9" name="Text 7"/>
          <p:cNvSpPr/>
          <p:nvPr/>
        </p:nvSpPr>
        <p:spPr>
          <a:xfrm>
            <a:off x="34544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Readable sizes, clear hierarchy, no text over busy images.</a:t>
            </a:r>
            <a:endParaRPr lang="en-US" sz="1200" dirty="0"/>
          </a:p>
        </p:txBody>
      </p:sp>
      <p:sp>
        <p:nvSpPr>
          <p:cNvPr id="10" name="Shape 8"/>
          <p:cNvSpPr/>
          <p:nvPr/>
        </p:nvSpPr>
        <p:spPr>
          <a:xfrm>
            <a:off x="6096000" y="2180530"/>
            <a:ext cx="2641600" cy="0"/>
          </a:xfrm>
          <a:prstGeom prst="line">
            <a:avLst/>
          </a:prstGeom>
          <a:noFill/>
          <a:ln w="12700">
            <a:solidFill>
              <a:srgbClr val="12171D"/>
            </a:solidFill>
            <a:prstDash val="solid"/>
          </a:ln>
        </p:spPr>
        <p:txBody>
          <a:bodyPr/>
          <a:p/>
        </p:txBody>
      </p:sp>
      <p:sp>
        <p:nvSpPr>
          <p:cNvPr id="11" name="Text 9"/>
          <p:cNvSpPr/>
          <p:nvPr/>
        </p:nvSpPr>
        <p:spPr>
          <a:xfrm>
            <a:off x="60960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Focus and motion</a:t>
            </a:r>
            <a:endParaRPr lang="en-US" sz="1500" dirty="0"/>
          </a:p>
        </p:txBody>
      </p:sp>
      <p:sp>
        <p:nvSpPr>
          <p:cNvPr id="12" name="Text 10"/>
          <p:cNvSpPr/>
          <p:nvPr/>
        </p:nvSpPr>
        <p:spPr>
          <a:xfrm>
            <a:off x="60960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Visible focus. Reduced motion is honoured.</a:t>
            </a:r>
            <a:endParaRPr lang="en-US" sz="1200" dirty="0"/>
          </a:p>
        </p:txBody>
      </p:sp>
      <p:sp>
        <p:nvSpPr>
          <p:cNvPr id="13" name="Shape 11"/>
          <p:cNvSpPr/>
          <p:nvPr/>
        </p:nvSpPr>
        <p:spPr>
          <a:xfrm>
            <a:off x="8737600" y="2180530"/>
            <a:ext cx="2641600" cy="0"/>
          </a:xfrm>
          <a:prstGeom prst="line">
            <a:avLst/>
          </a:prstGeom>
          <a:noFill/>
          <a:ln w="12700">
            <a:solidFill>
              <a:srgbClr val="12171D"/>
            </a:solidFill>
            <a:prstDash val="solid"/>
          </a:ln>
        </p:spPr>
        <p:txBody>
          <a:bodyPr/>
          <a:p/>
        </p:txBody>
      </p:sp>
      <p:sp>
        <p:nvSpPr>
          <p:cNvPr id="14" name="Text 12"/>
          <p:cNvSpPr/>
          <p:nvPr/>
        </p:nvSpPr>
        <p:spPr>
          <a:xfrm>
            <a:off x="87376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Meaning</a:t>
            </a:r>
            <a:endParaRPr lang="en-US" sz="1500" dirty="0"/>
          </a:p>
        </p:txBody>
      </p:sp>
      <p:sp>
        <p:nvSpPr>
          <p:cNvPr id="15" name="Text 13"/>
          <p:cNvSpPr/>
          <p:nvPr/>
        </p:nvSpPr>
        <p:spPr>
          <a:xfrm>
            <a:off x="87376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Never by colour alone. Add a word, a glyph or a shape.</a:t>
            </a:r>
            <a:endParaRPr lang="en-US" sz="1200" dirty="0"/>
          </a:p>
        </p:txBody>
      </p:sp>
      <p:sp>
        <p:nvSpPr>
          <p:cNvPr id="16" name="Shape 14"/>
          <p:cNvSpPr/>
          <p:nvPr/>
        </p:nvSpPr>
        <p:spPr>
          <a:xfrm>
            <a:off x="812800" y="4014440"/>
            <a:ext cx="2641600" cy="0"/>
          </a:xfrm>
          <a:prstGeom prst="line">
            <a:avLst/>
          </a:prstGeom>
          <a:noFill/>
          <a:ln w="12700">
            <a:solidFill>
              <a:srgbClr val="12171D"/>
            </a:solidFill>
            <a:prstDash val="solid"/>
          </a:ln>
        </p:spPr>
        <p:txBody>
          <a:bodyPr/>
          <a:p/>
        </p:txBody>
      </p:sp>
      <p:sp>
        <p:nvSpPr>
          <p:cNvPr id="17" name="Text 15"/>
          <p:cNvSpPr/>
          <p:nvPr/>
        </p:nvSpPr>
        <p:spPr>
          <a:xfrm>
            <a:off x="8128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Arabic</a:t>
            </a:r>
            <a:endParaRPr lang="en-US" sz="1500" dirty="0"/>
          </a:p>
        </p:txBody>
      </p:sp>
      <p:sp>
        <p:nvSpPr>
          <p:cNvPr id="18" name="Text 16"/>
          <p:cNvSpPr/>
          <p:nvPr/>
        </p:nvSpPr>
        <p:spPr>
          <a:xfrm>
            <a:off x="8128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Correct shaping and direction. Native QA pending.</a:t>
            </a:r>
            <a:endParaRPr lang="en-US" sz="1200" dirty="0"/>
          </a:p>
        </p:txBody>
      </p:sp>
      <p:sp>
        <p:nvSpPr>
          <p:cNvPr id="19" name="Shape 17"/>
          <p:cNvSpPr/>
          <p:nvPr/>
        </p:nvSpPr>
        <p:spPr>
          <a:xfrm>
            <a:off x="3454400" y="4014440"/>
            <a:ext cx="2641600" cy="0"/>
          </a:xfrm>
          <a:prstGeom prst="line">
            <a:avLst/>
          </a:prstGeom>
          <a:noFill/>
          <a:ln w="12700">
            <a:solidFill>
              <a:srgbClr val="12171D"/>
            </a:solidFill>
            <a:prstDash val="solid"/>
          </a:ln>
        </p:spPr>
        <p:txBody>
          <a:bodyPr/>
          <a:p/>
        </p:txBody>
      </p:sp>
      <p:sp>
        <p:nvSpPr>
          <p:cNvPr id="20" name="Text 18"/>
          <p:cNvSpPr/>
          <p:nvPr/>
        </p:nvSpPr>
        <p:spPr>
          <a:xfrm>
            <a:off x="34544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Signage</a:t>
            </a:r>
            <a:endParaRPr lang="en-US" sz="1500" dirty="0"/>
          </a:p>
        </p:txBody>
      </p:sp>
      <p:sp>
        <p:nvSpPr>
          <p:cNvPr id="21" name="Text 19"/>
          <p:cNvSpPr/>
          <p:nvPr/>
        </p:nvSpPr>
        <p:spPr>
          <a:xfrm>
            <a:off x="34544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Tactile and contrast rules validated per site.</a:t>
            </a:r>
            <a:endParaRPr lang="en-US" sz="1200" dirty="0"/>
          </a:p>
        </p:txBody>
      </p:sp>
      <p:sp>
        <p:nvSpPr>
          <p:cNvPr id="22" name="Shape 20"/>
          <p:cNvSpPr/>
          <p:nvPr/>
        </p:nvSpPr>
        <p:spPr>
          <a:xfrm>
            <a:off x="6096000" y="4014440"/>
            <a:ext cx="2641600" cy="0"/>
          </a:xfrm>
          <a:prstGeom prst="line">
            <a:avLst/>
          </a:prstGeom>
          <a:noFill/>
          <a:ln w="12700">
            <a:solidFill>
              <a:srgbClr val="12171D"/>
            </a:solidFill>
            <a:prstDash val="solid"/>
          </a:ln>
        </p:spPr>
        <p:txBody>
          <a:bodyPr/>
          <a:p/>
        </p:txBody>
      </p:sp>
      <p:sp>
        <p:nvSpPr>
          <p:cNvPr id="23" name="Text 21"/>
          <p:cNvSpPr/>
          <p:nvPr/>
        </p:nvSpPr>
        <p:spPr>
          <a:xfrm>
            <a:off x="60960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Imagery</a:t>
            </a:r>
            <a:endParaRPr lang="en-US" sz="1500" dirty="0"/>
          </a:p>
        </p:txBody>
      </p:sp>
      <p:sp>
        <p:nvSpPr>
          <p:cNvPr id="24" name="Text 22"/>
          <p:cNvSpPr/>
          <p:nvPr/>
        </p:nvSpPr>
        <p:spPr>
          <a:xfrm>
            <a:off x="60960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Inclusive, candid, respectful people. Alt text always.</a:t>
            </a:r>
            <a:endParaRPr lang="en-US" sz="1200" dirty="0"/>
          </a:p>
        </p:txBody>
      </p:sp>
      <p:sp>
        <p:nvSpPr>
          <p:cNvPr id="25" name="Shape 23"/>
          <p:cNvSpPr/>
          <p:nvPr/>
        </p:nvSpPr>
        <p:spPr>
          <a:xfrm>
            <a:off x="8737600" y="4014440"/>
            <a:ext cx="2641600" cy="0"/>
          </a:xfrm>
          <a:prstGeom prst="line">
            <a:avLst/>
          </a:prstGeom>
          <a:noFill/>
          <a:ln w="12700">
            <a:solidFill>
              <a:srgbClr val="12171D"/>
            </a:solidFill>
            <a:prstDash val="solid"/>
          </a:ln>
        </p:spPr>
        <p:txBody>
          <a:bodyPr/>
          <a:p/>
        </p:txBody>
      </p:sp>
      <p:sp>
        <p:nvSpPr>
          <p:cNvPr id="26" name="Text 24"/>
          <p:cNvSpPr/>
          <p:nvPr/>
        </p:nvSpPr>
        <p:spPr>
          <a:xfrm>
            <a:off x="87376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Standard</a:t>
            </a:r>
            <a:endParaRPr lang="en-US" sz="1500" dirty="0"/>
          </a:p>
        </p:txBody>
      </p:sp>
      <p:sp>
        <p:nvSpPr>
          <p:cNvPr id="27" name="Text 25"/>
          <p:cNvSpPr/>
          <p:nvPr/>
        </p:nvSpPr>
        <p:spPr>
          <a:xfrm>
            <a:off x="8737600" y="4389090"/>
            <a:ext cx="27208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WCAG 2.2 AA. Detail in Part B.</a:t>
            </a:r>
            <a:endParaRPr lang="en-US" sz="1200" dirty="0"/>
          </a:p>
        </p:txBody>
      </p:sp>
      <p:sp>
        <p:nvSpPr>
          <p:cNvPr id="28" name="Text 26"/>
          <p:cNvSpPr/>
          <p:nvPr/>
        </p:nvSpPr>
        <p:spPr>
          <a:xfrm>
            <a:off x="812800" y="6238280"/>
            <a:ext cx="76200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ACCESSIBILITY</a:t>
            </a:r>
            <a:endParaRPr lang="en-US" sz="1200" dirty="0"/>
          </a:p>
        </p:txBody>
      </p:sp>
      <p:sp>
        <p:nvSpPr>
          <p:cNvPr id="29" name="Text 2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BRAND GOVERNANCE</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TWELVE ROLES KEEP GEM EXACT.</a:t>
            </a:r>
            <a:endParaRPr lang="en-US" sz="3000" dirty="0"/>
          </a:p>
        </p:txBody>
      </p:sp>
      <p:sp>
        <p:nvSpPr>
          <p:cNvPr id="4" name="Shape 2"/>
          <p:cNvSpPr/>
          <p:nvPr/>
        </p:nvSpPr>
        <p:spPr>
          <a:xfrm>
            <a:off x="822960" y="1783080"/>
            <a:ext cx="2533650" cy="1097280"/>
          </a:xfrm>
          <a:prstGeom prst="rect">
            <a:avLst/>
          </a:prstGeom>
          <a:noFill/>
          <a:ln w="12700">
            <a:solidFill>
              <a:srgbClr val="BCACA7"/>
            </a:solidFill>
            <a:prstDash val="solid"/>
          </a:ln>
        </p:spPr>
        <p:txBody>
          <a:bodyPr/>
          <a:p/>
        </p:txBody>
      </p:sp>
      <p:sp>
        <p:nvSpPr>
          <p:cNvPr id="5" name="Text 3"/>
          <p:cNvSpPr/>
          <p:nvPr/>
        </p:nvSpPr>
        <p:spPr>
          <a:xfrm>
            <a:off x="978408"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Brand Owner</a:t>
            </a:r>
            <a:endParaRPr lang="en-US" sz="1600" dirty="0"/>
          </a:p>
        </p:txBody>
      </p:sp>
      <p:sp>
        <p:nvSpPr>
          <p:cNvPr id="6" name="Text 4"/>
          <p:cNvSpPr/>
          <p:nvPr/>
        </p:nvSpPr>
        <p:spPr>
          <a:xfrm>
            <a:off x="978408"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7" name="Shape 5"/>
          <p:cNvSpPr/>
          <p:nvPr/>
        </p:nvSpPr>
        <p:spPr>
          <a:xfrm>
            <a:off x="3493008" y="1783080"/>
            <a:ext cx="2533650" cy="1097280"/>
          </a:xfrm>
          <a:prstGeom prst="rect">
            <a:avLst/>
          </a:prstGeom>
          <a:noFill/>
          <a:ln w="12700">
            <a:solidFill>
              <a:srgbClr val="BCACA7"/>
            </a:solidFill>
            <a:prstDash val="solid"/>
          </a:ln>
        </p:spPr>
        <p:txBody>
          <a:bodyPr/>
          <a:p/>
        </p:txBody>
      </p:sp>
      <p:sp>
        <p:nvSpPr>
          <p:cNvPr id="8" name="Text 6"/>
          <p:cNvSpPr/>
          <p:nvPr/>
        </p:nvSpPr>
        <p:spPr>
          <a:xfrm>
            <a:off x="3648456"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Design Custodian</a:t>
            </a:r>
            <a:endParaRPr lang="en-US" sz="1600" dirty="0"/>
          </a:p>
        </p:txBody>
      </p:sp>
      <p:sp>
        <p:nvSpPr>
          <p:cNvPr id="9" name="Text 7"/>
          <p:cNvSpPr/>
          <p:nvPr/>
        </p:nvSpPr>
        <p:spPr>
          <a:xfrm>
            <a:off x="3648456"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0" name="Shape 8"/>
          <p:cNvSpPr/>
          <p:nvPr/>
        </p:nvSpPr>
        <p:spPr>
          <a:xfrm>
            <a:off x="6163056" y="1783080"/>
            <a:ext cx="2533650" cy="1097280"/>
          </a:xfrm>
          <a:prstGeom prst="rect">
            <a:avLst/>
          </a:prstGeom>
          <a:noFill/>
          <a:ln w="12700">
            <a:solidFill>
              <a:srgbClr val="BCACA7"/>
            </a:solidFill>
            <a:prstDash val="solid"/>
          </a:ln>
        </p:spPr>
        <p:txBody>
          <a:bodyPr/>
          <a:p/>
        </p:txBody>
      </p:sp>
      <p:sp>
        <p:nvSpPr>
          <p:cNvPr id="11" name="Text 9"/>
          <p:cNvSpPr/>
          <p:nvPr/>
        </p:nvSpPr>
        <p:spPr>
          <a:xfrm>
            <a:off x="6318504"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Commercial Lead</a:t>
            </a:r>
            <a:endParaRPr lang="en-US" sz="1600" dirty="0"/>
          </a:p>
        </p:txBody>
      </p:sp>
      <p:sp>
        <p:nvSpPr>
          <p:cNvPr id="12" name="Text 10"/>
          <p:cNvSpPr/>
          <p:nvPr/>
        </p:nvSpPr>
        <p:spPr>
          <a:xfrm>
            <a:off x="6318504"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3" name="Shape 11"/>
          <p:cNvSpPr/>
          <p:nvPr/>
        </p:nvSpPr>
        <p:spPr>
          <a:xfrm>
            <a:off x="8842248" y="1783080"/>
            <a:ext cx="2533650" cy="1097280"/>
          </a:xfrm>
          <a:prstGeom prst="rect">
            <a:avLst/>
          </a:prstGeom>
          <a:noFill/>
          <a:ln w="12700">
            <a:solidFill>
              <a:srgbClr val="BCACA7"/>
            </a:solidFill>
            <a:prstDash val="solid"/>
          </a:ln>
        </p:spPr>
        <p:txBody>
          <a:bodyPr/>
          <a:p/>
        </p:txBody>
      </p:sp>
      <p:sp>
        <p:nvSpPr>
          <p:cNvPr id="14" name="Text 12"/>
          <p:cNvSpPr/>
          <p:nvPr/>
        </p:nvSpPr>
        <p:spPr>
          <a:xfrm>
            <a:off x="8997696"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Product / Amenities Lead</a:t>
            </a:r>
            <a:endParaRPr lang="en-US" sz="1600" dirty="0"/>
          </a:p>
        </p:txBody>
      </p:sp>
      <p:sp>
        <p:nvSpPr>
          <p:cNvPr id="15" name="Text 13"/>
          <p:cNvSpPr/>
          <p:nvPr/>
        </p:nvSpPr>
        <p:spPr>
          <a:xfrm>
            <a:off x="8997696"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6" name="Shape 14"/>
          <p:cNvSpPr/>
          <p:nvPr/>
        </p:nvSpPr>
        <p:spPr>
          <a:xfrm>
            <a:off x="822960" y="3017520"/>
            <a:ext cx="2533650" cy="1097280"/>
          </a:xfrm>
          <a:prstGeom prst="rect">
            <a:avLst/>
          </a:prstGeom>
          <a:noFill/>
          <a:ln w="12700">
            <a:solidFill>
              <a:srgbClr val="BCACA7"/>
            </a:solidFill>
            <a:prstDash val="solid"/>
          </a:ln>
        </p:spPr>
        <p:txBody>
          <a:bodyPr/>
          <a:p/>
        </p:txBody>
      </p:sp>
      <p:sp>
        <p:nvSpPr>
          <p:cNvPr id="17" name="Text 15"/>
          <p:cNvSpPr/>
          <p:nvPr/>
        </p:nvSpPr>
        <p:spPr>
          <a:xfrm>
            <a:off x="978408"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Procurement / Supplier QA</a:t>
            </a:r>
            <a:endParaRPr lang="en-US" sz="1600" dirty="0"/>
          </a:p>
        </p:txBody>
      </p:sp>
      <p:sp>
        <p:nvSpPr>
          <p:cNvPr id="18" name="Text 16"/>
          <p:cNvSpPr/>
          <p:nvPr/>
        </p:nvSpPr>
        <p:spPr>
          <a:xfrm>
            <a:off x="978408"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9" name="Shape 17"/>
          <p:cNvSpPr/>
          <p:nvPr/>
        </p:nvSpPr>
        <p:spPr>
          <a:xfrm>
            <a:off x="3493008" y="3017520"/>
            <a:ext cx="2533650" cy="1097280"/>
          </a:xfrm>
          <a:prstGeom prst="rect">
            <a:avLst/>
          </a:prstGeom>
          <a:noFill/>
          <a:ln w="12700">
            <a:solidFill>
              <a:srgbClr val="BCACA7"/>
            </a:solidFill>
            <a:prstDash val="solid"/>
          </a:ln>
        </p:spPr>
        <p:txBody>
          <a:bodyPr/>
          <a:p/>
        </p:txBody>
      </p:sp>
      <p:sp>
        <p:nvSpPr>
          <p:cNvPr id="20" name="Text 18"/>
          <p:cNvSpPr/>
          <p:nvPr/>
        </p:nvSpPr>
        <p:spPr>
          <a:xfrm>
            <a:off x="3648456"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Digital Design Lead</a:t>
            </a:r>
            <a:endParaRPr lang="en-US" sz="1600" dirty="0"/>
          </a:p>
        </p:txBody>
      </p:sp>
      <p:sp>
        <p:nvSpPr>
          <p:cNvPr id="21" name="Text 19"/>
          <p:cNvSpPr/>
          <p:nvPr/>
        </p:nvSpPr>
        <p:spPr>
          <a:xfrm>
            <a:off x="3648456"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2" name="Shape 20"/>
          <p:cNvSpPr/>
          <p:nvPr/>
        </p:nvSpPr>
        <p:spPr>
          <a:xfrm>
            <a:off x="6163056" y="3017520"/>
            <a:ext cx="2533650" cy="1097280"/>
          </a:xfrm>
          <a:prstGeom prst="rect">
            <a:avLst/>
          </a:prstGeom>
          <a:noFill/>
          <a:ln w="12700">
            <a:solidFill>
              <a:srgbClr val="BCACA7"/>
            </a:solidFill>
            <a:prstDash val="solid"/>
          </a:ln>
        </p:spPr>
        <p:txBody>
          <a:bodyPr/>
          <a:p/>
        </p:txBody>
      </p:sp>
      <p:sp>
        <p:nvSpPr>
          <p:cNvPr id="23" name="Text 21"/>
          <p:cNvSpPr/>
          <p:nvPr/>
        </p:nvSpPr>
        <p:spPr>
          <a:xfrm>
            <a:off x="6318504"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Engineering Lead</a:t>
            </a:r>
            <a:endParaRPr lang="en-US" sz="1600" dirty="0"/>
          </a:p>
        </p:txBody>
      </p:sp>
      <p:sp>
        <p:nvSpPr>
          <p:cNvPr id="24" name="Text 22"/>
          <p:cNvSpPr/>
          <p:nvPr/>
        </p:nvSpPr>
        <p:spPr>
          <a:xfrm>
            <a:off x="6318504"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5" name="Shape 23"/>
          <p:cNvSpPr/>
          <p:nvPr/>
        </p:nvSpPr>
        <p:spPr>
          <a:xfrm>
            <a:off x="8842248" y="3017520"/>
            <a:ext cx="2533650" cy="1097280"/>
          </a:xfrm>
          <a:prstGeom prst="rect">
            <a:avLst/>
          </a:prstGeom>
          <a:noFill/>
          <a:ln w="12700">
            <a:solidFill>
              <a:srgbClr val="BCACA7"/>
            </a:solidFill>
            <a:prstDash val="solid"/>
          </a:ln>
        </p:spPr>
        <p:txBody>
          <a:bodyPr/>
          <a:p/>
        </p:txBody>
      </p:sp>
      <p:sp>
        <p:nvSpPr>
          <p:cNvPr id="26" name="Text 24"/>
          <p:cNvSpPr/>
          <p:nvPr/>
        </p:nvSpPr>
        <p:spPr>
          <a:xfrm>
            <a:off x="8997696"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Arabic / Localization Lead</a:t>
            </a:r>
            <a:endParaRPr lang="en-US" sz="1600" dirty="0"/>
          </a:p>
        </p:txBody>
      </p:sp>
      <p:sp>
        <p:nvSpPr>
          <p:cNvPr id="27" name="Text 25"/>
          <p:cNvSpPr/>
          <p:nvPr/>
        </p:nvSpPr>
        <p:spPr>
          <a:xfrm>
            <a:off x="8997696"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8" name="Text 26"/>
          <p:cNvSpPr/>
          <p:nvPr/>
        </p:nvSpPr>
        <p:spPr>
          <a:xfrm>
            <a:off x="812800" y="5513832"/>
            <a:ext cx="10883392" cy="548640"/>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Roles follow the V3 Approval Register (Owners &amp; Governance). Named holders are not yet assigned (AC19). Release authorization (AC20) rests with the Brand Owner. ™ in running text and on packs: [REQUIRES OWNER · Legal / IP Counsel].</a:t>
            </a:r>
            <a:endParaRPr lang="en-US" sz="1300" dirty="0"/>
          </a:p>
        </p:txBody>
      </p:sp>
      <p:sp>
        <p:nvSpPr>
          <p:cNvPr id="29" name="Text 2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GOVERNANCE</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72</a:t>
            </a:r>
            <a:endParaRPr lang="en-US" sz="1200" dirty="0"/>
          </a:p>
        </p:txBody>
      </p:sp>
      <p:sp>
        <p:nvSpPr>
          <p:cNvPr id="31" name="Shape 2-8"/>
          <p:cNvSpPr/>
          <p:nvPr/>
        </p:nvSpPr>
        <p:spPr>
          <a:xfrm>
            <a:off x="822960" y="4251960"/>
            <a:ext cx="2533650" cy="1097280"/>
          </a:xfrm>
          <a:prstGeom prst="rect">
            <a:avLst/>
          </a:prstGeom>
          <a:noFill/>
          <a:ln w="12700">
            <a:solidFill>
              <a:srgbClr val="BCACA7"/>
            </a:solidFill>
            <a:prstDash val="solid"/>
          </a:ln>
        </p:spPr>
        <p:txBody>
          <a:bodyPr/>
          <a:p/>
        </p:txBody>
      </p:sp>
      <p:sp>
        <p:nvSpPr>
          <p:cNvPr id="32" name="Text 3-8"/>
          <p:cNvSpPr/>
          <p:nvPr/>
        </p:nvSpPr>
        <p:spPr>
          <a:xfrm>
            <a:off x="978408"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Accessibility QA</a:t>
            </a:r>
            <a:endParaRPr lang="en-US" sz="1600" dirty="0"/>
          </a:p>
        </p:txBody>
      </p:sp>
      <p:sp>
        <p:nvSpPr>
          <p:cNvPr id="33" name="Text 4-8"/>
          <p:cNvSpPr/>
          <p:nvPr/>
        </p:nvSpPr>
        <p:spPr>
          <a:xfrm>
            <a:off x="978408"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34" name="Shape 2-9"/>
          <p:cNvSpPr/>
          <p:nvPr/>
        </p:nvSpPr>
        <p:spPr>
          <a:xfrm>
            <a:off x="3493008" y="4251960"/>
            <a:ext cx="2533650" cy="1097280"/>
          </a:xfrm>
          <a:prstGeom prst="rect">
            <a:avLst/>
          </a:prstGeom>
          <a:noFill/>
          <a:ln w="12700">
            <a:solidFill>
              <a:srgbClr val="BCACA7"/>
            </a:solidFill>
            <a:prstDash val="solid"/>
          </a:ln>
        </p:spPr>
        <p:txBody>
          <a:bodyPr/>
          <a:p/>
        </p:txBody>
      </p:sp>
      <p:sp>
        <p:nvSpPr>
          <p:cNvPr id="35" name="Text 3-9"/>
          <p:cNvSpPr/>
          <p:nvPr/>
        </p:nvSpPr>
        <p:spPr>
          <a:xfrm>
            <a:off x="3648456"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Legal / IP Counsel</a:t>
            </a:r>
            <a:endParaRPr lang="en-US" sz="1600" dirty="0"/>
          </a:p>
        </p:txBody>
      </p:sp>
      <p:sp>
        <p:nvSpPr>
          <p:cNvPr id="36" name="Text 4-9"/>
          <p:cNvSpPr/>
          <p:nvPr/>
        </p:nvSpPr>
        <p:spPr>
          <a:xfrm>
            <a:off x="3648456"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37" name="Shape 2-10"/>
          <p:cNvSpPr/>
          <p:nvPr/>
        </p:nvSpPr>
        <p:spPr>
          <a:xfrm>
            <a:off x="6163056" y="4251960"/>
            <a:ext cx="2533650" cy="1097280"/>
          </a:xfrm>
          <a:prstGeom prst="rect">
            <a:avLst/>
          </a:prstGeom>
          <a:noFill/>
          <a:ln w="12700">
            <a:solidFill>
              <a:srgbClr val="BCACA7"/>
            </a:solidFill>
            <a:prstDash val="solid"/>
          </a:ln>
        </p:spPr>
        <p:txBody>
          <a:bodyPr/>
          <a:p/>
        </p:txBody>
      </p:sp>
      <p:sp>
        <p:nvSpPr>
          <p:cNvPr id="38" name="Text 3-10"/>
          <p:cNvSpPr/>
          <p:nvPr/>
        </p:nvSpPr>
        <p:spPr>
          <a:xfrm>
            <a:off x="6318504"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Presentation / Document QA</a:t>
            </a:r>
            <a:endParaRPr lang="en-US" sz="1600" dirty="0"/>
          </a:p>
        </p:txBody>
      </p:sp>
      <p:sp>
        <p:nvSpPr>
          <p:cNvPr id="39" name="Text 4-10"/>
          <p:cNvSpPr/>
          <p:nvPr/>
        </p:nvSpPr>
        <p:spPr>
          <a:xfrm>
            <a:off x="6318504"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40" name="Shape 2-11"/>
          <p:cNvSpPr/>
          <p:nvPr/>
        </p:nvSpPr>
        <p:spPr>
          <a:xfrm>
            <a:off x="8842248" y="4251960"/>
            <a:ext cx="2533650" cy="1097280"/>
          </a:xfrm>
          <a:prstGeom prst="rect">
            <a:avLst/>
          </a:prstGeom>
          <a:noFill/>
          <a:ln w="12700">
            <a:solidFill>
              <a:srgbClr val="BCACA7"/>
            </a:solidFill>
            <a:prstDash val="solid"/>
          </a:ln>
        </p:spPr>
        <p:txBody>
          <a:bodyPr/>
          <a:p/>
        </p:txBody>
      </p:sp>
      <p:sp>
        <p:nvSpPr>
          <p:cNvPr id="41" name="Text 3-11"/>
          <p:cNvSpPr/>
          <p:nvPr/>
        </p:nvSpPr>
        <p:spPr>
          <a:xfrm>
            <a:off x="8997696"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Asset Librarian / Governance PM</a:t>
            </a:r>
            <a:endParaRPr lang="en-US" sz="1600" dirty="0"/>
          </a:p>
        </p:txBody>
      </p:sp>
      <p:sp>
        <p:nvSpPr>
          <p:cNvPr id="42" name="Text 4-11"/>
          <p:cNvSpPr/>
          <p:nvPr/>
        </p:nvSpPr>
        <p:spPr>
          <a:xfrm>
            <a:off x="8997696"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APPROVAL STATUS · FOUR LABELS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Every claim in V3 says how settled it is.</a:t>
            </a:r>
            <a:endParaRPr lang="en-US" sz="3200" dirty="0"/>
          </a:p>
        </p:txBody>
      </p:sp>
      <p:sp>
        <p:nvSpPr>
          <p:cNvPr id="4" name="Shape 2"/>
          <p:cNvSpPr/>
          <p:nvPr/>
        </p:nvSpPr>
        <p:spPr>
          <a:xfrm>
            <a:off x="812800" y="1930350"/>
            <a:ext cx="2530475" cy="3443684"/>
          </a:xfrm>
          <a:prstGeom prst="rect">
            <a:avLst/>
          </a:prstGeom>
          <a:solidFill>
            <a:srgbClr val="12171D"/>
          </a:solidFill>
          <a:ln/>
        </p:spPr>
        <p:txBody>
          <a:bodyPr/>
          <a:p/>
        </p:txBody>
      </p:sp>
      <p:sp>
        <p:nvSpPr>
          <p:cNvPr id="5" name="Text 3"/>
          <p:cNvSpPr/>
          <p:nvPr/>
        </p:nvSpPr>
        <p:spPr>
          <a:xfrm>
            <a:off x="1016000" y="21335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APPROVED</a:t>
            </a:r>
            <a:endParaRPr lang="en-US" sz="1800" dirty="0"/>
          </a:p>
        </p:txBody>
      </p:sp>
      <p:sp>
        <p:nvSpPr>
          <p:cNvPr id="6" name="Text 4"/>
          <p:cNvSpPr/>
          <p:nvPr/>
        </p:nvSpPr>
        <p:spPr>
          <a:xfrm>
            <a:off x="1016000" y="470857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Final. Use as written. Not reopened.</a:t>
            </a:r>
            <a:endParaRPr lang="en-US" sz="1300" dirty="0"/>
          </a:p>
        </p:txBody>
      </p:sp>
      <p:sp>
        <p:nvSpPr>
          <p:cNvPr id="7" name="Shape 5"/>
          <p:cNvSpPr/>
          <p:nvPr/>
        </p:nvSpPr>
        <p:spPr>
          <a:xfrm>
            <a:off x="3470275" y="1930350"/>
            <a:ext cx="2530475" cy="3443684"/>
          </a:xfrm>
          <a:prstGeom prst="rect">
            <a:avLst/>
          </a:prstGeom>
          <a:solidFill>
            <a:srgbClr val="BCACA7"/>
          </a:solidFill>
          <a:ln/>
        </p:spPr>
        <p:txBody>
          <a:bodyPr/>
          <a:p/>
        </p:txBody>
      </p:sp>
      <p:sp>
        <p:nvSpPr>
          <p:cNvPr id="8" name="Text 6"/>
          <p:cNvSpPr/>
          <p:nvPr/>
        </p:nvSpPr>
        <p:spPr>
          <a:xfrm>
            <a:off x="3673475" y="21335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CONDITIONAL</a:t>
            </a:r>
            <a:endParaRPr lang="en-US" sz="1800" dirty="0"/>
          </a:p>
        </p:txBody>
      </p:sp>
      <p:sp>
        <p:nvSpPr>
          <p:cNvPr id="9" name="Text 7"/>
          <p:cNvSpPr/>
          <p:nvPr/>
        </p:nvSpPr>
        <p:spPr>
          <a:xfrm>
            <a:off x="3673475" y="4477445"/>
            <a:ext cx="218779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Usable once stated evidence or conditions are met.</a:t>
            </a:r>
            <a:endParaRPr lang="en-US" sz="1300" dirty="0"/>
          </a:p>
        </p:txBody>
      </p:sp>
      <p:sp>
        <p:nvSpPr>
          <p:cNvPr id="10" name="Shape 8"/>
          <p:cNvSpPr/>
          <p:nvPr/>
        </p:nvSpPr>
        <p:spPr>
          <a:xfrm>
            <a:off x="6137275" y="1939875"/>
            <a:ext cx="2549525" cy="3424634"/>
          </a:xfrm>
          <a:prstGeom prst="rect">
            <a:avLst/>
          </a:prstGeom>
          <a:noFill/>
          <a:ln w="19050">
            <a:solidFill>
              <a:srgbClr val="12171D"/>
            </a:solidFill>
            <a:prstDash val="dash"/>
          </a:ln>
        </p:spPr>
        <p:txBody>
          <a:bodyPr/>
          <a:p/>
        </p:txBody>
      </p:sp>
      <p:sp>
        <p:nvSpPr>
          <p:cNvPr id="11" name="Text 9"/>
          <p:cNvSpPr/>
          <p:nvPr/>
        </p:nvSpPr>
        <p:spPr>
          <a:xfrm>
            <a:off x="6350000" y="2152600"/>
            <a:ext cx="2187797" cy="66546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PENDING VALIDATION</a:t>
            </a:r>
            <a:endParaRPr lang="en-US" sz="1800" dirty="0"/>
          </a:p>
        </p:txBody>
      </p:sp>
      <p:sp>
        <p:nvSpPr>
          <p:cNvPr id="12" name="Text 10"/>
          <p:cNvSpPr/>
          <p:nvPr/>
        </p:nvSpPr>
        <p:spPr>
          <a:xfrm>
            <a:off x="6350000" y="468952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Working state. Do not present as final.</a:t>
            </a:r>
            <a:endParaRPr lang="en-US" sz="1300" dirty="0"/>
          </a:p>
        </p:txBody>
      </p:sp>
      <p:sp>
        <p:nvSpPr>
          <p:cNvPr id="13" name="Shape 11"/>
          <p:cNvSpPr/>
          <p:nvPr/>
        </p:nvSpPr>
        <p:spPr>
          <a:xfrm>
            <a:off x="8829675" y="1936700"/>
            <a:ext cx="2543175" cy="3430984"/>
          </a:xfrm>
          <a:prstGeom prst="rect">
            <a:avLst/>
          </a:prstGeom>
          <a:noFill/>
          <a:ln w="12700">
            <a:solidFill>
              <a:srgbClr val="12171D"/>
            </a:solidFill>
            <a:prstDash val="solid"/>
          </a:ln>
        </p:spPr>
        <p:txBody>
          <a:bodyPr/>
          <a:p/>
        </p:txBody>
      </p:sp>
      <p:sp>
        <p:nvSpPr>
          <p:cNvPr id="14" name="Text 12"/>
          <p:cNvSpPr/>
          <p:nvPr/>
        </p:nvSpPr>
        <p:spPr>
          <a:xfrm>
            <a:off x="9039225" y="21462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REFERENCE</a:t>
            </a:r>
            <a:endParaRPr lang="en-US" sz="1800" dirty="0"/>
          </a:p>
        </p:txBody>
      </p:sp>
      <p:sp>
        <p:nvSpPr>
          <p:cNvPr id="15" name="Text 13"/>
          <p:cNvSpPr/>
          <p:nvPr/>
        </p:nvSpPr>
        <p:spPr>
          <a:xfrm>
            <a:off x="9039225" y="469587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Illustrative or historical. Not for production.</a:t>
            </a:r>
            <a:endParaRPr lang="en-US" sz="1300" dirty="0"/>
          </a:p>
        </p:txBody>
      </p:sp>
      <p:sp>
        <p:nvSpPr>
          <p:cNvPr id="16" name="Text 14"/>
          <p:cNvSpPr/>
          <p:nvPr/>
        </p:nvSpPr>
        <p:spPr>
          <a:xfrm>
            <a:off x="812800" y="5602635"/>
            <a:ext cx="1137920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Labels are always written as words, never signalled by colour alone. Placeholders: [PENDING], [TO BE VERIFIED], [REQUIRES OWNER].</a:t>
            </a:r>
            <a:endParaRPr lang="en-US" sz="13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STATUS</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73</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ASSET LIBRARY</a:t>
            </a:r>
            <a:endParaRPr lang="en-US" sz="1200" dirty="0"/>
          </a:p>
        </p:txBody>
      </p:sp>
      <p:sp>
        <p:nvSpPr>
          <p:cNvPr id="3" name="Text 1"/>
          <p:cNvSpPr/>
          <p:nvPr>
            <p:ph type="title"/>
          </p:nvPr>
        </p:nvSpPr>
        <p:spPr>
          <a:xfrm>
            <a:off x="812800" y="1203920"/>
            <a:ext cx="4055110" cy="91946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TEN FOLDERS. ONE SOURCE.</a:t>
            </a:r>
            <a:endParaRPr lang="en-US" sz="3200" dirty="0"/>
          </a:p>
        </p:txBody>
      </p:sp>
      <p:sp>
        <p:nvSpPr>
          <p:cNvPr id="4" name="Text 2"/>
          <p:cNvSpPr/>
          <p:nvPr/>
        </p:nvSpPr>
        <p:spPr>
          <a:xfrm>
            <a:off x="812800" y="5363270"/>
            <a:ext cx="405511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Only approved artwork lives in the library. Anything pending is labelled and kept apart.</a:t>
            </a:r>
            <a:endParaRPr lang="en-US" sz="1300" dirty="0"/>
          </a:p>
        </p:txBody>
      </p:sp>
      <p:sp>
        <p:nvSpPr>
          <p:cNvPr id="5" name="Shape 3"/>
          <p:cNvSpPr/>
          <p:nvPr/>
        </p:nvSpPr>
        <p:spPr>
          <a:xfrm>
            <a:off x="5359400" y="815975"/>
            <a:ext cx="3009900" cy="0"/>
          </a:xfrm>
          <a:prstGeom prst="line">
            <a:avLst/>
          </a:prstGeom>
          <a:noFill/>
          <a:ln w="6350">
            <a:solidFill>
              <a:srgbClr val="BCACA7"/>
            </a:solidFill>
            <a:prstDash val="solid"/>
          </a:ln>
        </p:spPr>
        <p:txBody>
          <a:bodyPr/>
          <a:p/>
        </p:txBody>
      </p:sp>
      <p:sp>
        <p:nvSpPr>
          <p:cNvPr id="6" name="Text 4"/>
          <p:cNvSpPr/>
          <p:nvPr/>
        </p:nvSpPr>
        <p:spPr>
          <a:xfrm>
            <a:off x="5359400" y="93345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01</a:t>
            </a:r>
            <a:r>
              <a:rPr lang="en-US" sz="1500" dirty="0">
                <a:solidFill>
                  <a:srgbClr val="FFFFFF"/>
                </a:solidFill>
                <a:latin typeface="Inter" pitchFamily="34" charset="0"/>
                <a:ea typeface="Inter" pitchFamily="34" charset="-122"/>
                <a:cs typeface="Inter" pitchFamily="34" charset="-120"/>
              </a:rPr>
              <a:t> Brand Masters</a:t>
            </a:r>
            <a:endParaRPr lang="en-US" sz="1500" dirty="0"/>
          </a:p>
        </p:txBody>
      </p:sp>
      <p:sp>
        <p:nvSpPr>
          <p:cNvPr id="7" name="Shape 5"/>
          <p:cNvSpPr/>
          <p:nvPr/>
        </p:nvSpPr>
        <p:spPr>
          <a:xfrm>
            <a:off x="8369300" y="815975"/>
            <a:ext cx="3009900" cy="0"/>
          </a:xfrm>
          <a:prstGeom prst="line">
            <a:avLst/>
          </a:prstGeom>
          <a:noFill/>
          <a:ln w="6350">
            <a:solidFill>
              <a:srgbClr val="BCACA7"/>
            </a:solidFill>
            <a:prstDash val="solid"/>
          </a:ln>
        </p:spPr>
        <p:txBody>
          <a:bodyPr/>
          <a:p/>
        </p:txBody>
      </p:sp>
      <p:sp>
        <p:nvSpPr>
          <p:cNvPr id="8" name="Text 6"/>
          <p:cNvSpPr/>
          <p:nvPr/>
        </p:nvSpPr>
        <p:spPr>
          <a:xfrm>
            <a:off x="8369300" y="93345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06</a:t>
            </a:r>
            <a:r>
              <a:rPr lang="en-US" sz="1500" dirty="0">
                <a:solidFill>
                  <a:srgbClr val="FFFFFF"/>
                </a:solidFill>
                <a:latin typeface="Inter" pitchFamily="34" charset="0"/>
                <a:ea typeface="Inter" pitchFamily="34" charset="-122"/>
                <a:cs typeface="Inter" pitchFamily="34" charset="-120"/>
              </a:rPr>
              <a:t> Packaging</a:t>
            </a:r>
            <a:endParaRPr lang="en-US" sz="1500" dirty="0"/>
          </a:p>
        </p:txBody>
      </p:sp>
      <p:sp>
        <p:nvSpPr>
          <p:cNvPr id="9" name="Shape 7"/>
          <p:cNvSpPr/>
          <p:nvPr/>
        </p:nvSpPr>
        <p:spPr>
          <a:xfrm>
            <a:off x="5359400" y="1820515"/>
            <a:ext cx="3009900" cy="0"/>
          </a:xfrm>
          <a:prstGeom prst="line">
            <a:avLst/>
          </a:prstGeom>
          <a:noFill/>
          <a:ln w="6350">
            <a:solidFill>
              <a:srgbClr val="BCACA7"/>
            </a:solidFill>
            <a:prstDash val="solid"/>
          </a:ln>
        </p:spPr>
        <p:txBody>
          <a:bodyPr/>
          <a:p/>
        </p:txBody>
      </p:sp>
      <p:sp>
        <p:nvSpPr>
          <p:cNvPr id="10" name="Text 8"/>
          <p:cNvSpPr/>
          <p:nvPr/>
        </p:nvSpPr>
        <p:spPr>
          <a:xfrm>
            <a:off x="5359400" y="193799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02</a:t>
            </a:r>
            <a:r>
              <a:rPr lang="en-US" sz="1500" dirty="0">
                <a:solidFill>
                  <a:srgbClr val="FFFFFF"/>
                </a:solidFill>
                <a:latin typeface="Inter" pitchFamily="34" charset="0"/>
                <a:ea typeface="Inter" pitchFamily="34" charset="-122"/>
                <a:cs typeface="Inter" pitchFamily="34" charset="-120"/>
              </a:rPr>
              <a:t> Type &amp; Color</a:t>
            </a:r>
            <a:endParaRPr lang="en-US" sz="1500" dirty="0"/>
          </a:p>
        </p:txBody>
      </p:sp>
      <p:sp>
        <p:nvSpPr>
          <p:cNvPr id="11" name="Shape 9"/>
          <p:cNvSpPr/>
          <p:nvPr/>
        </p:nvSpPr>
        <p:spPr>
          <a:xfrm>
            <a:off x="8369300" y="1820515"/>
            <a:ext cx="3009900" cy="0"/>
          </a:xfrm>
          <a:prstGeom prst="line">
            <a:avLst/>
          </a:prstGeom>
          <a:noFill/>
          <a:ln w="6350">
            <a:solidFill>
              <a:srgbClr val="BCACA7"/>
            </a:solidFill>
            <a:prstDash val="solid"/>
          </a:ln>
        </p:spPr>
        <p:txBody>
          <a:bodyPr/>
          <a:p/>
        </p:txBody>
      </p:sp>
      <p:sp>
        <p:nvSpPr>
          <p:cNvPr id="12" name="Text 10"/>
          <p:cNvSpPr/>
          <p:nvPr/>
        </p:nvSpPr>
        <p:spPr>
          <a:xfrm>
            <a:off x="8369300" y="193799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07</a:t>
            </a:r>
            <a:r>
              <a:rPr lang="en-US" sz="1500" dirty="0">
                <a:solidFill>
                  <a:srgbClr val="FFFFFF"/>
                </a:solidFill>
                <a:latin typeface="Inter" pitchFamily="34" charset="0"/>
                <a:ea typeface="Inter" pitchFamily="34" charset="-122"/>
                <a:cs typeface="Inter" pitchFamily="34" charset="-120"/>
              </a:rPr>
              <a:t> Digital</a:t>
            </a:r>
            <a:endParaRPr lang="en-US" sz="1500" dirty="0"/>
          </a:p>
        </p:txBody>
      </p:sp>
      <p:sp>
        <p:nvSpPr>
          <p:cNvPr id="13" name="Shape 11"/>
          <p:cNvSpPr/>
          <p:nvPr/>
        </p:nvSpPr>
        <p:spPr>
          <a:xfrm>
            <a:off x="5359400" y="2825055"/>
            <a:ext cx="3009900" cy="0"/>
          </a:xfrm>
          <a:prstGeom prst="line">
            <a:avLst/>
          </a:prstGeom>
          <a:noFill/>
          <a:ln w="6350">
            <a:solidFill>
              <a:srgbClr val="BCACA7"/>
            </a:solidFill>
            <a:prstDash val="solid"/>
          </a:ln>
        </p:spPr>
        <p:txBody>
          <a:bodyPr/>
          <a:p/>
        </p:txBody>
      </p:sp>
      <p:sp>
        <p:nvSpPr>
          <p:cNvPr id="14" name="Text 12"/>
          <p:cNvSpPr/>
          <p:nvPr/>
        </p:nvSpPr>
        <p:spPr>
          <a:xfrm>
            <a:off x="5359400" y="294253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03</a:t>
            </a:r>
            <a:r>
              <a:rPr lang="en-US" sz="1500" dirty="0">
                <a:solidFill>
                  <a:srgbClr val="FFFFFF"/>
                </a:solidFill>
                <a:latin typeface="Inter" pitchFamily="34" charset="0"/>
                <a:ea typeface="Inter" pitchFamily="34" charset="-122"/>
                <a:cs typeface="Inter" pitchFamily="34" charset="-120"/>
              </a:rPr>
              <a:t> Imagery</a:t>
            </a:r>
            <a:endParaRPr lang="en-US" sz="1500" dirty="0"/>
          </a:p>
        </p:txBody>
      </p:sp>
      <p:sp>
        <p:nvSpPr>
          <p:cNvPr id="15" name="Shape 13"/>
          <p:cNvSpPr/>
          <p:nvPr/>
        </p:nvSpPr>
        <p:spPr>
          <a:xfrm>
            <a:off x="8369300" y="2825055"/>
            <a:ext cx="3009900" cy="0"/>
          </a:xfrm>
          <a:prstGeom prst="line">
            <a:avLst/>
          </a:prstGeom>
          <a:noFill/>
          <a:ln w="6350">
            <a:solidFill>
              <a:srgbClr val="BCACA7"/>
            </a:solidFill>
            <a:prstDash val="solid"/>
          </a:ln>
        </p:spPr>
        <p:txBody>
          <a:bodyPr/>
          <a:p/>
        </p:txBody>
      </p:sp>
      <p:sp>
        <p:nvSpPr>
          <p:cNvPr id="16" name="Text 14"/>
          <p:cNvSpPr/>
          <p:nvPr/>
        </p:nvSpPr>
        <p:spPr>
          <a:xfrm>
            <a:off x="8369300" y="294253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08</a:t>
            </a:r>
            <a:r>
              <a:rPr lang="en-US" sz="1500" dirty="0">
                <a:solidFill>
                  <a:srgbClr val="FFFFFF"/>
                </a:solidFill>
                <a:latin typeface="Inter" pitchFamily="34" charset="0"/>
                <a:ea typeface="Inter" pitchFamily="34" charset="-122"/>
                <a:cs typeface="Inter" pitchFamily="34" charset="-120"/>
              </a:rPr>
              <a:t> Localization</a:t>
            </a:r>
            <a:endParaRPr lang="en-US" sz="1500" dirty="0"/>
          </a:p>
        </p:txBody>
      </p:sp>
      <p:sp>
        <p:nvSpPr>
          <p:cNvPr id="17" name="Shape 15"/>
          <p:cNvSpPr/>
          <p:nvPr/>
        </p:nvSpPr>
        <p:spPr>
          <a:xfrm>
            <a:off x="5359400" y="3829645"/>
            <a:ext cx="3009900" cy="0"/>
          </a:xfrm>
          <a:prstGeom prst="line">
            <a:avLst/>
          </a:prstGeom>
          <a:noFill/>
          <a:ln w="6350">
            <a:solidFill>
              <a:srgbClr val="BCACA7"/>
            </a:solidFill>
            <a:prstDash val="solid"/>
          </a:ln>
        </p:spPr>
        <p:txBody>
          <a:bodyPr/>
          <a:p/>
        </p:txBody>
      </p:sp>
      <p:sp>
        <p:nvSpPr>
          <p:cNvPr id="18" name="Text 16"/>
          <p:cNvSpPr/>
          <p:nvPr/>
        </p:nvSpPr>
        <p:spPr>
          <a:xfrm>
            <a:off x="5359400" y="394712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04</a:t>
            </a:r>
            <a:r>
              <a:rPr lang="en-US" sz="1500" dirty="0">
                <a:solidFill>
                  <a:srgbClr val="FFFFFF"/>
                </a:solidFill>
                <a:latin typeface="Inter" pitchFamily="34" charset="0"/>
                <a:ea typeface="Inter" pitchFamily="34" charset="-122"/>
                <a:cs typeface="Inter" pitchFamily="34" charset="-120"/>
              </a:rPr>
              <a:t> Motion</a:t>
            </a:r>
            <a:endParaRPr lang="en-US" sz="1500" dirty="0"/>
          </a:p>
        </p:txBody>
      </p:sp>
      <p:sp>
        <p:nvSpPr>
          <p:cNvPr id="19" name="Shape 17"/>
          <p:cNvSpPr/>
          <p:nvPr/>
        </p:nvSpPr>
        <p:spPr>
          <a:xfrm>
            <a:off x="8369300" y="3829645"/>
            <a:ext cx="3009900" cy="0"/>
          </a:xfrm>
          <a:prstGeom prst="line">
            <a:avLst/>
          </a:prstGeom>
          <a:noFill/>
          <a:ln w="6350">
            <a:solidFill>
              <a:srgbClr val="BCACA7"/>
            </a:solidFill>
            <a:prstDash val="solid"/>
          </a:ln>
        </p:spPr>
        <p:txBody>
          <a:bodyPr/>
          <a:p/>
        </p:txBody>
      </p:sp>
      <p:sp>
        <p:nvSpPr>
          <p:cNvPr id="20" name="Text 18"/>
          <p:cNvSpPr/>
          <p:nvPr/>
        </p:nvSpPr>
        <p:spPr>
          <a:xfrm>
            <a:off x="8369300" y="394712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09</a:t>
            </a:r>
            <a:r>
              <a:rPr lang="en-US" sz="1500" dirty="0">
                <a:solidFill>
                  <a:srgbClr val="FFFFFF"/>
                </a:solidFill>
                <a:latin typeface="Inter" pitchFamily="34" charset="0"/>
                <a:ea typeface="Inter" pitchFamily="34" charset="-122"/>
                <a:cs typeface="Inter" pitchFamily="34" charset="-120"/>
              </a:rPr>
              <a:t> Governance</a:t>
            </a:r>
            <a:endParaRPr lang="en-US" sz="1500" dirty="0"/>
          </a:p>
        </p:txBody>
      </p:sp>
      <p:sp>
        <p:nvSpPr>
          <p:cNvPr id="21" name="Shape 19"/>
          <p:cNvSpPr/>
          <p:nvPr/>
        </p:nvSpPr>
        <p:spPr>
          <a:xfrm>
            <a:off x="5359400" y="4834235"/>
            <a:ext cx="3009900" cy="0"/>
          </a:xfrm>
          <a:prstGeom prst="line">
            <a:avLst/>
          </a:prstGeom>
          <a:noFill/>
          <a:ln w="6350">
            <a:solidFill>
              <a:srgbClr val="BCACA7"/>
            </a:solidFill>
            <a:prstDash val="solid"/>
          </a:ln>
        </p:spPr>
        <p:txBody>
          <a:bodyPr/>
          <a:p/>
        </p:txBody>
      </p:sp>
      <p:sp>
        <p:nvSpPr>
          <p:cNvPr id="22" name="Shape 20"/>
          <p:cNvSpPr/>
          <p:nvPr/>
        </p:nvSpPr>
        <p:spPr>
          <a:xfrm>
            <a:off x="5359400" y="5838825"/>
            <a:ext cx="3009900" cy="0"/>
          </a:xfrm>
          <a:prstGeom prst="line">
            <a:avLst/>
          </a:prstGeom>
          <a:noFill/>
          <a:ln w="6350">
            <a:solidFill>
              <a:srgbClr val="BCACA7"/>
            </a:solidFill>
            <a:prstDash val="solid"/>
          </a:ln>
        </p:spPr>
        <p:txBody>
          <a:bodyPr/>
          <a:p/>
        </p:txBody>
      </p:sp>
      <p:sp>
        <p:nvSpPr>
          <p:cNvPr id="23" name="Text 21"/>
          <p:cNvSpPr/>
          <p:nvPr/>
        </p:nvSpPr>
        <p:spPr>
          <a:xfrm>
            <a:off x="5359400" y="495171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05</a:t>
            </a:r>
            <a:r>
              <a:rPr lang="en-US" sz="1500" dirty="0">
                <a:solidFill>
                  <a:srgbClr val="FFFFFF"/>
                </a:solidFill>
                <a:latin typeface="Inter" pitchFamily="34" charset="0"/>
                <a:ea typeface="Inter" pitchFamily="34" charset="-122"/>
                <a:cs typeface="Inter" pitchFamily="34" charset="-120"/>
              </a:rPr>
              <a:t> Applications</a:t>
            </a:r>
            <a:endParaRPr lang="en-US" sz="1500" dirty="0"/>
          </a:p>
        </p:txBody>
      </p:sp>
      <p:sp>
        <p:nvSpPr>
          <p:cNvPr id="24" name="Shape 22"/>
          <p:cNvSpPr/>
          <p:nvPr/>
        </p:nvSpPr>
        <p:spPr>
          <a:xfrm>
            <a:off x="8369300" y="4834235"/>
            <a:ext cx="3009900" cy="0"/>
          </a:xfrm>
          <a:prstGeom prst="line">
            <a:avLst/>
          </a:prstGeom>
          <a:noFill/>
          <a:ln w="6350">
            <a:solidFill>
              <a:srgbClr val="BCACA7"/>
            </a:solidFill>
            <a:prstDash val="solid"/>
          </a:ln>
        </p:spPr>
        <p:txBody>
          <a:bodyPr/>
          <a:p/>
        </p:txBody>
      </p:sp>
      <p:sp>
        <p:nvSpPr>
          <p:cNvPr id="25" name="Shape 23"/>
          <p:cNvSpPr/>
          <p:nvPr/>
        </p:nvSpPr>
        <p:spPr>
          <a:xfrm>
            <a:off x="8369300" y="5838825"/>
            <a:ext cx="3009900" cy="0"/>
          </a:xfrm>
          <a:prstGeom prst="line">
            <a:avLst/>
          </a:prstGeom>
          <a:noFill/>
          <a:ln w="6350">
            <a:solidFill>
              <a:srgbClr val="BCACA7"/>
            </a:solidFill>
            <a:prstDash val="solid"/>
          </a:ln>
        </p:spPr>
        <p:txBody>
          <a:bodyPr/>
          <a:p/>
        </p:txBody>
      </p:sp>
      <p:sp>
        <p:nvSpPr>
          <p:cNvPr id="26" name="Text 24"/>
          <p:cNvSpPr/>
          <p:nvPr/>
        </p:nvSpPr>
        <p:spPr>
          <a:xfrm>
            <a:off x="8369300" y="495171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10</a:t>
            </a:r>
            <a:r>
              <a:rPr lang="en-US" sz="1500" dirty="0">
                <a:solidFill>
                  <a:srgbClr val="FFFFFF"/>
                </a:solidFill>
                <a:latin typeface="Inter" pitchFamily="34" charset="0"/>
                <a:ea typeface="Inter" pitchFamily="34" charset="-122"/>
                <a:cs typeface="Inter" pitchFamily="34" charset="-120"/>
              </a:rPr>
              <a:t> Archive</a:t>
            </a:r>
            <a:endParaRPr lang="en-US" sz="1500" dirty="0"/>
          </a:p>
        </p:txBody>
      </p:sp>
      <p:sp>
        <p:nvSpPr>
          <p:cNvPr id="27" name="Text 2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ASSETS</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FILE NAMING · THE CONVENTION</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A name should say what it is.</a:t>
            </a:r>
            <a:endParaRPr lang="en-US" sz="3200" dirty="0"/>
          </a:p>
        </p:txBody>
      </p:sp>
      <p:sp>
        <p:nvSpPr>
          <p:cNvPr id="4" name="Shape 2"/>
          <p:cNvSpPr/>
          <p:nvPr/>
        </p:nvSpPr>
        <p:spPr>
          <a:xfrm>
            <a:off x="819150" y="1987500"/>
            <a:ext cx="10553700" cy="1381720"/>
          </a:xfrm>
          <a:prstGeom prst="rect">
            <a:avLst/>
          </a:prstGeom>
          <a:noFill/>
          <a:ln w="12700">
            <a:solidFill>
              <a:srgbClr val="12171D"/>
            </a:solidFill>
            <a:prstDash val="solid"/>
          </a:ln>
        </p:spPr>
        <p:txBody>
          <a:bodyPr/>
          <a:p/>
        </p:txBody>
      </p:sp>
      <p:sp>
        <p:nvSpPr>
          <p:cNvPr id="5" name="Text 3"/>
          <p:cNvSpPr/>
          <p:nvPr/>
        </p:nvSpPr>
        <p:spPr>
          <a:xfrm>
            <a:off x="1181100" y="2298650"/>
            <a:ext cx="10124694" cy="452090"/>
          </a:xfrm>
          <a:prstGeom prst="rect">
            <a:avLst/>
          </a:prstGeom>
          <a:noFill/>
          <a:ln/>
        </p:spPr>
        <p:txBody>
          <a:bodyPr wrap="square" lIns="0" tIns="0" rIns="0" bIns="0" rtlCol="0" anchor="t">
            <a:normAutofit/>
          </a:bodyPr>
          <a:lstStyle/>
          <a:p>
            <a:pPr algn="l" indent="0" marL="0">
              <a:lnSpc>
                <a:spcPts val="3360"/>
              </a:lnSpc>
              <a:buNone/>
            </a:pPr>
            <a:r>
              <a:rPr lang="en-US" sz="2400" spc="50" kern="0" dirty="0">
                <a:solidFill>
                  <a:srgbClr val="12171D"/>
                </a:solidFill>
                <a:latin typeface="Jost" pitchFamily="34" charset="0"/>
                <a:ea typeface="Jost" pitchFamily="34" charset="-122"/>
                <a:cs typeface="Jost" pitchFamily="34" charset="-120"/>
              </a:rPr>
              <a:t>GEM_[STREAM]_[ASSET]_[VARIANT]_vX.Y_YYYYMMDD.ext</a:t>
            </a:r>
            <a:endParaRPr lang="en-US" sz="2400" dirty="0"/>
          </a:p>
        </p:txBody>
      </p:sp>
      <p:sp>
        <p:nvSpPr>
          <p:cNvPr id="6" name="Text 4"/>
          <p:cNvSpPr/>
          <p:nvPr/>
        </p:nvSpPr>
        <p:spPr>
          <a:xfrm>
            <a:off x="1181100" y="2826941"/>
            <a:ext cx="1012469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Example: GEM_Logo_Horizontal_Black_v3.0_20261006.svg · convention X12 of the V3 Approval Register</a:t>
            </a:r>
            <a:endParaRPr lang="en-US" sz="1300" dirty="0"/>
          </a:p>
        </p:txBody>
      </p:sp>
      <p:sp>
        <p:nvSpPr>
          <p:cNvPr id="7" name="Shape 5"/>
          <p:cNvSpPr/>
          <p:nvPr/>
        </p:nvSpPr>
        <p:spPr>
          <a:xfrm>
            <a:off x="812800" y="3632746"/>
            <a:ext cx="3318917" cy="0"/>
          </a:xfrm>
          <a:prstGeom prst="line">
            <a:avLst/>
          </a:prstGeom>
          <a:noFill/>
          <a:ln w="6350">
            <a:solidFill>
              <a:srgbClr val="BCACA7"/>
            </a:solidFill>
            <a:prstDash val="solid"/>
          </a:ln>
        </p:spPr>
        <p:txBody>
          <a:bodyPr/>
          <a:p/>
        </p:txBody>
      </p:sp>
      <p:sp>
        <p:nvSpPr>
          <p:cNvPr id="8" name="Text 6"/>
          <p:cNvSpPr/>
          <p:nvPr/>
        </p:nvSpPr>
        <p:spPr>
          <a:xfrm>
            <a:off x="812800" y="3737521"/>
            <a:ext cx="3418484"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No spaces. Short, predictable names. The stream field follows the asset library folder.</a:t>
            </a:r>
            <a:endParaRPr lang="en-US" sz="1300" dirty="0"/>
          </a:p>
        </p:txBody>
      </p:sp>
      <p:sp>
        <p:nvSpPr>
          <p:cNvPr id="9" name="Shape 7"/>
          <p:cNvSpPr/>
          <p:nvPr/>
        </p:nvSpPr>
        <p:spPr>
          <a:xfrm>
            <a:off x="4436517" y="3632746"/>
            <a:ext cx="3318966" cy="0"/>
          </a:xfrm>
          <a:prstGeom prst="line">
            <a:avLst/>
          </a:prstGeom>
          <a:noFill/>
          <a:ln w="6350">
            <a:solidFill>
              <a:srgbClr val="BCACA7"/>
            </a:solidFill>
            <a:prstDash val="solid"/>
          </a:ln>
        </p:spPr>
        <p:txBody>
          <a:bodyPr/>
          <a:p/>
        </p:txBody>
      </p:sp>
      <p:sp>
        <p:nvSpPr>
          <p:cNvPr id="10" name="Text 8"/>
          <p:cNvSpPr/>
          <p:nvPr/>
        </p:nvSpPr>
        <p:spPr>
          <a:xfrm>
            <a:off x="4436517" y="3737521"/>
            <a:ext cx="3418535"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No "final", "new" or "latest". The date field (YYYYMMDD) is the issue date; the version number carries asset history.</a:t>
            </a:r>
            <a:endParaRPr lang="en-US" sz="1300" dirty="0"/>
          </a:p>
        </p:txBody>
      </p:sp>
      <p:sp>
        <p:nvSpPr>
          <p:cNvPr id="11" name="Shape 9"/>
          <p:cNvSpPr/>
          <p:nvPr/>
        </p:nvSpPr>
        <p:spPr>
          <a:xfrm>
            <a:off x="8060283" y="3632746"/>
            <a:ext cx="3318917" cy="0"/>
          </a:xfrm>
          <a:prstGeom prst="line">
            <a:avLst/>
          </a:prstGeom>
          <a:noFill/>
          <a:ln w="6350">
            <a:solidFill>
              <a:srgbClr val="BCACA7"/>
            </a:solidFill>
            <a:prstDash val="solid"/>
          </a:ln>
        </p:spPr>
        <p:txBody>
          <a:bodyPr/>
          <a:p/>
        </p:txBody>
      </p:sp>
      <p:sp>
        <p:nvSpPr>
          <p:cNvPr id="12" name="Text 10"/>
          <p:cNvSpPr/>
          <p:nvPr/>
        </p:nvSpPr>
        <p:spPr>
          <a:xfrm>
            <a:off x="8060283" y="3737521"/>
            <a:ext cx="3418484" cy="1222226"/>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Approval, checksum, owner, source and release status live in the asset manifest. Proposed, CONDITIONAL [REQUIRES OWNER]: asset ID GEM-[CATEGORY]-[NNN] and SHA-256 checksums (Part C, Appendix N).</a:t>
            </a:r>
            <a:endParaRPr lang="en-US" sz="1300" dirty="0"/>
          </a:p>
        </p:txBody>
      </p:sp>
      <p:sp>
        <p:nvSpPr>
          <p:cNvPr id="13"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NAMING</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75</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878830"/>
          </a:xfrm>
          <a:prstGeom prst="rect">
            <a:avLst/>
          </a:prstGeom>
          <a:noFill/>
          <a:ln/>
        </p:spPr>
        <p:txBody>
          <a:bodyPr wrap="square" lIns="0" tIns="0" rIns="0" bIns="0" rtlCol="0" anchor="t">
            <a:normAutofit/>
          </a:bodyPr>
          <a:lstStyle/>
          <a:p>
            <a:pPr algn="l" indent="0" marL="0">
              <a:lnSpc>
                <a:spcPts val="6720"/>
              </a:lnSpc>
              <a:buNone/>
            </a:pPr>
            <a:r>
              <a:rPr lang="en-US" sz="4800" spc="385" kern="0" dirty="0">
                <a:solidFill>
                  <a:srgbClr val="12171D"/>
                </a:solidFill>
                <a:latin typeface="Jost" pitchFamily="34" charset="0"/>
                <a:ea typeface="Jost" pitchFamily="34" charset="-122"/>
                <a:cs typeface="Jost" pitchFamily="34" charset="-120"/>
              </a:rPr>
              <a:t>DO</a:t>
            </a:r>
            <a:endParaRPr lang="en-US" sz="4800" dirty="0"/>
          </a:p>
        </p:txBody>
      </p:sp>
      <p:sp>
        <p:nvSpPr>
          <p:cNvPr id="3" name="Shape 1"/>
          <p:cNvSpPr/>
          <p:nvPr/>
        </p:nvSpPr>
        <p:spPr>
          <a:xfrm>
            <a:off x="812800" y="1872605"/>
            <a:ext cx="4673600" cy="0"/>
          </a:xfrm>
          <a:prstGeom prst="line">
            <a:avLst/>
          </a:prstGeom>
          <a:noFill/>
          <a:ln w="6350">
            <a:solidFill>
              <a:srgbClr val="12171D"/>
            </a:solidFill>
            <a:prstDash val="solid"/>
          </a:ln>
        </p:spPr>
        <p:txBody>
          <a:bodyPr/>
          <a:p/>
        </p:txBody>
      </p:sp>
      <p:sp>
        <p:nvSpPr>
          <p:cNvPr id="4" name="Text 2"/>
          <p:cNvSpPr/>
          <p:nvPr/>
        </p:nvSpPr>
        <p:spPr>
          <a:xfrm>
            <a:off x="812800" y="196468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space</a:t>
            </a:r>
            <a:endParaRPr lang="en-US" sz="1700" dirty="0"/>
          </a:p>
        </p:txBody>
      </p:sp>
      <p:sp>
        <p:nvSpPr>
          <p:cNvPr id="5" name="Shape 3"/>
          <p:cNvSpPr/>
          <p:nvPr/>
        </p:nvSpPr>
        <p:spPr>
          <a:xfrm>
            <a:off x="812800" y="2362795"/>
            <a:ext cx="4673600" cy="0"/>
          </a:xfrm>
          <a:prstGeom prst="line">
            <a:avLst/>
          </a:prstGeom>
          <a:noFill/>
          <a:ln w="6350">
            <a:solidFill>
              <a:srgbClr val="12171D"/>
            </a:solidFill>
            <a:prstDash val="solid"/>
          </a:ln>
        </p:spPr>
        <p:txBody>
          <a:bodyPr/>
          <a:p/>
        </p:txBody>
      </p:sp>
      <p:sp>
        <p:nvSpPr>
          <p:cNvPr id="6" name="Text 4"/>
          <p:cNvSpPr/>
          <p:nvPr/>
        </p:nvSpPr>
        <p:spPr>
          <a:xfrm>
            <a:off x="812800" y="245487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proportion</a:t>
            </a:r>
            <a:endParaRPr lang="en-US" sz="1700" dirty="0"/>
          </a:p>
        </p:txBody>
      </p:sp>
      <p:sp>
        <p:nvSpPr>
          <p:cNvPr id="7" name="Shape 5"/>
          <p:cNvSpPr/>
          <p:nvPr/>
        </p:nvSpPr>
        <p:spPr>
          <a:xfrm>
            <a:off x="812800" y="2852986"/>
            <a:ext cx="4673600" cy="0"/>
          </a:xfrm>
          <a:prstGeom prst="line">
            <a:avLst/>
          </a:prstGeom>
          <a:noFill/>
          <a:ln w="6350">
            <a:solidFill>
              <a:srgbClr val="12171D"/>
            </a:solidFill>
            <a:prstDash val="solid"/>
          </a:ln>
        </p:spPr>
        <p:txBody>
          <a:bodyPr/>
          <a:p/>
        </p:txBody>
      </p:sp>
      <p:sp>
        <p:nvSpPr>
          <p:cNvPr id="8" name="Text 6"/>
          <p:cNvSpPr/>
          <p:nvPr/>
        </p:nvSpPr>
        <p:spPr>
          <a:xfrm>
            <a:off x="812800" y="294506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approved artwork</a:t>
            </a:r>
            <a:endParaRPr lang="en-US" sz="1700" dirty="0"/>
          </a:p>
        </p:txBody>
      </p:sp>
      <p:sp>
        <p:nvSpPr>
          <p:cNvPr id="9" name="Shape 7"/>
          <p:cNvSpPr/>
          <p:nvPr/>
        </p:nvSpPr>
        <p:spPr>
          <a:xfrm>
            <a:off x="812800" y="3343176"/>
            <a:ext cx="4673600" cy="0"/>
          </a:xfrm>
          <a:prstGeom prst="line">
            <a:avLst/>
          </a:prstGeom>
          <a:noFill/>
          <a:ln w="6350">
            <a:solidFill>
              <a:srgbClr val="12171D"/>
            </a:solidFill>
            <a:prstDash val="solid"/>
          </a:ln>
        </p:spPr>
        <p:txBody>
          <a:bodyPr/>
          <a:p/>
        </p:txBody>
      </p:sp>
      <p:sp>
        <p:nvSpPr>
          <p:cNvPr id="10" name="Text 8"/>
          <p:cNvSpPr/>
          <p:nvPr/>
        </p:nvSpPr>
        <p:spPr>
          <a:xfrm>
            <a:off x="812800" y="343525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restraint</a:t>
            </a:r>
            <a:endParaRPr lang="en-US" sz="1700" dirty="0"/>
          </a:p>
        </p:txBody>
      </p:sp>
      <p:sp>
        <p:nvSpPr>
          <p:cNvPr id="11" name="Shape 9"/>
          <p:cNvSpPr/>
          <p:nvPr/>
        </p:nvSpPr>
        <p:spPr>
          <a:xfrm>
            <a:off x="812800" y="3833366"/>
            <a:ext cx="4673600" cy="0"/>
          </a:xfrm>
          <a:prstGeom prst="line">
            <a:avLst/>
          </a:prstGeom>
          <a:noFill/>
          <a:ln w="6350">
            <a:solidFill>
              <a:srgbClr val="12171D"/>
            </a:solidFill>
            <a:prstDash val="solid"/>
          </a:ln>
        </p:spPr>
        <p:txBody>
          <a:bodyPr/>
          <a:p/>
        </p:txBody>
      </p:sp>
      <p:sp>
        <p:nvSpPr>
          <p:cNvPr id="12" name="Text 10"/>
          <p:cNvSpPr/>
          <p:nvPr/>
        </p:nvSpPr>
        <p:spPr>
          <a:xfrm>
            <a:off x="812800" y="392544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Verify details</a:t>
            </a:r>
            <a:endParaRPr lang="en-US" sz="1700" dirty="0"/>
          </a:p>
        </p:txBody>
      </p:sp>
      <p:sp>
        <p:nvSpPr>
          <p:cNvPr id="13" name="Shape 11"/>
          <p:cNvSpPr/>
          <p:nvPr/>
        </p:nvSpPr>
        <p:spPr>
          <a:xfrm>
            <a:off x="812800" y="4323556"/>
            <a:ext cx="4673600" cy="0"/>
          </a:xfrm>
          <a:prstGeom prst="line">
            <a:avLst/>
          </a:prstGeom>
          <a:noFill/>
          <a:ln w="6350">
            <a:solidFill>
              <a:srgbClr val="12171D"/>
            </a:solidFill>
            <a:prstDash val="solid"/>
          </a:ln>
        </p:spPr>
        <p:txBody>
          <a:bodyPr/>
          <a:p/>
        </p:txBody>
      </p:sp>
      <p:sp>
        <p:nvSpPr>
          <p:cNvPr id="14" name="Text 12"/>
          <p:cNvSpPr/>
          <p:nvPr/>
        </p:nvSpPr>
        <p:spPr>
          <a:xfrm>
            <a:off x="812800" y="441563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Maintain hierarchy</a:t>
            </a:r>
            <a:endParaRPr lang="en-US" sz="1700" dirty="0"/>
          </a:p>
        </p:txBody>
      </p:sp>
      <p:sp>
        <p:nvSpPr>
          <p:cNvPr id="15" name="Shape 13"/>
          <p:cNvSpPr/>
          <p:nvPr/>
        </p:nvSpPr>
        <p:spPr>
          <a:xfrm>
            <a:off x="6096000" y="0"/>
            <a:ext cx="6096000" cy="6858000"/>
          </a:xfrm>
          <a:prstGeom prst="rect">
            <a:avLst/>
          </a:prstGeom>
          <a:solidFill>
            <a:srgbClr val="12171D"/>
          </a:solidFill>
          <a:ln/>
        </p:spPr>
        <p:txBody>
          <a:bodyPr/>
          <a:p/>
        </p:txBody>
      </p:sp>
      <p:sp>
        <p:nvSpPr>
          <p:cNvPr id="16" name="Text 14"/>
          <p:cNvSpPr/>
          <p:nvPr/>
        </p:nvSpPr>
        <p:spPr>
          <a:xfrm>
            <a:off x="6705600" y="812800"/>
            <a:ext cx="4813808" cy="878830"/>
          </a:xfrm>
          <a:prstGeom prst="rect">
            <a:avLst/>
          </a:prstGeom>
          <a:noFill/>
          <a:ln/>
        </p:spPr>
        <p:txBody>
          <a:bodyPr wrap="square" lIns="0" tIns="0" rIns="0" bIns="0" rtlCol="0" anchor="t">
            <a:normAutofit/>
          </a:bodyPr>
          <a:lstStyle/>
          <a:p>
            <a:pPr algn="l" indent="0" marL="0">
              <a:lnSpc>
                <a:spcPts val="6720"/>
              </a:lnSpc>
              <a:buNone/>
            </a:pPr>
            <a:r>
              <a:rPr lang="en-US" sz="4800" spc="385" kern="0" dirty="0">
                <a:solidFill>
                  <a:srgbClr val="BCACA7"/>
                </a:solidFill>
                <a:latin typeface="Jost" pitchFamily="34" charset="0"/>
                <a:ea typeface="Jost" pitchFamily="34" charset="-122"/>
                <a:cs typeface="Jost" pitchFamily="34" charset="-120"/>
              </a:rPr>
              <a:t>DON'T</a:t>
            </a:r>
            <a:endParaRPr lang="en-US" sz="4800" dirty="0"/>
          </a:p>
        </p:txBody>
      </p:sp>
      <p:sp>
        <p:nvSpPr>
          <p:cNvPr id="17" name="Shape 15"/>
          <p:cNvSpPr/>
          <p:nvPr/>
        </p:nvSpPr>
        <p:spPr>
          <a:xfrm>
            <a:off x="6705600" y="1872605"/>
            <a:ext cx="4673600" cy="0"/>
          </a:xfrm>
          <a:prstGeom prst="line">
            <a:avLst/>
          </a:prstGeom>
          <a:noFill/>
          <a:ln w="6350">
            <a:solidFill>
              <a:srgbClr val="BCACA7"/>
            </a:solidFill>
            <a:prstDash val="solid"/>
          </a:ln>
        </p:spPr>
        <p:txBody>
          <a:bodyPr/>
          <a:p/>
        </p:txBody>
      </p:sp>
      <p:sp>
        <p:nvSpPr>
          <p:cNvPr id="18" name="Text 16"/>
          <p:cNvSpPr/>
          <p:nvPr/>
        </p:nvSpPr>
        <p:spPr>
          <a:xfrm>
            <a:off x="6705600" y="196468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Decorate</a:t>
            </a:r>
            <a:endParaRPr lang="en-US" sz="1700" dirty="0"/>
          </a:p>
        </p:txBody>
      </p:sp>
      <p:sp>
        <p:nvSpPr>
          <p:cNvPr id="19" name="Shape 17"/>
          <p:cNvSpPr/>
          <p:nvPr/>
        </p:nvSpPr>
        <p:spPr>
          <a:xfrm>
            <a:off x="6705600" y="2362795"/>
            <a:ext cx="4673600" cy="0"/>
          </a:xfrm>
          <a:prstGeom prst="line">
            <a:avLst/>
          </a:prstGeom>
          <a:noFill/>
          <a:ln w="6350">
            <a:solidFill>
              <a:srgbClr val="BCACA7"/>
            </a:solidFill>
            <a:prstDash val="solid"/>
          </a:ln>
        </p:spPr>
        <p:txBody>
          <a:bodyPr/>
          <a:p/>
        </p:txBody>
      </p:sp>
      <p:sp>
        <p:nvSpPr>
          <p:cNvPr id="20" name="Text 18"/>
          <p:cNvSpPr/>
          <p:nvPr/>
        </p:nvSpPr>
        <p:spPr>
          <a:xfrm>
            <a:off x="6705600" y="245487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Invent</a:t>
            </a:r>
            <a:endParaRPr lang="en-US" sz="1700" dirty="0"/>
          </a:p>
        </p:txBody>
      </p:sp>
      <p:sp>
        <p:nvSpPr>
          <p:cNvPr id="21" name="Shape 19"/>
          <p:cNvSpPr/>
          <p:nvPr/>
        </p:nvSpPr>
        <p:spPr>
          <a:xfrm>
            <a:off x="6705600" y="2852986"/>
            <a:ext cx="4673600" cy="0"/>
          </a:xfrm>
          <a:prstGeom prst="line">
            <a:avLst/>
          </a:prstGeom>
          <a:noFill/>
          <a:ln w="6350">
            <a:solidFill>
              <a:srgbClr val="BCACA7"/>
            </a:solidFill>
            <a:prstDash val="solid"/>
          </a:ln>
        </p:spPr>
        <p:txBody>
          <a:bodyPr/>
          <a:p/>
        </p:txBody>
      </p:sp>
      <p:sp>
        <p:nvSpPr>
          <p:cNvPr id="22" name="Text 20"/>
          <p:cNvSpPr/>
          <p:nvPr/>
        </p:nvSpPr>
        <p:spPr>
          <a:xfrm>
            <a:off x="6705600" y="294506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Over-colour</a:t>
            </a:r>
            <a:endParaRPr lang="en-US" sz="1700" dirty="0"/>
          </a:p>
        </p:txBody>
      </p:sp>
      <p:sp>
        <p:nvSpPr>
          <p:cNvPr id="23" name="Shape 21"/>
          <p:cNvSpPr/>
          <p:nvPr/>
        </p:nvSpPr>
        <p:spPr>
          <a:xfrm>
            <a:off x="6705600" y="3343176"/>
            <a:ext cx="4673600" cy="0"/>
          </a:xfrm>
          <a:prstGeom prst="line">
            <a:avLst/>
          </a:prstGeom>
          <a:noFill/>
          <a:ln w="6350">
            <a:solidFill>
              <a:srgbClr val="BCACA7"/>
            </a:solidFill>
            <a:prstDash val="solid"/>
          </a:ln>
        </p:spPr>
        <p:txBody>
          <a:bodyPr/>
          <a:p/>
        </p:txBody>
      </p:sp>
      <p:sp>
        <p:nvSpPr>
          <p:cNvPr id="24" name="Text 22"/>
          <p:cNvSpPr/>
          <p:nvPr/>
        </p:nvSpPr>
        <p:spPr>
          <a:xfrm>
            <a:off x="6705600" y="343525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Over-round</a:t>
            </a:r>
            <a:endParaRPr lang="en-US" sz="1700" dirty="0"/>
          </a:p>
        </p:txBody>
      </p:sp>
      <p:sp>
        <p:nvSpPr>
          <p:cNvPr id="25" name="Shape 23"/>
          <p:cNvSpPr/>
          <p:nvPr/>
        </p:nvSpPr>
        <p:spPr>
          <a:xfrm>
            <a:off x="6705600" y="3833366"/>
            <a:ext cx="4673600" cy="0"/>
          </a:xfrm>
          <a:prstGeom prst="line">
            <a:avLst/>
          </a:prstGeom>
          <a:noFill/>
          <a:ln w="6350">
            <a:solidFill>
              <a:srgbClr val="BCACA7"/>
            </a:solidFill>
            <a:prstDash val="solid"/>
          </a:ln>
        </p:spPr>
        <p:txBody>
          <a:bodyPr/>
          <a:p/>
        </p:txBody>
      </p:sp>
      <p:sp>
        <p:nvSpPr>
          <p:cNvPr id="26" name="Text 24"/>
          <p:cNvSpPr/>
          <p:nvPr/>
        </p:nvSpPr>
        <p:spPr>
          <a:xfrm>
            <a:off x="6705600" y="392544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Over-brand</a:t>
            </a:r>
            <a:endParaRPr lang="en-US" sz="1700" dirty="0"/>
          </a:p>
        </p:txBody>
      </p:sp>
      <p:sp>
        <p:nvSpPr>
          <p:cNvPr id="27" name="Shape 25"/>
          <p:cNvSpPr/>
          <p:nvPr/>
        </p:nvSpPr>
        <p:spPr>
          <a:xfrm>
            <a:off x="6705600" y="4323556"/>
            <a:ext cx="4673600" cy="0"/>
          </a:xfrm>
          <a:prstGeom prst="line">
            <a:avLst/>
          </a:prstGeom>
          <a:noFill/>
          <a:ln w="6350">
            <a:solidFill>
              <a:srgbClr val="BCACA7"/>
            </a:solidFill>
            <a:prstDash val="solid"/>
          </a:ln>
        </p:spPr>
        <p:txBody>
          <a:bodyPr/>
          <a:p/>
        </p:txBody>
      </p:sp>
      <p:sp>
        <p:nvSpPr>
          <p:cNvPr id="28" name="Text 26"/>
          <p:cNvSpPr/>
          <p:nvPr/>
        </p:nvSpPr>
        <p:spPr>
          <a:xfrm>
            <a:off x="6705600" y="441563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Copy generic luxury cues</a:t>
            </a:r>
            <a:endParaRPr lang="en-US" sz="1700" dirty="0"/>
          </a:p>
        </p:txBody>
      </p:sp>
      <p:sp>
        <p:nvSpPr>
          <p:cNvPr id="29"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SUMMARY</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QUICK REFERENCE</a:t>
            </a:r>
            <a:endParaRPr lang="en-US" sz="1200" dirty="0"/>
          </a:p>
        </p:txBody>
      </p:sp>
      <p:sp>
        <p:nvSpPr>
          <p:cNvPr id="3" name="Shape 1"/>
          <p:cNvSpPr/>
          <p:nvPr/>
        </p:nvSpPr>
        <p:spPr>
          <a:xfrm>
            <a:off x="812800" y="1203920"/>
            <a:ext cx="2546350" cy="2260600"/>
          </a:xfrm>
          <a:prstGeom prst="rect">
            <a:avLst/>
          </a:prstGeom>
          <a:solidFill>
            <a:srgbClr val="12171D"/>
          </a:solidFill>
          <a:ln/>
        </p:spPr>
        <p:txBody>
          <a:bodyPr/>
          <a:p/>
        </p:txBody>
      </p:sp>
      <p:pic>
        <p:nvPicPr>
          <p:cNvPr id="4" name="Image 0" descr="GEM primary signature, quick reference." title="GEM primary signature, quick reference.">    </p:cNvPr>
          <p:cNvPicPr>
            <a:picLocks noChangeAspect="1"/>
          </p:cNvPicPr>
          <p:nvPr/>
        </p:nvPicPr>
        <p:blipFill>
          <a:blip r:embed="rId1"/>
          <a:srcRect l="-240" r="-240" t="0" b="0"/>
          <a:stretch/>
        </p:blipFill>
        <p:spPr>
          <a:xfrm>
            <a:off x="965200" y="1356320"/>
            <a:ext cx="1270000" cy="400050"/>
          </a:xfrm>
          <a:prstGeom prst="rect">
            <a:avLst/>
          </a:prstGeom>
        </p:spPr>
      </p:pic>
      <p:sp>
        <p:nvSpPr>
          <p:cNvPr id="5" name="Text 2"/>
          <p:cNvSpPr/>
          <p:nvPr/>
        </p:nvSpPr>
        <p:spPr>
          <a:xfrm>
            <a:off x="965200" y="3098800"/>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LOGO · 1u min, 2u preferred</a:t>
            </a:r>
            <a:endParaRPr lang="en-US" sz="1200" dirty="0"/>
          </a:p>
        </p:txBody>
      </p:sp>
      <p:sp>
        <p:nvSpPr>
          <p:cNvPr id="6" name="Shape 3"/>
          <p:cNvSpPr/>
          <p:nvPr/>
        </p:nvSpPr>
        <p:spPr>
          <a:xfrm>
            <a:off x="3492500" y="1210270"/>
            <a:ext cx="2533650" cy="2247900"/>
          </a:xfrm>
          <a:prstGeom prst="rect">
            <a:avLst/>
          </a:prstGeom>
          <a:noFill/>
          <a:ln w="12700">
            <a:solidFill>
              <a:srgbClr val="12171D"/>
            </a:solidFill>
            <a:prstDash val="solid"/>
          </a:ln>
        </p:spPr>
        <p:txBody>
          <a:bodyPr/>
          <a:p/>
        </p:txBody>
      </p:sp>
      <p:sp>
        <p:nvSpPr>
          <p:cNvPr id="7" name="Shape 4"/>
          <p:cNvSpPr/>
          <p:nvPr/>
        </p:nvSpPr>
        <p:spPr>
          <a:xfrm>
            <a:off x="3651250" y="1369020"/>
            <a:ext cx="547688" cy="381000"/>
          </a:xfrm>
          <a:prstGeom prst="rect">
            <a:avLst/>
          </a:prstGeom>
          <a:solidFill>
            <a:srgbClr val="12171D"/>
          </a:solidFill>
          <a:ln/>
        </p:spPr>
        <p:txBody>
          <a:bodyPr/>
          <a:p/>
        </p:txBody>
      </p:sp>
      <p:sp>
        <p:nvSpPr>
          <p:cNvPr id="8" name="Shape 5"/>
          <p:cNvSpPr/>
          <p:nvPr/>
        </p:nvSpPr>
        <p:spPr>
          <a:xfrm>
            <a:off x="4198938" y="1369020"/>
            <a:ext cx="547688" cy="381000"/>
          </a:xfrm>
          <a:prstGeom prst="rect">
            <a:avLst/>
          </a:prstGeom>
          <a:solidFill>
            <a:srgbClr val="BCACA7"/>
          </a:solidFill>
          <a:ln/>
        </p:spPr>
        <p:txBody>
          <a:bodyPr/>
          <a:p/>
        </p:txBody>
      </p:sp>
      <p:sp>
        <p:nvSpPr>
          <p:cNvPr id="9" name="Shape 6"/>
          <p:cNvSpPr/>
          <p:nvPr/>
        </p:nvSpPr>
        <p:spPr>
          <a:xfrm>
            <a:off x="4746625" y="1369020"/>
            <a:ext cx="547688" cy="381000"/>
          </a:xfrm>
          <a:prstGeom prst="rect">
            <a:avLst/>
          </a:prstGeom>
          <a:solidFill>
            <a:srgbClr val="020202"/>
          </a:solidFill>
          <a:ln/>
        </p:spPr>
        <p:txBody>
          <a:bodyPr/>
          <a:p/>
        </p:txBody>
      </p:sp>
      <p:sp>
        <p:nvSpPr>
          <p:cNvPr id="10" name="Shape 7"/>
          <p:cNvSpPr/>
          <p:nvPr/>
        </p:nvSpPr>
        <p:spPr>
          <a:xfrm>
            <a:off x="5300663" y="1375370"/>
            <a:ext cx="560388" cy="368300"/>
          </a:xfrm>
          <a:prstGeom prst="rect">
            <a:avLst/>
          </a:prstGeom>
          <a:noFill/>
          <a:ln w="12700">
            <a:solidFill>
              <a:srgbClr val="12171D"/>
            </a:solidFill>
            <a:prstDash val="solid"/>
          </a:ln>
        </p:spPr>
        <p:txBody>
          <a:bodyPr/>
          <a:p/>
        </p:txBody>
      </p:sp>
      <p:sp>
        <p:nvSpPr>
          <p:cNvPr id="11" name="Text 8"/>
          <p:cNvSpPr/>
          <p:nvPr/>
        </p:nvSpPr>
        <p:spPr>
          <a:xfrm>
            <a:off x="3651250" y="2872780"/>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PALETTE · Ink, Beige, Black, White</a:t>
            </a:r>
            <a:endParaRPr lang="en-US" sz="1200" dirty="0"/>
          </a:p>
        </p:txBody>
      </p:sp>
      <p:sp>
        <p:nvSpPr>
          <p:cNvPr id="12" name="Shape 9"/>
          <p:cNvSpPr/>
          <p:nvPr/>
        </p:nvSpPr>
        <p:spPr>
          <a:xfrm>
            <a:off x="6165850" y="1210270"/>
            <a:ext cx="2533650" cy="2247900"/>
          </a:xfrm>
          <a:prstGeom prst="rect">
            <a:avLst/>
          </a:prstGeom>
          <a:noFill/>
          <a:ln w="12700">
            <a:solidFill>
              <a:srgbClr val="12171D"/>
            </a:solidFill>
            <a:prstDash val="solid"/>
          </a:ln>
        </p:spPr>
        <p:txBody>
          <a:bodyPr/>
          <a:p/>
        </p:txBody>
      </p:sp>
      <p:sp>
        <p:nvSpPr>
          <p:cNvPr id="13" name="Text 10"/>
          <p:cNvSpPr/>
          <p:nvPr/>
        </p:nvSpPr>
        <p:spPr>
          <a:xfrm>
            <a:off x="6324600" y="1369020"/>
            <a:ext cx="2282635"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Jost + Inter</a:t>
            </a:r>
            <a:endParaRPr lang="en-US" sz="2200" dirty="0"/>
          </a:p>
        </p:txBody>
      </p:sp>
      <p:sp>
        <p:nvSpPr>
          <p:cNvPr id="14" name="Text 11"/>
          <p:cNvSpPr/>
          <p:nvPr/>
        </p:nvSpPr>
        <p:spPr>
          <a:xfrm>
            <a:off x="6324600" y="2872780"/>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TYPE · Arabic: interim, pending</a:t>
            </a:r>
            <a:endParaRPr lang="en-US" sz="1200" dirty="0"/>
          </a:p>
        </p:txBody>
      </p:sp>
      <p:sp>
        <p:nvSpPr>
          <p:cNvPr id="15" name="Shape 12"/>
          <p:cNvSpPr/>
          <p:nvPr/>
        </p:nvSpPr>
        <p:spPr>
          <a:xfrm>
            <a:off x="8832850" y="1203920"/>
            <a:ext cx="2546350" cy="2260600"/>
          </a:xfrm>
          <a:prstGeom prst="rect">
            <a:avLst/>
          </a:prstGeom>
          <a:solidFill>
            <a:srgbClr val="BCACA7"/>
          </a:solidFill>
          <a:ln/>
        </p:spPr>
        <p:txBody>
          <a:bodyPr/>
          <a:p/>
        </p:txBody>
      </p:sp>
      <p:sp>
        <p:nvSpPr>
          <p:cNvPr id="16" name="Text 13"/>
          <p:cNvSpPr/>
          <p:nvPr/>
        </p:nvSpPr>
        <p:spPr>
          <a:xfrm>
            <a:off x="8985250" y="1356320"/>
            <a:ext cx="2308796" cy="452041"/>
          </a:xfrm>
          <a:prstGeom prst="rect">
            <a:avLst/>
          </a:prstGeom>
          <a:noFill/>
          <a:ln/>
        </p:spPr>
        <p:txBody>
          <a:bodyPr wrap="square" lIns="0" tIns="0" rIns="0" bIns="0" rtlCol="0" anchor="t">
            <a:normAutofit/>
          </a:bodyPr>
          <a:lstStyle/>
          <a:p>
            <a:pPr algn="l" indent="0" marL="0">
              <a:lnSpc>
                <a:spcPts val="1680"/>
              </a:lnSpc>
              <a:buNone/>
            </a:pPr>
            <a:r>
              <a:rPr lang="en-US" sz="1200" spc="215" kern="0" dirty="0">
                <a:solidFill>
                  <a:srgbClr val="12171D"/>
                </a:solidFill>
                <a:latin typeface="Jost" pitchFamily="34" charset="0"/>
                <a:ea typeface="Jost" pitchFamily="34" charset="-122"/>
                <a:cs typeface="Jost" pitchFamily="34" charset="-120"/>
              </a:rPr>
              <a:t>HOSPITALITY, IN PERFECT PROPORTION</a:t>
            </a:r>
            <a:endParaRPr lang="en-US" sz="1200" dirty="0"/>
          </a:p>
        </p:txBody>
      </p:sp>
      <p:sp>
        <p:nvSpPr>
          <p:cNvPr id="17" name="Text 14"/>
          <p:cNvSpPr/>
          <p:nvPr/>
        </p:nvSpPr>
        <p:spPr>
          <a:xfrm>
            <a:off x="8985250" y="3098800"/>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TAGLINE · fixed, never altered</a:t>
            </a:r>
            <a:endParaRPr lang="en-US" sz="1200" dirty="0"/>
          </a:p>
        </p:txBody>
      </p:sp>
      <p:sp>
        <p:nvSpPr>
          <p:cNvPr id="18" name="Shape 15"/>
          <p:cNvSpPr/>
          <p:nvPr/>
        </p:nvSpPr>
        <p:spPr>
          <a:xfrm>
            <a:off x="819150" y="3597870"/>
            <a:ext cx="2533650" cy="2237780"/>
          </a:xfrm>
          <a:prstGeom prst="rect">
            <a:avLst/>
          </a:prstGeom>
          <a:noFill/>
          <a:ln w="12700">
            <a:solidFill>
              <a:srgbClr val="12171D"/>
            </a:solidFill>
            <a:prstDash val="solid"/>
          </a:ln>
        </p:spPr>
        <p:txBody>
          <a:bodyPr/>
          <a:p/>
        </p:txBody>
      </p:sp>
      <p:pic>
        <p:nvPicPr>
          <p:cNvPr id="19" name="Image 1" descr="Ring, arc, quarter and spark drawings, quick reference." title="Ring, arc, quarter and spark drawings, quick reference.">    </p:cNvPr>
          <p:cNvPicPr>
            <a:picLocks noChangeAspect="1"/>
          </p:cNvPicPr>
          <p:nvPr/>
        </p:nvPicPr>
        <p:blipFill>
          <a:blip r:embed="rId2"/>
          <a:srcRect l="0" r="0" t="0" b="0"/>
          <a:stretch/>
        </p:blipFill>
        <p:spPr>
          <a:xfrm>
            <a:off x="977900" y="3756620"/>
            <a:ext cx="1524000" cy="381000"/>
          </a:xfrm>
          <a:prstGeom prst="rect">
            <a:avLst/>
          </a:prstGeom>
        </p:spPr>
      </p:pic>
      <p:sp>
        <p:nvSpPr>
          <p:cNvPr id="20" name="Text 16"/>
          <p:cNvSpPr/>
          <p:nvPr/>
        </p:nvSpPr>
        <p:spPr>
          <a:xfrm>
            <a:off x="977900" y="5250259"/>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DEVICES · one spark maximum</a:t>
            </a:r>
            <a:endParaRPr lang="en-US" sz="1200" dirty="0"/>
          </a:p>
        </p:txBody>
      </p:sp>
      <p:sp>
        <p:nvSpPr>
          <p:cNvPr id="21" name="Shape 17"/>
          <p:cNvSpPr/>
          <p:nvPr/>
        </p:nvSpPr>
        <p:spPr>
          <a:xfrm>
            <a:off x="3492500" y="3597870"/>
            <a:ext cx="2533650" cy="2237780"/>
          </a:xfrm>
          <a:prstGeom prst="rect">
            <a:avLst/>
          </a:prstGeom>
          <a:noFill/>
          <a:ln w="12700">
            <a:solidFill>
              <a:srgbClr val="12171D"/>
            </a:solidFill>
            <a:prstDash val="solid"/>
          </a:ln>
        </p:spPr>
        <p:txBody>
          <a:bodyPr/>
          <a:p/>
        </p:txBody>
      </p:sp>
      <p:sp>
        <p:nvSpPr>
          <p:cNvPr id="22" name="Text 18"/>
          <p:cNvSpPr/>
          <p:nvPr/>
        </p:nvSpPr>
        <p:spPr>
          <a:xfrm>
            <a:off x="3651250" y="3756620"/>
            <a:ext cx="2282635"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Measured. Warm. Confident. Precise.</a:t>
            </a:r>
            <a:endParaRPr lang="en-US" sz="1300" dirty="0"/>
          </a:p>
        </p:txBody>
      </p:sp>
      <p:sp>
        <p:nvSpPr>
          <p:cNvPr id="23" name="Text 19"/>
          <p:cNvSpPr/>
          <p:nvPr/>
        </p:nvSpPr>
        <p:spPr>
          <a:xfrm>
            <a:off x="3651250" y="54635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VOICE</a:t>
            </a:r>
            <a:endParaRPr lang="en-US" sz="1200" dirty="0"/>
          </a:p>
        </p:txBody>
      </p:sp>
      <p:sp>
        <p:nvSpPr>
          <p:cNvPr id="24" name="Shape 20"/>
          <p:cNvSpPr/>
          <p:nvPr/>
        </p:nvSpPr>
        <p:spPr>
          <a:xfrm>
            <a:off x="6159500" y="3591520"/>
            <a:ext cx="5219700" cy="2250480"/>
          </a:xfrm>
          <a:prstGeom prst="rect">
            <a:avLst/>
          </a:prstGeom>
          <a:solidFill>
            <a:srgbClr val="12171D"/>
          </a:solidFill>
          <a:ln/>
        </p:spPr>
        <p:txBody>
          <a:bodyPr/>
          <a:p/>
        </p:txBody>
      </p:sp>
      <p:sp>
        <p:nvSpPr>
          <p:cNvPr id="25" name="Text 21"/>
          <p:cNvSpPr/>
          <p:nvPr/>
        </p:nvSpPr>
        <p:spPr>
          <a:xfrm>
            <a:off x="6311900" y="3743920"/>
            <a:ext cx="506234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No gold, gradients, shadows, accent colours, Beige on White, over-rounding, or SaaS styling.</a:t>
            </a:r>
            <a:endParaRPr lang="en-US" sz="1300" dirty="0"/>
          </a:p>
        </p:txBody>
      </p:sp>
      <p:sp>
        <p:nvSpPr>
          <p:cNvPr id="26" name="Text 22"/>
          <p:cNvSpPr/>
          <p:nvPr/>
        </p:nvSpPr>
        <p:spPr>
          <a:xfrm>
            <a:off x="6311900" y="5476280"/>
            <a:ext cx="50623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KEY PROHIBITIONS</a:t>
            </a:r>
            <a:endParaRPr lang="en-US" sz="1200" dirty="0"/>
          </a:p>
        </p:txBody>
      </p:sp>
      <p:sp>
        <p:nvSpPr>
          <p:cNvPr id="27" name="Text 23"/>
          <p:cNvSpPr/>
          <p:nvPr/>
        </p:nvSpPr>
        <p:spPr>
          <a:xfrm>
            <a:off x="812800" y="6238280"/>
            <a:ext cx="76200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SUMMARY · QUICK REFERENCE</a:t>
            </a:r>
            <a:endParaRPr lang="en-US" sz="1200" dirty="0"/>
          </a:p>
        </p:txBody>
      </p:sp>
      <p:sp>
        <p:nvSpPr>
          <p:cNvPr id="28"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77</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OPEN VALIDATION ITEMS</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WHAT IS NOT YET SETTLED.</a:t>
            </a:r>
            <a:endParaRPr lang="en-US" sz="3000" dirty="0"/>
          </a:p>
        </p:txBody>
      </p:sp>
      <p:sp>
        <p:nvSpPr>
          <p:cNvPr id="4" name="Shape 2"/>
          <p:cNvSpPr/>
          <p:nvPr/>
        </p:nvSpPr>
        <p:spPr>
          <a:xfrm>
            <a:off x="812800" y="1753195"/>
            <a:ext cx="5283200" cy="0"/>
          </a:xfrm>
          <a:prstGeom prst="line">
            <a:avLst/>
          </a:prstGeom>
          <a:noFill/>
          <a:ln w="6350">
            <a:solidFill>
              <a:srgbClr val="BCACA7"/>
            </a:solidFill>
            <a:prstDash val="solid"/>
          </a:ln>
        </p:spPr>
        <p:txBody>
          <a:bodyPr/>
          <a:p/>
        </p:txBody>
      </p:sp>
      <p:sp>
        <p:nvSpPr>
          <p:cNvPr id="5" name="Text 3"/>
          <p:cNvSpPr/>
          <p:nvPr/>
        </p:nvSpPr>
        <p:spPr>
          <a:xfrm>
            <a:off x="8128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Production logo masters </a:t>
            </a:r>
            <a:r>
              <a:rPr lang="en-US" sz="1400" dirty="0">
                <a:solidFill>
                  <a:srgbClr val="BCACA7"/>
                </a:solidFill>
                <a:latin typeface="Inter" pitchFamily="34" charset="0"/>
                <a:ea typeface="Inter" pitchFamily="34" charset="-122"/>
                <a:cs typeface="Inter" pitchFamily="34" charset="-120"/>
              </a:rPr>
              <a:t>· VAL-02 · PENDING PRODUCTION MASTER</a:t>
            </a:r>
            <a:endParaRPr lang="en-US" sz="1400" dirty="0"/>
          </a:p>
        </p:txBody>
      </p:sp>
      <p:sp>
        <p:nvSpPr>
          <p:cNvPr id="6" name="Shape 4"/>
          <p:cNvSpPr/>
          <p:nvPr/>
        </p:nvSpPr>
        <p:spPr>
          <a:xfrm>
            <a:off x="6096000" y="1753195"/>
            <a:ext cx="5283200" cy="0"/>
          </a:xfrm>
          <a:prstGeom prst="line">
            <a:avLst/>
          </a:prstGeom>
          <a:noFill/>
          <a:ln w="6350">
            <a:solidFill>
              <a:srgbClr val="BCACA7"/>
            </a:solidFill>
            <a:prstDash val="solid"/>
          </a:ln>
        </p:spPr>
        <p:txBody>
          <a:bodyPr/>
          <a:p/>
        </p:txBody>
      </p:sp>
      <p:sp>
        <p:nvSpPr>
          <p:cNvPr id="7" name="Text 5"/>
          <p:cNvSpPr/>
          <p:nvPr/>
        </p:nvSpPr>
        <p:spPr>
          <a:xfrm>
            <a:off x="60960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Packaging pilot proof </a:t>
            </a:r>
            <a:r>
              <a:rPr lang="en-US" sz="1400" dirty="0">
                <a:solidFill>
                  <a:srgbClr val="BCACA7"/>
                </a:solidFill>
                <a:latin typeface="Inter" pitchFamily="34" charset="0"/>
                <a:ea typeface="Inter" pitchFamily="34" charset="-122"/>
                <a:cs typeface="Inter" pitchFamily="34" charset="-120"/>
              </a:rPr>
              <a:t>· VAL-09 · NOT STARTED</a:t>
            </a:r>
            <a:endParaRPr lang="en-US" sz="1400" dirty="0"/>
          </a:p>
        </p:txBody>
      </p:sp>
      <p:sp>
        <p:nvSpPr>
          <p:cNvPr id="8" name="Shape 6"/>
          <p:cNvSpPr/>
          <p:nvPr/>
        </p:nvSpPr>
        <p:spPr>
          <a:xfrm>
            <a:off x="812800" y="2570311"/>
            <a:ext cx="5283200" cy="0"/>
          </a:xfrm>
          <a:prstGeom prst="line">
            <a:avLst/>
          </a:prstGeom>
          <a:noFill/>
          <a:ln w="6350">
            <a:solidFill>
              <a:srgbClr val="BCACA7"/>
            </a:solidFill>
            <a:prstDash val="solid"/>
          </a:ln>
        </p:spPr>
        <p:txBody>
          <a:bodyPr/>
          <a:p/>
        </p:txBody>
      </p:sp>
      <p:sp>
        <p:nvSpPr>
          <p:cNvPr id="9" name="Text 7"/>
          <p:cNvSpPr/>
          <p:nvPr/>
        </p:nvSpPr>
        <p:spPr>
          <a:xfrm>
            <a:off x="8128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Trademark and artwork ownership </a:t>
            </a:r>
            <a:r>
              <a:rPr lang="en-US" sz="1400" dirty="0">
                <a:solidFill>
                  <a:srgbClr val="BCACA7"/>
                </a:solidFill>
                <a:latin typeface="Inter" pitchFamily="34" charset="0"/>
                <a:ea typeface="Inter" pitchFamily="34" charset="-122"/>
                <a:cs typeface="Inter" pitchFamily="34" charset="-120"/>
              </a:rPr>
              <a:t>· VAL-03, VAL-04 · [TO BE VERIFIED]</a:t>
            </a:r>
            <a:endParaRPr lang="en-US" sz="1400" dirty="0"/>
          </a:p>
        </p:txBody>
      </p:sp>
      <p:sp>
        <p:nvSpPr>
          <p:cNvPr id="10" name="Shape 8"/>
          <p:cNvSpPr/>
          <p:nvPr/>
        </p:nvSpPr>
        <p:spPr>
          <a:xfrm>
            <a:off x="6096000" y="2570311"/>
            <a:ext cx="5283200" cy="0"/>
          </a:xfrm>
          <a:prstGeom prst="line">
            <a:avLst/>
          </a:prstGeom>
          <a:noFill/>
          <a:ln w="6350">
            <a:solidFill>
              <a:srgbClr val="BCACA7"/>
            </a:solidFill>
            <a:prstDash val="solid"/>
          </a:ln>
        </p:spPr>
        <p:txBody>
          <a:bodyPr/>
          <a:p/>
        </p:txBody>
      </p:sp>
      <p:sp>
        <p:nvSpPr>
          <p:cNvPr id="11" name="Text 9"/>
          <p:cNvSpPr/>
          <p:nvPr/>
        </p:nvSpPr>
        <p:spPr>
          <a:xfrm>
            <a:off x="60960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Production standards, Part C RC2 </a:t>
            </a:r>
            <a:r>
              <a:rPr lang="en-US" sz="1400" dirty="0">
                <a:solidFill>
                  <a:srgbClr val="BCACA7"/>
                </a:solidFill>
                <a:latin typeface="Inter" pitchFamily="34" charset="0"/>
                <a:ea typeface="Inter" pitchFamily="34" charset="-122"/>
                <a:cs typeface="Inter" pitchFamily="34" charset="-120"/>
              </a:rPr>
              <a:t>· ISSUED · AC17, VAL-10, VAL-11 OPEN</a:t>
            </a:r>
            <a:endParaRPr lang="en-US" sz="1400" dirty="0"/>
          </a:p>
        </p:txBody>
      </p:sp>
      <p:sp>
        <p:nvSpPr>
          <p:cNvPr id="12" name="Shape 10"/>
          <p:cNvSpPr/>
          <p:nvPr/>
        </p:nvSpPr>
        <p:spPr>
          <a:xfrm>
            <a:off x="812800" y="3387427"/>
            <a:ext cx="5283200" cy="0"/>
          </a:xfrm>
          <a:prstGeom prst="line">
            <a:avLst/>
          </a:prstGeom>
          <a:noFill/>
          <a:ln w="6350">
            <a:solidFill>
              <a:srgbClr val="BCACA7"/>
            </a:solidFill>
            <a:prstDash val="solid"/>
          </a:ln>
        </p:spPr>
        <p:txBody>
          <a:bodyPr/>
          <a:p/>
        </p:txBody>
      </p:sp>
      <p:sp>
        <p:nvSpPr>
          <p:cNvPr id="13" name="Text 11"/>
          <p:cNvSpPr/>
          <p:nvPr/>
        </p:nvSpPr>
        <p:spPr>
          <a:xfrm>
            <a:off x="8128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Font build and licence </a:t>
            </a:r>
            <a:r>
              <a:rPr lang="en-US" sz="1400" dirty="0">
                <a:solidFill>
                  <a:srgbClr val="BCACA7"/>
                </a:solidFill>
                <a:latin typeface="Inter" pitchFamily="34" charset="0"/>
                <a:ea typeface="Inter" pitchFamily="34" charset="-122"/>
                <a:cs typeface="Inter" pitchFamily="34" charset="-120"/>
              </a:rPr>
              <a:t>· VAL-05 · PENDING VALIDATION</a:t>
            </a:r>
            <a:endParaRPr lang="en-US" sz="1400" dirty="0"/>
          </a:p>
        </p:txBody>
      </p:sp>
      <p:sp>
        <p:nvSpPr>
          <p:cNvPr id="14" name="Shape 12"/>
          <p:cNvSpPr/>
          <p:nvPr/>
        </p:nvSpPr>
        <p:spPr>
          <a:xfrm>
            <a:off x="6096000" y="3387427"/>
            <a:ext cx="5283200" cy="0"/>
          </a:xfrm>
          <a:prstGeom prst="line">
            <a:avLst/>
          </a:prstGeom>
          <a:noFill/>
          <a:ln w="6350">
            <a:solidFill>
              <a:srgbClr val="BCACA7"/>
            </a:solidFill>
            <a:prstDash val="solid"/>
          </a:ln>
        </p:spPr>
        <p:txBody>
          <a:bodyPr/>
          <a:p/>
        </p:txBody>
      </p:sp>
      <p:sp>
        <p:nvSpPr>
          <p:cNvPr id="15" name="Text 13"/>
          <p:cNvSpPr/>
          <p:nvPr/>
        </p:nvSpPr>
        <p:spPr>
          <a:xfrm>
            <a:off x="60960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Accessibility implementation QA </a:t>
            </a:r>
            <a:r>
              <a:rPr lang="en-US" sz="1400" dirty="0">
                <a:solidFill>
                  <a:srgbClr val="BCACA7"/>
                </a:solidFill>
                <a:latin typeface="Inter" pitchFamily="34" charset="0"/>
                <a:ea typeface="Inter" pitchFamily="34" charset="-122"/>
                <a:cs typeface="Inter" pitchFamily="34" charset="-120"/>
              </a:rPr>
              <a:t>· VAL-08 · IN PROGRESS</a:t>
            </a:r>
            <a:endParaRPr lang="en-US" sz="1400" dirty="0"/>
          </a:p>
        </p:txBody>
      </p:sp>
      <p:sp>
        <p:nvSpPr>
          <p:cNvPr id="16" name="Shape 14"/>
          <p:cNvSpPr/>
          <p:nvPr/>
        </p:nvSpPr>
        <p:spPr>
          <a:xfrm>
            <a:off x="812800" y="4204543"/>
            <a:ext cx="5283200" cy="0"/>
          </a:xfrm>
          <a:prstGeom prst="line">
            <a:avLst/>
          </a:prstGeom>
          <a:noFill/>
          <a:ln w="6350">
            <a:solidFill>
              <a:srgbClr val="BCACA7"/>
            </a:solidFill>
            <a:prstDash val="solid"/>
          </a:ln>
        </p:spPr>
        <p:txBody>
          <a:bodyPr/>
          <a:p/>
        </p:txBody>
      </p:sp>
      <p:sp>
        <p:nvSpPr>
          <p:cNvPr id="17" name="Text 15"/>
          <p:cNvSpPr/>
          <p:nvPr/>
        </p:nvSpPr>
        <p:spPr>
          <a:xfrm>
            <a:off x="8128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Image rights and commissioned photography </a:t>
            </a:r>
            <a:r>
              <a:rPr lang="en-US" sz="1400" dirty="0">
                <a:solidFill>
                  <a:srgbClr val="BCACA7"/>
                </a:solidFill>
                <a:latin typeface="Inter" pitchFamily="34" charset="0"/>
                <a:ea typeface="Inter" pitchFamily="34" charset="-122"/>
                <a:cs typeface="Inter" pitchFamily="34" charset="-120"/>
              </a:rPr>
              <a:t>· VAL-06 · PENDING</a:t>
            </a:r>
            <a:endParaRPr lang="en-US" sz="1400" dirty="0"/>
          </a:p>
        </p:txBody>
      </p:sp>
      <p:sp>
        <p:nvSpPr>
          <p:cNvPr id="18" name="Shape 16"/>
          <p:cNvSpPr/>
          <p:nvPr/>
        </p:nvSpPr>
        <p:spPr>
          <a:xfrm>
            <a:off x="6096000" y="4204543"/>
            <a:ext cx="5283200" cy="0"/>
          </a:xfrm>
          <a:prstGeom prst="line">
            <a:avLst/>
          </a:prstGeom>
          <a:noFill/>
          <a:ln w="6350">
            <a:solidFill>
              <a:srgbClr val="BCACA7"/>
            </a:solidFill>
            <a:prstDash val="solid"/>
          </a:ln>
        </p:spPr>
        <p:txBody>
          <a:bodyPr/>
          <a:p/>
        </p:txBody>
      </p:sp>
      <p:sp>
        <p:nvSpPr>
          <p:cNvPr id="19" name="Text 17"/>
          <p:cNvSpPr/>
          <p:nvPr/>
        </p:nvSpPr>
        <p:spPr>
          <a:xfrm>
            <a:off x="60960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Governance holders </a:t>
            </a:r>
            <a:r>
              <a:rPr lang="en-US" sz="1400" dirty="0">
                <a:solidFill>
                  <a:srgbClr val="BCACA7"/>
                </a:solidFill>
                <a:latin typeface="Inter" pitchFamily="34" charset="0"/>
                <a:ea typeface="Inter" pitchFamily="34" charset="-122"/>
                <a:cs typeface="Inter" pitchFamily="34" charset="-120"/>
              </a:rPr>
              <a:t>· AC19 · [REQUIRES OWNER]</a:t>
            </a:r>
            <a:endParaRPr lang="en-US" sz="1400" dirty="0"/>
          </a:p>
        </p:txBody>
      </p:sp>
      <p:sp>
        <p:nvSpPr>
          <p:cNvPr id="20" name="Shape 18"/>
          <p:cNvSpPr/>
          <p:nvPr/>
        </p:nvSpPr>
        <p:spPr>
          <a:xfrm>
            <a:off x="812800" y="5021659"/>
            <a:ext cx="5283200" cy="0"/>
          </a:xfrm>
          <a:prstGeom prst="line">
            <a:avLst/>
          </a:prstGeom>
          <a:noFill/>
          <a:ln w="6350">
            <a:solidFill>
              <a:srgbClr val="BCACA7"/>
            </a:solidFill>
            <a:prstDash val="solid"/>
          </a:ln>
        </p:spPr>
        <p:txBody>
          <a:bodyPr/>
          <a:p/>
        </p:txBody>
      </p:sp>
      <p:sp>
        <p:nvSpPr>
          <p:cNvPr id="21" name="Shape 19"/>
          <p:cNvSpPr/>
          <p:nvPr/>
        </p:nvSpPr>
        <p:spPr>
          <a:xfrm>
            <a:off x="812800" y="5838825"/>
            <a:ext cx="5283200" cy="0"/>
          </a:xfrm>
          <a:prstGeom prst="line">
            <a:avLst/>
          </a:prstGeom>
          <a:noFill/>
          <a:ln w="6350">
            <a:solidFill>
              <a:srgbClr val="BCACA7"/>
            </a:solidFill>
            <a:prstDash val="solid"/>
          </a:ln>
        </p:spPr>
        <p:txBody>
          <a:bodyPr/>
          <a:p/>
        </p:txBody>
      </p:sp>
      <p:sp>
        <p:nvSpPr>
          <p:cNvPr id="22" name="Text 20"/>
          <p:cNvSpPr/>
          <p:nvPr/>
        </p:nvSpPr>
        <p:spPr>
          <a:xfrm>
            <a:off x="8128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Arabic native QA and localization </a:t>
            </a:r>
            <a:r>
              <a:rPr lang="en-US" sz="1400" dirty="0">
                <a:solidFill>
                  <a:srgbClr val="BCACA7"/>
                </a:solidFill>
                <a:latin typeface="Inter" pitchFamily="34" charset="0"/>
                <a:ea typeface="Inter" pitchFamily="34" charset="-122"/>
                <a:cs typeface="Inter" pitchFamily="34" charset="-120"/>
              </a:rPr>
              <a:t>· VAL-07, AC10 · PENDING VALIDATION</a:t>
            </a:r>
            <a:endParaRPr lang="en-US" sz="1400" dirty="0"/>
          </a:p>
        </p:txBody>
      </p:sp>
      <p:sp>
        <p:nvSpPr>
          <p:cNvPr id="23" name="Shape 21"/>
          <p:cNvSpPr/>
          <p:nvPr/>
        </p:nvSpPr>
        <p:spPr>
          <a:xfrm>
            <a:off x="6096000" y="5021659"/>
            <a:ext cx="5283200" cy="0"/>
          </a:xfrm>
          <a:prstGeom prst="line">
            <a:avLst/>
          </a:prstGeom>
          <a:noFill/>
          <a:ln w="6350">
            <a:solidFill>
              <a:srgbClr val="BCACA7"/>
            </a:solidFill>
            <a:prstDash val="solid"/>
          </a:ln>
        </p:spPr>
        <p:txBody>
          <a:bodyPr/>
          <a:p/>
        </p:txBody>
      </p:sp>
      <p:sp>
        <p:nvSpPr>
          <p:cNvPr id="24" name="Shape 22"/>
          <p:cNvSpPr/>
          <p:nvPr/>
        </p:nvSpPr>
        <p:spPr>
          <a:xfrm>
            <a:off x="6096000" y="5838825"/>
            <a:ext cx="5283200" cy="0"/>
          </a:xfrm>
          <a:prstGeom prst="line">
            <a:avLst/>
          </a:prstGeom>
          <a:noFill/>
          <a:ln w="6350">
            <a:solidFill>
              <a:srgbClr val="BCACA7"/>
            </a:solidFill>
            <a:prstDash val="solid"/>
          </a:ln>
        </p:spPr>
        <p:txBody>
          <a:bodyPr/>
          <a:p/>
        </p:txBody>
      </p:sp>
      <p:sp>
        <p:nvSpPr>
          <p:cNvPr id="25" name="Text 23"/>
          <p:cNvSpPr/>
          <p:nvPr/>
        </p:nvSpPr>
        <p:spPr>
          <a:xfrm>
            <a:off x="60960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Release authorization </a:t>
            </a:r>
            <a:r>
              <a:rPr lang="en-US" sz="1400" dirty="0">
                <a:solidFill>
                  <a:srgbClr val="BCACA7"/>
                </a:solidFill>
                <a:latin typeface="Inter" pitchFamily="34" charset="0"/>
                <a:ea typeface="Inter" pitchFamily="34" charset="-122"/>
                <a:cs typeface="Inter" pitchFamily="34" charset="-120"/>
              </a:rPr>
              <a:t>· AC20 · [REQUIRES OWNER]</a:t>
            </a:r>
            <a:endParaRPr lang="en-US" sz="1400" dirty="0"/>
          </a:p>
        </p:txBody>
      </p:sp>
      <p:sp>
        <p:nvSpPr>
          <p:cNvPr id="26" name="Text 2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SUMMARY · OPEN ITEMS</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78</a:t>
            </a:r>
            <a:endParaRPr lang="en-US" sz="1200" dirty="0"/>
          </a:p>
        </p:txBody>
      </p:sp>
      <p:sp>
        <p:nvSpPr>
          <p:cNvPr id="28" name="Text 26"/>
          <p:cNvSpPr/>
          <p:nvPr/>
        </p:nvSpPr>
        <p:spPr>
          <a:xfrm>
            <a:off x="813816" y="5916168"/>
            <a:ext cx="10881360" cy="274320"/>
          </a:xfrm>
          <a:prstGeom prst="rect">
            <a:avLst/>
          </a:prstGeom>
          <a:noFill/>
          <a:ln/>
        </p:spPr>
        <p:txBody>
          <a:bodyPr wrap="square" lIns="0" tIns="0" rIns="0" bIns="0" rtlCol="0" anchor="t"/>
          <a:lstStyle/>
          <a:p>
            <a:pPr algn="l" indent="0" marL="0">
              <a:lnSpc>
                <a:spcPts val="1680"/>
              </a:lnSpc>
              <a:buNone/>
            </a:pPr>
            <a:r>
              <a:rPr lang="en-US" sz="1100" spc="95" kern="0" dirty="0">
                <a:solidFill>
                  <a:srgbClr val="BCACA7"/>
                </a:solidFill>
                <a:latin typeface="Inter" pitchFamily="34" charset="0"/>
                <a:ea typeface="Inter" pitchFamily="34" charset="-122"/>
                <a:cs typeface="Inter" pitchFamily="34" charset="-120"/>
              </a:rPr>
              <a:t>Also open: VAL-13 to VAL-17, VAL-19 to VAL-21 and the template deliverables (AB10, AB11, W01–W14). IDs follow the V3 Approval Register.</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DOCUMENT CONTROL &amp; CHANGE LOG</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ONE VERSION. ONE DATE. ONE OWNER.</a:t>
            </a:r>
            <a:endParaRPr lang="en-US" sz="3000" dirty="0"/>
          </a:p>
        </p:txBody>
      </p:sp>
      <p:sp>
        <p:nvSpPr>
          <p:cNvPr id="4" name="Shape 2"/>
          <p:cNvSpPr/>
          <p:nvPr/>
        </p:nvSpPr>
        <p:spPr>
          <a:xfrm>
            <a:off x="812800" y="1753195"/>
            <a:ext cx="5283200" cy="0"/>
          </a:xfrm>
          <a:prstGeom prst="line">
            <a:avLst/>
          </a:prstGeom>
          <a:noFill/>
          <a:ln w="6350">
            <a:solidFill>
              <a:srgbClr val="BCACA7"/>
            </a:solidFill>
            <a:prstDash val="solid"/>
          </a:ln>
        </p:spPr>
        <p:txBody>
          <a:bodyPr/>
          <a:p/>
        </p:txBody>
      </p:sp>
      <p:sp>
        <p:nvSpPr>
          <p:cNvPr id="5" name="Text 3"/>
          <p:cNvSpPr/>
          <p:nvPr/>
        </p:nvSpPr>
        <p:spPr>
          <a:xfrm>
            <a:off x="8128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Document ID </a:t>
            </a:r>
            <a:r>
              <a:rPr lang="en-US" sz="1400" dirty="0">
                <a:solidFill>
                  <a:srgbClr val="BCACA7"/>
                </a:solidFill>
                <a:latin typeface="Inter" pitchFamily="34" charset="0"/>
                <a:ea typeface="Inter" pitchFamily="34" charset="-122"/>
                <a:cs typeface="Inter" pitchFamily="34" charset="-120"/>
              </a:rPr>
              <a:t>· GEM-BG-V3.0-RC2</a:t>
            </a:r>
            <a:endParaRPr lang="en-US" sz="1400" dirty="0"/>
          </a:p>
        </p:txBody>
      </p:sp>
      <p:sp>
        <p:nvSpPr>
          <p:cNvPr id="6" name="Shape 4"/>
          <p:cNvSpPr/>
          <p:nvPr/>
        </p:nvSpPr>
        <p:spPr>
          <a:xfrm>
            <a:off x="6096000" y="1753195"/>
            <a:ext cx="5283200" cy="0"/>
          </a:xfrm>
          <a:prstGeom prst="line">
            <a:avLst/>
          </a:prstGeom>
          <a:noFill/>
          <a:ln w="6350">
            <a:solidFill>
              <a:srgbClr val="BCACA7"/>
            </a:solidFill>
            <a:prstDash val="solid"/>
          </a:ln>
        </p:spPr>
        <p:txBody>
          <a:bodyPr/>
          <a:p/>
        </p:txBody>
      </p:sp>
      <p:sp>
        <p:nvSpPr>
          <p:cNvPr id="7" name="Text 5"/>
          <p:cNvSpPr/>
          <p:nvPr/>
        </p:nvSpPr>
        <p:spPr>
          <a:xfrm>
            <a:off x="60960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Title </a:t>
            </a:r>
            <a:r>
              <a:rPr lang="en-US" sz="1400" dirty="0">
                <a:solidFill>
                  <a:srgbClr val="BCACA7"/>
                </a:solidFill>
                <a:latin typeface="Inter" pitchFamily="34" charset="0"/>
                <a:ea typeface="Inter" pitchFamily="34" charset="-122"/>
                <a:cs typeface="Inter" pitchFamily="34" charset="-120"/>
              </a:rPr>
              <a:t>· GEM™ Brand Guidelines V3.0 — Part A</a:t>
            </a:r>
            <a:endParaRPr lang="en-US" sz="1400" dirty="0"/>
          </a:p>
        </p:txBody>
      </p:sp>
      <p:sp>
        <p:nvSpPr>
          <p:cNvPr id="8" name="Shape 6"/>
          <p:cNvSpPr/>
          <p:nvPr/>
        </p:nvSpPr>
        <p:spPr>
          <a:xfrm>
            <a:off x="812800" y="2570311"/>
            <a:ext cx="5283200" cy="0"/>
          </a:xfrm>
          <a:prstGeom prst="line">
            <a:avLst/>
          </a:prstGeom>
          <a:noFill/>
          <a:ln w="6350">
            <a:solidFill>
              <a:srgbClr val="BCACA7"/>
            </a:solidFill>
            <a:prstDash val="solid"/>
          </a:ln>
        </p:spPr>
        <p:txBody>
          <a:bodyPr/>
          <a:p/>
        </p:txBody>
      </p:sp>
      <p:sp>
        <p:nvSpPr>
          <p:cNvPr id="9" name="Text 7"/>
          <p:cNvSpPr/>
          <p:nvPr/>
        </p:nvSpPr>
        <p:spPr>
          <a:xfrm>
            <a:off x="8128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Version </a:t>
            </a:r>
            <a:r>
              <a:rPr lang="en-US" sz="1400" dirty="0">
                <a:solidFill>
                  <a:srgbClr val="BCACA7"/>
                </a:solidFill>
                <a:latin typeface="Inter" pitchFamily="34" charset="0"/>
                <a:ea typeface="Inter" pitchFamily="34" charset="-122"/>
                <a:cs typeface="Inter" pitchFamily="34" charset="-120"/>
              </a:rPr>
              <a:t>· V3.0 RC2 (Release Candidate 2)</a:t>
            </a:r>
            <a:endParaRPr lang="en-US" sz="1400" dirty="0"/>
          </a:p>
        </p:txBody>
      </p:sp>
      <p:sp>
        <p:nvSpPr>
          <p:cNvPr id="10" name="Shape 8"/>
          <p:cNvSpPr/>
          <p:nvPr/>
        </p:nvSpPr>
        <p:spPr>
          <a:xfrm>
            <a:off x="6096000" y="2570311"/>
            <a:ext cx="5283200" cy="0"/>
          </a:xfrm>
          <a:prstGeom prst="line">
            <a:avLst/>
          </a:prstGeom>
          <a:noFill/>
          <a:ln w="6350">
            <a:solidFill>
              <a:srgbClr val="BCACA7"/>
            </a:solidFill>
            <a:prstDash val="solid"/>
          </a:ln>
        </p:spPr>
        <p:txBody>
          <a:bodyPr/>
          <a:p/>
        </p:txBody>
      </p:sp>
      <p:sp>
        <p:nvSpPr>
          <p:cNvPr id="11" name="Text 9"/>
          <p:cNvSpPr/>
          <p:nvPr/>
        </p:nvSpPr>
        <p:spPr>
          <a:xfrm>
            <a:off x="60960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Edition state </a:t>
            </a:r>
            <a:r>
              <a:rPr lang="en-US" sz="1400" dirty="0">
                <a:solidFill>
                  <a:srgbClr val="BCACA7"/>
                </a:solidFill>
                <a:latin typeface="Inter" pitchFamily="34" charset="0"/>
                <a:ea typeface="Inter" pitchFamily="34" charset="-122"/>
                <a:cs typeface="Inter" pitchFamily="34" charset="-120"/>
              </a:rPr>
              <a:t>· WORKING EDITION · NOT RELEASED</a:t>
            </a:r>
            <a:endParaRPr lang="en-US" sz="1400" dirty="0"/>
          </a:p>
        </p:txBody>
      </p:sp>
      <p:sp>
        <p:nvSpPr>
          <p:cNvPr id="12" name="Shape 10"/>
          <p:cNvSpPr/>
          <p:nvPr/>
        </p:nvSpPr>
        <p:spPr>
          <a:xfrm>
            <a:off x="812800" y="3387427"/>
            <a:ext cx="5283200" cy="0"/>
          </a:xfrm>
          <a:prstGeom prst="line">
            <a:avLst/>
          </a:prstGeom>
          <a:noFill/>
          <a:ln w="6350">
            <a:solidFill>
              <a:srgbClr val="BCACA7"/>
            </a:solidFill>
            <a:prstDash val="solid"/>
          </a:ln>
        </p:spPr>
        <p:txBody>
          <a:bodyPr/>
          <a:p/>
        </p:txBody>
      </p:sp>
      <p:sp>
        <p:nvSpPr>
          <p:cNvPr id="13" name="Text 11"/>
          <p:cNvSpPr/>
          <p:nvPr/>
        </p:nvSpPr>
        <p:spPr>
          <a:xfrm>
            <a:off x="8128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Issue date </a:t>
            </a:r>
            <a:r>
              <a:rPr lang="en-US" sz="1400" dirty="0">
                <a:solidFill>
                  <a:srgbClr val="BCACA7"/>
                </a:solidFill>
                <a:latin typeface="Inter" pitchFamily="34" charset="0"/>
                <a:ea typeface="Inter" pitchFamily="34" charset="-122"/>
                <a:cs typeface="Inter" pitchFamily="34" charset="-120"/>
              </a:rPr>
              <a:t>· 2026-10-06</a:t>
            </a:r>
            <a:endParaRPr lang="en-US" sz="1400" dirty="0"/>
          </a:p>
        </p:txBody>
      </p:sp>
      <p:sp>
        <p:nvSpPr>
          <p:cNvPr id="14" name="Shape 12"/>
          <p:cNvSpPr/>
          <p:nvPr/>
        </p:nvSpPr>
        <p:spPr>
          <a:xfrm>
            <a:off x="6096000" y="3387427"/>
            <a:ext cx="5283200" cy="0"/>
          </a:xfrm>
          <a:prstGeom prst="line">
            <a:avLst/>
          </a:prstGeom>
          <a:noFill/>
          <a:ln w="6350">
            <a:solidFill>
              <a:srgbClr val="BCACA7"/>
            </a:solidFill>
            <a:prstDash val="solid"/>
          </a:ln>
        </p:spPr>
        <p:txBody>
          <a:bodyPr/>
          <a:p/>
        </p:txBody>
      </p:sp>
      <p:sp>
        <p:nvSpPr>
          <p:cNvPr id="15" name="Text 13"/>
          <p:cNvSpPr/>
          <p:nvPr/>
        </p:nvSpPr>
        <p:spPr>
          <a:xfrm>
            <a:off x="60960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Owner </a:t>
            </a:r>
            <a:r>
              <a:rPr lang="en-US" sz="1400" dirty="0">
                <a:solidFill>
                  <a:srgbClr val="BCACA7"/>
                </a:solidFill>
                <a:latin typeface="Inter" pitchFamily="34" charset="0"/>
                <a:ea typeface="Inter" pitchFamily="34" charset="-122"/>
                <a:cs typeface="Inter" pitchFamily="34" charset="-120"/>
              </a:rPr>
              <a:t>· Brand Owner [REQUIRES OWNER]</a:t>
            </a:r>
            <a:endParaRPr lang="en-US" sz="1400" dirty="0"/>
          </a:p>
        </p:txBody>
      </p:sp>
      <p:sp>
        <p:nvSpPr>
          <p:cNvPr id="16" name="Shape 14"/>
          <p:cNvSpPr/>
          <p:nvPr/>
        </p:nvSpPr>
        <p:spPr>
          <a:xfrm>
            <a:off x="812800" y="4204543"/>
            <a:ext cx="5283200" cy="0"/>
          </a:xfrm>
          <a:prstGeom prst="line">
            <a:avLst/>
          </a:prstGeom>
          <a:noFill/>
          <a:ln w="6350">
            <a:solidFill>
              <a:srgbClr val="BCACA7"/>
            </a:solidFill>
            <a:prstDash val="solid"/>
          </a:ln>
        </p:spPr>
        <p:txBody>
          <a:bodyPr/>
          <a:p/>
        </p:txBody>
      </p:sp>
      <p:sp>
        <p:nvSpPr>
          <p:cNvPr id="17" name="Text 15"/>
          <p:cNvSpPr/>
          <p:nvPr/>
        </p:nvSpPr>
        <p:spPr>
          <a:xfrm>
            <a:off x="8128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Approver </a:t>
            </a:r>
            <a:r>
              <a:rPr lang="en-US" sz="1400" dirty="0">
                <a:solidFill>
                  <a:srgbClr val="BCACA7"/>
                </a:solidFill>
                <a:latin typeface="Inter" pitchFamily="34" charset="0"/>
                <a:ea typeface="Inter" pitchFamily="34" charset="-122"/>
                <a:cs typeface="Inter" pitchFamily="34" charset="-120"/>
              </a:rPr>
              <a:t>· Brand Owner · AC20 PENDING</a:t>
            </a:r>
            <a:endParaRPr lang="en-US" sz="1400" dirty="0"/>
          </a:p>
        </p:txBody>
      </p:sp>
      <p:sp>
        <p:nvSpPr>
          <p:cNvPr id="18" name="Shape 16"/>
          <p:cNvSpPr/>
          <p:nvPr/>
        </p:nvSpPr>
        <p:spPr>
          <a:xfrm>
            <a:off x="6096000" y="4204543"/>
            <a:ext cx="5283200" cy="0"/>
          </a:xfrm>
          <a:prstGeom prst="line">
            <a:avLst/>
          </a:prstGeom>
          <a:noFill/>
          <a:ln w="6350">
            <a:solidFill>
              <a:srgbClr val="BCACA7"/>
            </a:solidFill>
            <a:prstDash val="solid"/>
          </a:ln>
        </p:spPr>
        <p:txBody>
          <a:bodyPr/>
          <a:p/>
        </p:txBody>
      </p:sp>
      <p:sp>
        <p:nvSpPr>
          <p:cNvPr id="19" name="Text 17"/>
          <p:cNvSpPr/>
          <p:nvPr/>
        </p:nvSpPr>
        <p:spPr>
          <a:xfrm>
            <a:off x="60960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Release status </a:t>
            </a:r>
            <a:r>
              <a:rPr lang="en-US" sz="1400" dirty="0">
                <a:solidFill>
                  <a:srgbClr val="BCACA7"/>
                </a:solidFill>
                <a:latin typeface="Inter" pitchFamily="34" charset="0"/>
                <a:ea typeface="Inter" pitchFamily="34" charset="-122"/>
                <a:cs typeface="Inter" pitchFamily="34" charset="-120"/>
              </a:rPr>
              <a:t>· RC2 synchronized · evidence gates open</a:t>
            </a:r>
            <a:endParaRPr lang="en-US" sz="1400" dirty="0"/>
          </a:p>
        </p:txBody>
      </p:sp>
      <p:sp>
        <p:nvSpPr>
          <p:cNvPr id="20" name="Shape 18"/>
          <p:cNvSpPr/>
          <p:nvPr/>
        </p:nvSpPr>
        <p:spPr>
          <a:xfrm>
            <a:off x="812800" y="5021659"/>
            <a:ext cx="5283200" cy="0"/>
          </a:xfrm>
          <a:prstGeom prst="line">
            <a:avLst/>
          </a:prstGeom>
          <a:noFill/>
          <a:ln w="6350">
            <a:solidFill>
              <a:srgbClr val="BCACA7"/>
            </a:solidFill>
            <a:prstDash val="solid"/>
          </a:ln>
        </p:spPr>
        <p:txBody>
          <a:bodyPr/>
          <a:p/>
        </p:txBody>
      </p:sp>
      <p:sp>
        <p:nvSpPr>
          <p:cNvPr id="21" name="Shape 19"/>
          <p:cNvSpPr/>
          <p:nvPr/>
        </p:nvSpPr>
        <p:spPr>
          <a:xfrm>
            <a:off x="812800" y="5838825"/>
            <a:ext cx="5283200" cy="0"/>
          </a:xfrm>
          <a:prstGeom prst="line">
            <a:avLst/>
          </a:prstGeom>
          <a:noFill/>
          <a:ln w="6350">
            <a:solidFill>
              <a:srgbClr val="BCACA7"/>
            </a:solidFill>
            <a:prstDash val="solid"/>
          </a:ln>
        </p:spPr>
        <p:txBody>
          <a:bodyPr/>
          <a:p/>
        </p:txBody>
      </p:sp>
      <p:sp>
        <p:nvSpPr>
          <p:cNvPr id="22" name="Text 20"/>
          <p:cNvSpPr/>
          <p:nvPr/>
        </p:nvSpPr>
        <p:spPr>
          <a:xfrm>
            <a:off x="8128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Supersedes </a:t>
            </a:r>
            <a:r>
              <a:rPr lang="en-US" sz="1400" dirty="0">
                <a:solidFill>
                  <a:srgbClr val="BCACA7"/>
                </a:solidFill>
                <a:latin typeface="Inter" pitchFamily="34" charset="0"/>
                <a:ea typeface="Inter" pitchFamily="34" charset="-122"/>
                <a:cs typeface="Inter" pitchFamily="34" charset="-120"/>
              </a:rPr>
              <a:t>· V3.0 working edition (undated, pre-RC2)</a:t>
            </a:r>
            <a:endParaRPr lang="en-US" sz="1400" dirty="0"/>
          </a:p>
        </p:txBody>
      </p:sp>
      <p:sp>
        <p:nvSpPr>
          <p:cNvPr id="23" name="Shape 21"/>
          <p:cNvSpPr/>
          <p:nvPr/>
        </p:nvSpPr>
        <p:spPr>
          <a:xfrm>
            <a:off x="6096000" y="5021659"/>
            <a:ext cx="5283200" cy="0"/>
          </a:xfrm>
          <a:prstGeom prst="line">
            <a:avLst/>
          </a:prstGeom>
          <a:noFill/>
          <a:ln w="6350">
            <a:solidFill>
              <a:srgbClr val="BCACA7"/>
            </a:solidFill>
            <a:prstDash val="solid"/>
          </a:ln>
        </p:spPr>
        <p:txBody>
          <a:bodyPr/>
          <a:p/>
        </p:txBody>
      </p:sp>
      <p:sp>
        <p:nvSpPr>
          <p:cNvPr id="24" name="Shape 22"/>
          <p:cNvSpPr/>
          <p:nvPr/>
        </p:nvSpPr>
        <p:spPr>
          <a:xfrm>
            <a:off x="6096000" y="5838825"/>
            <a:ext cx="5283200" cy="0"/>
          </a:xfrm>
          <a:prstGeom prst="line">
            <a:avLst/>
          </a:prstGeom>
          <a:noFill/>
          <a:ln w="6350">
            <a:solidFill>
              <a:srgbClr val="BCACA7"/>
            </a:solidFill>
            <a:prstDash val="solid"/>
          </a:ln>
        </p:spPr>
        <p:txBody>
          <a:bodyPr/>
          <a:p/>
        </p:txBody>
      </p:sp>
      <p:sp>
        <p:nvSpPr>
          <p:cNvPr id="25" name="Text 23"/>
          <p:cNvSpPr/>
          <p:nvPr/>
        </p:nvSpPr>
        <p:spPr>
          <a:xfrm>
            <a:off x="60960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Related </a:t>
            </a:r>
            <a:r>
              <a:rPr lang="en-US" sz="1400" dirty="0">
                <a:solidFill>
                  <a:srgbClr val="BCACA7"/>
                </a:solidFill>
                <a:latin typeface="Inter" pitchFamily="34" charset="0"/>
                <a:ea typeface="Inter" pitchFamily="34" charset="-122"/>
                <a:cs typeface="Inter" pitchFamily="34" charset="-120"/>
              </a:rPr>
              <a:t>· GEM-DDS-V3.0-RC2 (Part B) · GEM-PS-V3.0-RC2 (Part C) · V3 Approval Register</a:t>
            </a:r>
            <a:endParaRPr lang="en-US" sz="1400" dirty="0"/>
          </a:p>
        </p:txBody>
      </p:sp>
      <p:sp>
        <p:nvSpPr>
          <p:cNvPr id="26" name="Text 24"/>
          <p:cNvSpPr/>
          <p:nvPr/>
        </p:nvSpPr>
        <p:spPr>
          <a:xfrm>
            <a:off x="812800" y="6238280"/>
            <a:ext cx="8686800" cy="238720"/>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DOCUMENT CONTROL</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79</a:t>
            </a:r>
            <a:endParaRPr lang="en-US" sz="1200" dirty="0"/>
          </a:p>
        </p:txBody>
      </p:sp>
      <p:sp>
        <p:nvSpPr>
          <p:cNvPr id="28" name="Text 26"/>
          <p:cNvSpPr/>
          <p:nvPr/>
        </p:nvSpPr>
        <p:spPr>
          <a:xfrm>
            <a:off x="813816" y="5760720"/>
            <a:ext cx="10881360" cy="457200"/>
          </a:xfrm>
          <a:prstGeom prst="rect">
            <a:avLst/>
          </a:prstGeom>
          <a:noFill/>
          <a:ln/>
        </p:spPr>
        <p:txBody>
          <a:bodyPr wrap="square" lIns="0" tIns="0" rIns="0" bIns="0" rtlCol="0" anchor="t"/>
          <a:lstStyle/>
          <a:p>
            <a:pPr algn="l" indent="0" marL="0">
              <a:lnSpc>
                <a:spcPts val="1680"/>
              </a:lnSpc>
              <a:buNone/>
            </a:pPr>
            <a:r>
              <a:rPr lang="en-US" sz="1000" spc="95" kern="0" dirty="0">
                <a:solidFill>
                  <a:srgbClr val="BCACA7"/>
                </a:solidFill>
                <a:latin typeface="Inter" pitchFamily="34" charset="0"/>
                <a:ea typeface="Inter" pitchFamily="34" charset="-122"/>
                <a:cs typeface="Inter" pitchFamily="34" charset="-120"/>
              </a:rPr>
              <a:t>Change log · RC2, 2026-10-06: synchronized with Part B and Part C RC2 and the V3 Approval Register (authority order, twelve roles, VAL IDs, S07 wayfinding default, six-level hierarchy T05, X12 naming, edition vocabulary, alt text). Full record: GEM_V3_RC2_Release_Notes.</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title="GEM primary horizontal signature, Beige on Ink, supplied ras">    </p:cNvPr>
          <p:cNvPicPr>
            <a:picLocks noChangeAspect="1"/>
          </p:cNvPicPr>
          <p:nvPr/>
        </p:nvPicPr>
        <p:blipFill>
          <a:blip r:embed="rId2"/>
          <a:srcRect l="0" r="0" t="-24" b="-24"/>
          <a:stretch/>
        </p:blipFill>
        <p:spPr>
          <a:xfrm>
            <a:off x="812800" y="812800"/>
            <a:ext cx="2667000" cy="844550"/>
          </a:xfrm>
          <a:prstGeom prst="rect">
            <a:avLst/>
          </a:prstGeom>
        </p:spPr>
      </p:pic>
      <p:sp>
        <p:nvSpPr>
          <p:cNvPr id="4" name="Text 0"/>
          <p:cNvSpPr/>
          <p:nvPr/>
        </p:nvSpPr>
        <p:spPr>
          <a:xfrm>
            <a:off x="812800" y="5572770"/>
            <a:ext cx="7194550" cy="345430"/>
          </a:xfrm>
          <a:prstGeom prst="rect">
            <a:avLst/>
          </a:prstGeom>
          <a:noFill/>
          <a:ln/>
        </p:spPr>
        <p:txBody>
          <a:bodyPr wrap="square" lIns="0" tIns="0" rIns="0" bIns="0" rtlCol="0" anchor="t">
            <a:normAutofit/>
          </a:bodyPr>
          <a:lstStyle/>
          <a:p>
            <a:pPr algn="l" indent="0" marL="0">
              <a:lnSpc>
                <a:spcPts val="2520"/>
              </a:lnSpc>
              <a:buNone/>
            </a:pPr>
            <a:r>
              <a:rPr lang="en-US" sz="1800" spc="325" kern="0" dirty="0">
                <a:solidFill>
                  <a:srgbClr val="BCACA7"/>
                </a:solidFill>
                <a:latin typeface="Jost" pitchFamily="34" charset="0"/>
                <a:ea typeface="Jost" pitchFamily="34" charset="-122"/>
                <a:cs typeface="Jost" pitchFamily="34" charset="-120"/>
              </a:rPr>
              <a:t>HOSPITALITY, IN PERFECT PROPORTION</a:t>
            </a:r>
            <a:endParaRPr lang="en-US" sz="1800" dirty="0"/>
          </a:p>
        </p:txBody>
      </p:sp>
      <p:sp>
        <p:nvSpPr>
          <p:cNvPr id="5" name="Text 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Brand Guidelines V3.0 RC2 · Part A · Working edition · not released</a:t>
            </a:r>
            <a:endParaRPr lang="en-US" sz="1200" dirty="0"/>
          </a:p>
        </p:txBody>
      </p:sp>
    </p:spTree>
  </p:cSld>
  <p:clrMapOvr>
    <a:masterClrMapping/>
  </p:clrMapOvr>
</p:sld>
</file>

<file path=ppt/theme/theme1.xml><?xml version="1.0" encoding="utf-8"?>
<a:theme xmlns:a="http://schemas.openxmlformats.org/drawingml/2006/main" name="GEM Brand Guidelines V3.0 — Part A">
  <a:themeElements>
    <a:clrScheme name="GEM Brand Guidelines V3.0 — Part A">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Brand Guidelines V3.0 — Part A">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Brand Guidelines V3.0 — Part A</dc:title>
  <dc:subject/>
  <dc:creator/>
  <cp:lastModifiedBy/>
  <cp:revision>1</cp:revision>
  <dcterms:created xsi:type="dcterms:W3CDTF">2026-10-06T01:30:59Z</dcterms:created>
  <dcterms:modified xsi:type="dcterms:W3CDTF">2026-10-06T01:30:59Z</dcterms:modified>
</cp:coreProperties>
</file>