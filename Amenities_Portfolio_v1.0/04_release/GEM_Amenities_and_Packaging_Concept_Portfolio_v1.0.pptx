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GEM — Amenities &amp; Packaging is a descriptive business stream under the GEM master brand (register C03, C05, T01). Everything shown is a concept; no structure, material, volume, ingredient, claim, supplier, MOQ or price is stated. The logo is the supplied raster, PENDING PRODUCTION MASTER (VAL-02).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per register C08, C09 and AC02: supplier and partner, not an operator. The offer list is the register's target architecture (E01–E14), stated as potential offer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Family recognition comes from proportion and hierarchy, not from decoration (principles 01–04). Scales shown are relative only; no dimension is implied.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SHAMPOO: pilot family product (register T02, T03). Six-level information hierarchy per T05. No formulation, fragrance, volume, claim, origin, supplier, MOQ or price is stated. Structure shown is a concept; any alternative structure is [REQUIRES SUPPLIER].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CONDITIONER: pilot family product (register T02, T03). Six-level information hierarchy per T05. No formulation, fragrance, volume, claim, origin, supplier, MOQ or price is stated. Structure shown is a concept; any alternative structure is [REQUIRES SUPPLIER].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BODY WASH: pilot family product (register T02, T03). Six-level information hierarchy per T05. No formulation, fragrance, volume, claim, origin, supplier, MOQ or price is stated. Structure shown is a concept; any alternative structure is [REQUIRES SUPPLIER].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BODY LOTION: pilot family product (register T02, T03). Six-level information hierarchy per T05. No formulation, fragrance, volume, claim, origin, supplier, MOQ or price is stated. Structure shown is a concept; any alternative structure is [REQUIRES SUPPLIER].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WASH: pilot family product (register T02, T03). Six-level information hierarchy per T05. No formulation, fragrance, volume, claim, origin, supplier, MOQ or price is stated. Structure shown is a concept; any alternative structure is [REQUIRES SUPPLIER].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family: Shampoo, Conditioner, Body Wash, Body Lotion, Hand Wash (T03). Relative sizes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Structural framework per Part C slide 32: bottle or tube format, resin, closure, decoration method, carton and inner pack are supplier decisions tested before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alternative primary-pack formats on one label system. None is approved; the supplier dieline is the only dieline (Part C slide 31).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principles per Part C slide 22 and finish direction U01–U10: uncoated warm paper, deep Ink board, deboss or blind emboss, soft-touch selectively; foil only if specifically approved; no chrome, holographic or heavy gloss.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Exploratory only. Not approved product lines (register C10: show only approved active streams; these are packaging opportunities within the approved stream, not new streams).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Packaging opportunities only; no supply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Guest journey per Part A slide 55: arrival, stay, dining, service, departure, return. Only the packaging layer is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Property-specific content stays CONDITIONAL or CONCEPT per the source documents. Whether a family or property name may occupy the collection/tier level is [REQUIRES OWNER · Product / Amenities Lead].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Co-branding rules per Part A slide 31 and register I10–I12.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future stream or programme inherits the identity and never forks it (Part A slide 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Direction per Part A slide 63 and Part C slide 23 (paper and board attributes [REQUIRES SUPPLIER / OWNER]); register U01–U03.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C slides 24–25; register U04–U10.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Hierarchy per register T05 and Part A slide 61 / Part C slide 29. Ingredients, claims, warnings, origin and regulatory text are supplied by the accountable owner and reviewed per market (Part C slide 33).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Bilingual rules per Part A slides 37–39 and Part B RC2 slides 12–13. The register's Arabic-first default (S07) is scoped to wayfinding; the packaging language order is not decided and is marked [REQUIRES OWNER].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Mapping to Part C: supplier structure (slide 32), dieline (31, App. G), regulatory copy (33, App. H), preflight (19, App. C), proofs (49), physical sample (36, App. I), release (5, App. 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The headline is an editorial line for this portfolio; the primary tagline remains HOSPITALITY, IN PERFECT PROPORTION, fixed (B04).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" y="62362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— AMENITIES &amp; PACKAGING · CONCEPT PRODUCT PORTFOLIO v1.0 · CONCEPT / NOT PRODUCTION ARTWORK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CACA7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" y="62362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— AMENITIES &amp; PACKAGING · CONCEPT PRODUCT PORTFOLIO v1.0 · CONCEPT / NOT PRODUCTION ARTWORK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IGE">
    <p:bg>
      <p:bgPr>
        <a:solidFill>
          <a:srgbClr val="BCAC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3816" y="62362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— AMENITIES &amp; PACKAGING · CONCEPT PRODUCT PORTFOLIO v1.0 · CONCEPT / NOT PRODUCTION ARTWORK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CACA7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: a GEM-packaged shampoo bottle concept on an Ink fiel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0"/>
            <a:ext cx="4965192" cy="6858000"/>
          </a:xfrm>
          <a:prstGeom prst="rect">
            <a:avLst/>
          </a:prstGeom>
        </p:spPr>
      </p:pic>
      <p:pic>
        <p:nvPicPr>
          <p:cNvPr id="3" name="Image 1" descr="GEM primary horizontal signature, supplied raster, PENDING PRODUCTION MA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813816"/>
            <a:ext cx="3177871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13816" y="2743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Amenities &amp; Packaging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813816" y="3520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Product Portfolio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813816" y="5120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20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813816" y="5989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v1.0 · 2026-10-06 · Logo shown from supplied raster, PENDING PRODUCTION MASTER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BUSINESS STREAM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15568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master brand. One descriptive stream.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46888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— Amenities &amp; Packaging is a descriptive business stream under the GEM™ master brand. It is not a separate identity: same logo, same palette, same typography, with a descriptive line set in type.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 is positioned as a hospitality supplier and partner, not a hotel operator. The stream translates the brand's principles of precision, proportion and restraint into the physical touchpoints a guest holds, opens and keeps.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GEM is proposing: a coordinated family of amenities and packaging that one property can adopt as a whole. What GEM can currently prove: the brand system. Commercial scope, capability and supply are CONDITIONAL until validation closes (AC03, VAL-01).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766560" y="1115568"/>
            <a:ext cx="4572000" cy="4206240"/>
          </a:xfrm>
          <a:prstGeom prst="rect">
            <a:avLst/>
          </a:prstGeom>
          <a:solidFill>
            <a:srgbClr val="12171D"/>
          </a:solidFill>
          <a:ln w="12700">
            <a:solidFill>
              <a:srgbClr val="12171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1371600"/>
            <a:ext cx="3931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spc="20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OFFER · COMMERCIAL SCOPE PENDING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and packaging design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Sourcing and selection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Customisation and property editions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Manufacturing coordination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Replenishment programmes</a:t>
            </a: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endParaRPr lang="en-US" sz="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E01–E14: target offer, approved as direction. External capability claims remain CONDITIONAL on operational validation. GEM does not claim manufacturing, warehousing or owned logistics (E06, E10–E12).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STREAM · APPROVED (C03, T01) · CAPABILITY CLAIMS CONDITIONAL (VAL-01)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PORTFOLIO PRINCIPLE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15568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SYSTEM. MANY TOUCHPOINTS.</a:t>
            </a:r>
            <a:endParaRPr lang="en-US" sz="2800" dirty="0"/>
          </a:p>
        </p:txBody>
      </p:sp>
      <p:pic>
        <p:nvPicPr>
          <p:cNvPr id="4" name="Image 0" descr="Four packaging scales in one system: sachet, small bottle, bottle, cart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2103120"/>
            <a:ext cx="10561320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" y="5623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product is part of one coordinated guest experience. The same symbol, the same proportions, the same hierarchy and the same quiet surfaces, from a sachet to a carton.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58064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PILOT FAMILY · SHAMPOO</a:t>
            </a:r>
            <a:endParaRPr lang="en-US" sz="900" dirty="0"/>
          </a:p>
        </p:txBody>
      </p:sp>
      <p:pic>
        <p:nvPicPr>
          <p:cNvPr id="3" name="Image 0" descr="SHAMPOO front concep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2743200" cy="3657600"/>
          </a:xfrm>
          <a:prstGeom prst="rect">
            <a:avLst/>
          </a:prstGeom>
        </p:spPr>
      </p:pic>
      <p:pic>
        <p:nvPicPr>
          <p:cNvPr id="4" name="Image 1" descr="SHAMPOO rear concept with placeholder information pane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3320" y="1188720"/>
            <a:ext cx="2743200" cy="3657600"/>
          </a:xfrm>
          <a:prstGeom prst="rect">
            <a:avLst/>
          </a:prstGeom>
        </p:spPr>
      </p:pic>
      <p:pic>
        <p:nvPicPr>
          <p:cNvPr id="5" name="Image 2" descr="SHAMPOO label close-u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1188720"/>
            <a:ext cx="4800600" cy="1737360"/>
          </a:xfrm>
          <a:prstGeom prst="rect">
            <a:avLst/>
          </a:prstGeom>
        </p:spPr>
      </p:pic>
      <p:pic>
        <p:nvPicPr>
          <p:cNvPr id="6" name="Image 3" descr="SHAMPOO in-room application sce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3680" y="3108960"/>
            <a:ext cx="4800600" cy="173736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813816" y="502920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 ·  [COLLECTION / TIER]  ·  Shampoo · Hair cleanser  ·  [QUANTITY / SIZE]  ·  [INSTRUCTIONS · REQUIRED MARKET INFORMATION]  ·  [SKU / ARTWORK VERSION]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In-room application: guest bathroom vanity.</a:t>
            </a:r>
            <a:endParaRPr lang="en-US" sz="900" dirty="0"/>
          </a:p>
        </p:txBody>
      </p:sp>
      <p:sp>
        <p:nvSpPr>
          <p:cNvPr id="8" name="Text 2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QUANTITY, INGREDIENTS, CLAIMS, ORIGIN, SUPPLIER: [PENDING]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PILOT FAMILY · CONDITIONER</a:t>
            </a:r>
            <a:endParaRPr lang="en-US" sz="900" dirty="0"/>
          </a:p>
        </p:txBody>
      </p:sp>
      <p:pic>
        <p:nvPicPr>
          <p:cNvPr id="3" name="Image 0" descr="CONDITIONER front concep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2743200" cy="3657600"/>
          </a:xfrm>
          <a:prstGeom prst="rect">
            <a:avLst/>
          </a:prstGeom>
        </p:spPr>
      </p:pic>
      <p:pic>
        <p:nvPicPr>
          <p:cNvPr id="4" name="Image 1" descr="CONDITIONER rear concept with placeholder information pane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3320" y="1188720"/>
            <a:ext cx="2743200" cy="3657600"/>
          </a:xfrm>
          <a:prstGeom prst="rect">
            <a:avLst/>
          </a:prstGeom>
        </p:spPr>
      </p:pic>
      <p:pic>
        <p:nvPicPr>
          <p:cNvPr id="5" name="Image 2" descr="CONDITIONER label close-u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1188720"/>
            <a:ext cx="4800600" cy="1737360"/>
          </a:xfrm>
          <a:prstGeom prst="rect">
            <a:avLst/>
          </a:prstGeom>
        </p:spPr>
      </p:pic>
      <p:pic>
        <p:nvPicPr>
          <p:cNvPr id="6" name="Image 3" descr="CONDITIONER in-room application sce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3680" y="3108960"/>
            <a:ext cx="4800600" cy="173736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813816" y="502920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 ·  [COLLECTION / TIER]  ·  Conditioner · Hair conditioner  ·  [QUANTITY / SIZE]  ·  [INSTRUCTIONS · REQUIRED MARKET INFORMATION]  ·  [SKU / ARTWORK VERSION]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system. Differentiated by product name and controlled hierarchy only.</a:t>
            </a:r>
            <a:endParaRPr lang="en-US" sz="900" dirty="0"/>
          </a:p>
        </p:txBody>
      </p:sp>
      <p:sp>
        <p:nvSpPr>
          <p:cNvPr id="8" name="Text 2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QUANTITY, INGREDIENTS, CLAIMS, ORIGIN, SUPPLIER: [PENDING]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PILOT FAMILY · BODY WASH</a:t>
            </a:r>
            <a:endParaRPr lang="en-US" sz="900" dirty="0"/>
          </a:p>
        </p:txBody>
      </p:sp>
      <p:pic>
        <p:nvPicPr>
          <p:cNvPr id="3" name="Image 0" descr="BODY WASH front concep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2743200" cy="3657600"/>
          </a:xfrm>
          <a:prstGeom prst="rect">
            <a:avLst/>
          </a:prstGeom>
        </p:spPr>
      </p:pic>
      <p:pic>
        <p:nvPicPr>
          <p:cNvPr id="4" name="Image 1" descr="BODY WASH rear concept with placeholder information pane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3320" y="1188720"/>
            <a:ext cx="2743200" cy="3657600"/>
          </a:xfrm>
          <a:prstGeom prst="rect">
            <a:avLst/>
          </a:prstGeom>
        </p:spPr>
      </p:pic>
      <p:pic>
        <p:nvPicPr>
          <p:cNvPr id="5" name="Image 2" descr="BODY WASH label close-u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1188720"/>
            <a:ext cx="4800600" cy="1737360"/>
          </a:xfrm>
          <a:prstGeom prst="rect">
            <a:avLst/>
          </a:prstGeom>
        </p:spPr>
      </p:pic>
      <p:pic>
        <p:nvPicPr>
          <p:cNvPr id="6" name="Image 3" descr="BODY WASH in-room application sce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3680" y="3108960"/>
            <a:ext cx="4800600" cy="173736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813816" y="502920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 ·  [COLLECTION / TIER]  ·  Body wash · Body cleanser  ·  [QUANTITY / SIZE]  ·  [INSTRUCTIONS · REQUIRED MARKET INFORMATION]  ·  [SKU / ARTWORK VERSION]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 logic continues. Wall-mounted and refill formats: [REQUIRES SUPPLIER].</a:t>
            </a:r>
            <a:endParaRPr lang="en-US" sz="900" dirty="0"/>
          </a:p>
        </p:txBody>
      </p:sp>
      <p:sp>
        <p:nvSpPr>
          <p:cNvPr id="8" name="Text 2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QUANTITY, INGREDIENTS, CLAIMS, ORIGIN, SUPPLIER: [PENDING]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PILOT FAMILY · BODY LOTION</a:t>
            </a:r>
            <a:endParaRPr lang="en-US" sz="900" dirty="0"/>
          </a:p>
        </p:txBody>
      </p:sp>
      <p:pic>
        <p:nvPicPr>
          <p:cNvPr id="3" name="Image 0" descr="BODY LOTION front concep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2743200" cy="3657600"/>
          </a:xfrm>
          <a:prstGeom prst="rect">
            <a:avLst/>
          </a:prstGeom>
        </p:spPr>
      </p:pic>
      <p:pic>
        <p:nvPicPr>
          <p:cNvPr id="4" name="Image 1" descr="BODY LOTION rear concept with placeholder information pane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3320" y="1188720"/>
            <a:ext cx="2743200" cy="3657600"/>
          </a:xfrm>
          <a:prstGeom prst="rect">
            <a:avLst/>
          </a:prstGeom>
        </p:spPr>
      </p:pic>
      <p:pic>
        <p:nvPicPr>
          <p:cNvPr id="5" name="Image 2" descr="BODY LOTION label close-u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1188720"/>
            <a:ext cx="4800600" cy="1737360"/>
          </a:xfrm>
          <a:prstGeom prst="rect">
            <a:avLst/>
          </a:prstGeom>
        </p:spPr>
      </p:pic>
      <p:pic>
        <p:nvPicPr>
          <p:cNvPr id="6" name="Image 3" descr="BODY LOTION in-room application sce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3680" y="3108960"/>
            <a:ext cx="4800600" cy="173736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813816" y="502920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 ·  [COLLECTION / TIER]  ·  Body lotion · Body moisturiser  ·  [QUANTITY / SIZE]  ·  [INSTRUCTIONS · REQUIRED MARKET INFORMATION]  ·  [SKU / ARTWORK VERSION]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Guest-room placement and vanity arrangement.</a:t>
            </a:r>
            <a:endParaRPr lang="en-US" sz="900" dirty="0"/>
          </a:p>
        </p:txBody>
      </p:sp>
      <p:sp>
        <p:nvSpPr>
          <p:cNvPr id="8" name="Text 2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QUANTITY, INGREDIENTS, CLAIMS, ORIGIN, SUPPLIER: [PENDING]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· PILOT FAMILY · HAND WASH</a:t>
            </a:r>
            <a:endParaRPr lang="en-US" sz="900" dirty="0"/>
          </a:p>
        </p:txBody>
      </p:sp>
      <p:pic>
        <p:nvPicPr>
          <p:cNvPr id="3" name="Image 0" descr="HAND WASH front concep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2743200" cy="3657600"/>
          </a:xfrm>
          <a:prstGeom prst="rect">
            <a:avLst/>
          </a:prstGeom>
        </p:spPr>
      </p:pic>
      <p:pic>
        <p:nvPicPr>
          <p:cNvPr id="4" name="Image 1" descr="HAND WASH rear concept with placeholder information pane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03320" y="1188720"/>
            <a:ext cx="2743200" cy="3657600"/>
          </a:xfrm>
          <a:prstGeom prst="rect">
            <a:avLst/>
          </a:prstGeom>
        </p:spPr>
      </p:pic>
      <p:pic>
        <p:nvPicPr>
          <p:cNvPr id="5" name="Image 2" descr="HAND WASH label close-up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1188720"/>
            <a:ext cx="4800600" cy="1737360"/>
          </a:xfrm>
          <a:prstGeom prst="rect">
            <a:avLst/>
          </a:prstGeom>
        </p:spPr>
      </p:pic>
      <p:pic>
        <p:nvPicPr>
          <p:cNvPr id="6" name="Image 3" descr="HAND WASH in-room application scen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83680" y="3108960"/>
            <a:ext cx="4800600" cy="1737360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813816" y="502920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 ·  [COLLECTION / TIER]  ·  Hand wash · Hand cleanser  ·  [QUANTITY / SIZE]  ·  [INSTRUCTIONS · REQUIRED MARKET INFORMATION]  ·  [SKU / ARTWORK VERSION]</a:t>
            </a:r>
            <a:endParaRPr lang="en-US" sz="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Guest bathroom, public washroom, suite. No dispenser or bottle structure is approved.</a:t>
            </a:r>
            <a:endParaRPr lang="en-US" sz="900" dirty="0"/>
          </a:p>
        </p:txBody>
      </p:sp>
      <p:sp>
        <p:nvSpPr>
          <p:cNvPr id="8" name="Text 2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QUANTITY, INGREDIENTS, CLAIMS, ORIGIN, SUPPLIER: [PENDING]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· PACKAGING SYSTEM · FAMILY LINEUP</a:t>
            </a:r>
            <a:endParaRPr lang="en-US" sz="900" dirty="0"/>
          </a:p>
        </p:txBody>
      </p:sp>
      <p:pic>
        <p:nvPicPr>
          <p:cNvPr id="3" name="Image 0" descr="The five pilot products together on a white fiel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10561320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5623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proportion, hierarchy, typography, spacing and colour. Recognition comes from the family, not from any single pack.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503920" y="58064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· PACKAGING ARCHITECTURE</a:t>
            </a:r>
            <a:endParaRPr lang="en-US" sz="900" dirty="0"/>
          </a:p>
        </p:txBody>
      </p:sp>
      <p:pic>
        <p:nvPicPr>
          <p:cNvPr id="3" name="Image 0" descr="Structural concept directions: bottle, tube, refill, carton, sachet, pum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10561320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5212080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Bottle · Tube · Refill · Carton · Sachet · Pump / dispenser · Presentation set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structural format is a concept direction. Structure, closure, resin or substrate, decoration method and carton construction are [REQUIRES SUPPLIER] (Part C slide 32). No dimension is stated.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CONCEPT · [REQUIRES SUPPLIER] · CONCEPT / NOT PRODUCTION ARTWORK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· PRIMARY PACK · THREE CONCEPT FORMATS</a:t>
            </a:r>
            <a:endParaRPr lang="en-US" sz="900" dirty="0"/>
          </a:p>
        </p:txBody>
      </p:sp>
      <p:pic>
        <p:nvPicPr>
          <p:cNvPr id="3" name="Image 0" descr="Cylindrical bottle, rectangular bottle and soft tube carrying the same label system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1056132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539496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Cylindrical bottle  ·  Rectangular bottle  ·  Soft tube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STRUCTURAL CONCEPT · REQUIRES SUPPLIER VALIDATION · NONE OF THESE IS AN APPROVED STRUCTURE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· SECONDARY PACKAGING</a:t>
            </a:r>
            <a:endParaRPr lang="en-US" sz="900" dirty="0"/>
          </a:p>
        </p:txBody>
      </p:sp>
      <p:pic>
        <p:nvPicPr>
          <p:cNvPr id="3" name="Image 0" descr="Sleeve, carton and presentation box concepts in Ink, Beige and White boar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1056132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539496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Carton · Sleeve · Box · Multi-product set. Restraint and geometry do the work: one symbol, one hairline, matte board. No decorative luxury cues, no foil by default, no gold.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 · DIELINE [REQUIRES SUPPLIER]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CACA7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· POTENTIAL RANGE EXTENSIONS · PERSONAL CARE · CONCEPT ONLY</a:t>
            </a:r>
            <a:endParaRPr lang="en-US" sz="900" dirty="0"/>
          </a:p>
        </p:txBody>
      </p:sp>
      <p:pic>
        <p:nvPicPr>
          <p:cNvPr id="3" name="Image 0" descr="Six complementary amenity packaging concep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10561320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521208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Soap · Dental kit · Shaving kit · Vanity kit · Shower cap · Comb. Examples of packaging opportunities only. GEM does not currently claim to manufacture or supply them; contents and specifications are not defined.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RANGE EXTENSION · COMMERCIAL SCOPE [PENDING]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· POTENTIAL RANGE EXTENSIONS · GUEST ACCESSORIES · CONCEPT ONLY</a:t>
            </a:r>
            <a:endParaRPr lang="en-US" sz="900" dirty="0"/>
          </a:p>
        </p:txBody>
      </p:sp>
      <p:pic>
        <p:nvPicPr>
          <p:cNvPr id="3" name="Image 0" descr="Six packaged hospitality accessory concept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10561320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521208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Sewing kit · Slippers · Laundry bag · Tissue box · Shoe-care kit · Cotton pads. Compact packaging, one hierarchy, one family. Contents and specifications are not defined.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RANGE EXTENSION · COMMERCIAL SCOPE [PENDING]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· ROOM TOUCHPOINTS</a:t>
            </a:r>
            <a:endParaRPr lang="en-US" sz="900" dirty="0"/>
          </a:p>
        </p:txBody>
      </p:sp>
      <p:pic>
        <p:nvPicPr>
          <p:cNvPr id="3" name="Image 0" descr="Bedside stationery, coffee point, wardrobe and bathroom concepts in one sce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10561320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539496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Bedside stationery · Coffee point · Wardrobe · Bathroom vanity. One identity creates continuity across guest moments; the objective is coherence, not completeness.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/ NOT PRODUCTION ARTWORK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CACA7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· PROPERTY EDITION · CONDITIONAL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155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controlled adaptation for one property.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5603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Edition is named in the register (E14) and in Part A slide 60; its scope is CONDITIONAL until commercial validation closes (AC03, VAL-01).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adaptation is controlled: the GEM identity is unchanged; the property is named as a typeset descriptive line at the tier level. No separate logo, no new palette, no stream symbol (C04, C11, C12).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naming: Property Edition and Bespoke Programme are register names; the name of the standard range is [REQUIRES OWNER].</a:t>
            </a:r>
            <a:endParaRPr lang="en-US" sz="1100" dirty="0"/>
          </a:p>
        </p:txBody>
      </p:sp>
      <p:pic>
        <p:nvPicPr>
          <p:cNvPr id="5" name="Image 0" descr="Shampoo concept with a typeset Property Edition 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115568"/>
            <a:ext cx="525780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EDITION · CONDITIONAL (AC03, VAL-01) · CONCEPT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· CO-BRANDED APPLICATION · CONCEPT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155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GEM™ + PROPERTY NAME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5603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Partners stand beside GEM, not inside it (Part A slide 31). The supplier relationship is shown as a typeset line: "Supplied by GEM™ for PROPERTY NAME". Optical balance, each brand's clearspace, a hairline where appropriate.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merge, recolour, contain or redraw either identity. Precedence follows the approved agreement; the equal-partner arrangement is a default, not a mandate (I10, I11).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NAME is a fictional placeholder; no real partner is approved.</a:t>
            </a:r>
            <a:endParaRPr lang="en-US" sz="1100" dirty="0"/>
          </a:p>
        </p:txBody>
      </p:sp>
      <p:pic>
        <p:nvPicPr>
          <p:cNvPr id="5" name="Image 0" descr="Body wash concept with a typeset supplied-by line for a fictional proper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115568"/>
            <a:ext cx="525780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CO-BRANDING CONCEPT · SUBJECT TO PARTNER AGREEMENT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· BESPOKE PROGRAMME · CONDITIONAL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155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Controlled customisation. The identity stays dominant.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560320"/>
            <a:ext cx="48463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Bespoke programmes are named in the register (E14) as part of the intended offer; the tier is CONDITIONAL (Part A 60, Part C 27).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may flex: label tone within the four colours, surface, format and information set per property.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never flexes: the symbol, the palette, the typography, the hierarchy, the one-spark rule. Customisation is not unrestricted design; every variant is approved through brand governance (C06, C07).</a:t>
            </a:r>
            <a:endParaRPr lang="en-US" sz="1100" dirty="0"/>
          </a:p>
        </p:txBody>
      </p:sp>
      <p:pic>
        <p:nvPicPr>
          <p:cNvPr id="5" name="Image 0" descr="Three label-tone variants of the same shampoo concep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115568"/>
            <a:ext cx="525780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BESPOKE PROGRAMME · CONDITIONAL · CONCEPT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CACA7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· MATERIAL DIRECTION · PENDING SUPPLIER VALIDATION</a:t>
            </a:r>
            <a:endParaRPr lang="en-US" sz="900" dirty="0"/>
          </a:p>
        </p:txBody>
      </p:sp>
      <p:pic>
        <p:nvPicPr>
          <p:cNvPr id="3" name="Image 0" descr="Eight material-direction swatch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10561320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562356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uncoated paper · Matte board · Ink and Beige surfaces · Controlled translucent material · Neutral plastics · Restrained tactile finishes. Feel before shine. No substrate, GSM, polymer, resin, recycled content or certification is stated.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5989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DIRECTION · PENDING SUPPLIER VALIDATION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· FINISH DIRECTION · PENDING PHYSICAL PROOF</a:t>
            </a:r>
            <a:endParaRPr lang="en-US" sz="900" dirty="0"/>
          </a:p>
        </p:txBody>
      </p:sp>
      <p:pic>
        <p:nvPicPr>
          <p:cNvPr id="3" name="Image 0" descr="Blind emboss, deboss, precision die-cut and soft-touch matte finish sample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" y="1188720"/>
            <a:ext cx="10561320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3816" y="5623560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emboss · Deboss · Precision die-cut · Soft-touch matte. Avoid decorative gold foil, chrome, holographic finishes and heavy gloss. Depth, pressure, plate, minimum feature size and tooling are defined only by supplier trials.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5989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 DIRECTION · PENDING PHYSICAL PROOF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· INFORMATION HIERARCHY · APPROVED ORDER (T05)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155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Six levels. Read from the top, down.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37744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01  GEM™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02  [COLLECTION / TIER]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03  [PRODUCT] · [FUNCTION]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[QUANTITY / SIZE] · metric first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[INSTRUCTIONS · REQUIRED MARKET INFORMATION] · [REGULATORY COPY]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[SKU] · [ARTWORK VERSION]</a:t>
            </a:r>
            <a:endParaRPr lang="en-US" sz="1800" dirty="0"/>
          </a:p>
        </p:txBody>
      </p:sp>
      <p:pic>
        <p:nvPicPr>
          <p:cNvPr id="5" name="Image 0" descr="Flat label showing the six-level hierarchy with placehold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1115568"/>
            <a:ext cx="5074920" cy="466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HIERARCHY APPROVED (T05) · ALL CONTENT PLACEHOLDER · REGULATORY COPY: REGULATORY REVIEW REQUIRED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BCACA7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· BILINGUAL PACKAGING · ARABIC PENDING LOCALIZATION APPROVAL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155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English and Arabic, with equal care.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13816" y="256032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is planned as mandatory for Saudi-market packaging unless a qualified regulatory review confirms an exception (T11).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right-to-left setting. No tracking on Arabic. The logo is never mirrored. Technical identifiers (SKU, batch, codes) stay in Latin digits, left to right (M11, M12).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language leads on a pack is set per market policy: [REQUIRES OWNER]. The Arabic shown is a working string; all Arabic copy remains PENDING LOCALIZATION APPROVAL until native review (M16, VAL-07). Regulatory text: [ARABIC COPY PENDING NATIVE REVIEW].</a:t>
            </a:r>
            <a:endParaRPr lang="en-US" sz="1050" dirty="0"/>
          </a:p>
        </p:txBody>
      </p:sp>
      <p:pic>
        <p:nvPicPr>
          <p:cNvPr id="5" name="Image 0" descr="Shampoo concept label with an Arabic working string beside the English product nam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115568"/>
            <a:ext cx="525780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3816" y="5806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BILINGUAL CONCEPT · ARABIC PENDING LOCALIZATION APPROVAL · NOT APPROVED COPY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81381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4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· FROM CONCEPT TO PRODUCTION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813816" y="1115568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This document does not replace Part C.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13816" y="228600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2171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2697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Concept direction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44368" y="228600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2171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81528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081528" y="2697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 / commercial scope confirmation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74920" y="228600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217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1208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697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Supplier structure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05472" y="228600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2171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42632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2697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Dieline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36024" y="228600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2171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73184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473184" y="2697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Regulatory information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" y="374904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2171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" y="3858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50976" y="4160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Artwork development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44368" y="374904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2171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81528" y="3858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081528" y="4160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Supplier proof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74920" y="374904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2171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12080" y="3858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160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Physical sample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05472" y="374904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2171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42632" y="3858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342632" y="4160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Approval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336024" y="374904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12171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73184" y="38587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473184" y="41605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171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Production release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" y="530352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Production Standards V3.0 — Part C — RC2 governs steps 03 to 10: supplier dielines, materials, finishes, proof levels P1–P5, golden samples, regulatory review and release (14-step workflow, Part C slide 5). THIS DOCUMENT DOES NOT REPLACE PART C PRODUCTION STANDARDS.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" y="5897880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80" kern="0" dirty="0">
                <a:solidFill>
                  <a:srgbClr val="12171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PORTFOLIO · PRODUCTION CONTROLS: PART C RC2 · WORKING EDITION / PENDING PRODUCTION VALIDATION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236208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12171D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M primary horizontal signature, supplied raster, PENDING PRODUCTION MA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813816"/>
            <a:ext cx="2600077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63840" y="1280160"/>
            <a:ext cx="6858000" cy="6858000"/>
          </a:xfrm>
          <a:prstGeom prst="ellipse">
            <a:avLst/>
          </a:prstGeom>
          <a:ln w="12700">
            <a:solidFill>
              <a:srgbClr val="BCACA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13816" y="2926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spc="200" kern="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EVERY DETAIL, IN PROPORTION.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13816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GEM™ — Amenities &amp; Packaging  ·  CONCEPT PRODUCT PORTFOLIO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" y="48463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BCACA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products, structures, materials and applications shown are conceptual unless explicitly identified as approved. Final specifications require commercial, supplier, regulatory and production validation.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BCACA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HOSPITALITY, IN PERFECT PROPORTION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M V3.0 RC2">
  <a:themeElements>
    <a:clrScheme name="GEM V3.0 RC2">
      <a:dk1>
        <a:srgbClr val="12171D"/>
      </a:dk1>
      <a:lt1>
        <a:srgbClr val="FFFFFF"/>
      </a:lt1>
      <a:dk2>
        <a:srgbClr val="020202"/>
      </a:dk2>
      <a:lt2>
        <a:srgbClr val="BCACA7"/>
      </a:lt2>
      <a:accent1>
        <a:srgbClr val="12171D"/>
      </a:accent1>
      <a:accent2>
        <a:srgbClr val="BCACA7"/>
      </a:accent2>
      <a:accent3>
        <a:srgbClr val="020202"/>
      </a:accent3>
      <a:accent4>
        <a:srgbClr val="FFFFFF"/>
      </a:accent4>
      <a:accent5>
        <a:srgbClr val="12171D"/>
      </a:accent5>
      <a:accent6>
        <a:srgbClr val="BCACA7"/>
      </a:accent6>
      <a:hlink>
        <a:srgbClr val="12171D"/>
      </a:hlink>
      <a:folHlink>
        <a:srgbClr val="12171D"/>
      </a:folHlink>
    </a:clrScheme>
    <a:fontScheme name="GEM V3.0 RC2">
      <a:majorFont>
        <a:latin typeface="Jos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GEM™ — Amenities &amp; Packaging · Concept Product Portfolio v1.0</dc:title>
  <dc:subject>Concept product portfolio · not production artwork</dc:subject>
  <dc:creator>GEM™ — Amenities &amp; Packaging</dc:creator>
  <cp:lastModifiedBy>GEM™ — Amenities &amp; Packaging</cp:lastModifiedBy>
  <cp:revision>1</cp:revision>
  <dcterms:created xsi:type="dcterms:W3CDTF">2026-10-06T15:10:42Z</dcterms:created>
  <dcterms:modified xsi:type="dcterms:W3CDTF">2026-10-06T15:10:42Z</dcterms:modified>
</cp:coreProperties>
</file>