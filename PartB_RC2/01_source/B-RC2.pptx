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production masters are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controls before mass production: supplier dieline per SKU (T12),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a:t>
            </a:r>
            <a:endParaRPr lang="en-US" sz="1200" dirty="0"/>
          </a:p>
        </p:txBody>
      </p:sp>
      <p:sp>
        <p:nvSpPr>
          <p:cNvPr id="14" name="Shape 12"/>
          <p:cNvSpPr/>
          <p:nvPr/>
        </p:nvSpPr>
        <p:spPr>
          <a:xfrm>
            <a:off x="6048375" y="1828750"/>
            <a:ext cx="0" cy="3169444"/>
          </a:xfrm>
          <a:prstGeom prst="line">
            <a:avLst/>
          </a:prstGeom>
          <a:noFill/>
          <a:ln w="6350">
            <a:solidFill>
              <a:srgbClr val="BCACA7"/>
            </a:solidFill>
            <a:prstDash val="solid"/>
          </a:ln>
        </p:spPr>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p:cNvSpPr/>
          <p:nvPr/>
        </p:nvSpPr>
        <p:spPr>
          <a:xfrm>
            <a:off x="812800" y="1828750"/>
            <a:ext cx="2524125" cy="1391791"/>
          </a:xfrm>
          <a:prstGeom prst="rect">
            <a:avLst/>
          </a:prstGeom>
          <a:solidFill>
            <a:srgbClr val="12171D"/>
          </a:solidFill>
          <a:ln/>
        </p:spPr>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p:cNvSpPr/>
          <p:nvPr/>
        </p:nvSpPr>
        <p:spPr>
          <a:xfrm>
            <a:off x="3489325" y="1828750"/>
            <a:ext cx="2524125" cy="1391791"/>
          </a:xfrm>
          <a:prstGeom prst="rect">
            <a:avLst/>
          </a:prstGeom>
          <a:solidFill>
            <a:srgbClr val="BCACA7"/>
          </a:solidFill>
          <a:ln/>
        </p:spPr>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p:cNvSpPr/>
          <p:nvPr/>
        </p:nvSpPr>
        <p:spPr>
          <a:xfrm>
            <a:off x="6165850" y="1828750"/>
            <a:ext cx="2524125" cy="1391791"/>
          </a:xfrm>
          <a:prstGeom prst="rect">
            <a:avLst/>
          </a:prstGeom>
          <a:solidFill>
            <a:srgbClr val="020202"/>
          </a:solidFill>
          <a:ln/>
        </p:spPr>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p:cNvSpPr/>
          <p:nvPr/>
        </p:nvSpPr>
        <p:spPr>
          <a:xfrm>
            <a:off x="8845550" y="1831925"/>
            <a:ext cx="2530475" cy="1385441"/>
          </a:xfrm>
          <a:prstGeom prst="rect">
            <a:avLst/>
          </a:prstGeom>
          <a:solidFill>
            <a:srgbClr val="FFFFFF"/>
          </a:solidFill>
          <a:ln w="6350">
            <a:solidFill>
              <a:srgbClr val="12171D"/>
            </a:solidFill>
            <a:prstDash val="solid"/>
          </a:ln>
        </p:spPr>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Tagline.</a:t>
            </a:r>
            <a:r>
              <a:rPr lang="en-US" sz="1200" dirty="0">
                <a:solidFill>
                  <a:srgbClr val="12171D"/>
                </a:solidFill>
                <a:latin typeface="Inter" pitchFamily="34" charset="0"/>
                <a:ea typeface="Inter" pitchFamily="34" charset="-122"/>
                <a:cs typeface="Inter" pitchFamily="34" charset="-120"/>
              </a:rPr>
              <a:t> HOSPITALITY, IN PERFECT PROPORTION — fixed, not translated without brand approval (M10). Secondary line: Every arrival, precisely composed.</a:t>
            </a:r>
            <a:endParaRPr lang="en-US" sz="1200" dirty="0"/>
          </a:p>
        </p:txBody>
      </p:sp>
      <p:sp>
        <p:nvSpPr>
          <p:cNvPr id="24" name="Shape 22"/>
          <p:cNvSpPr/>
          <p:nvPr/>
        </p:nvSpPr>
        <p:spPr>
          <a:xfrm>
            <a:off x="6251575" y="3474541"/>
            <a:ext cx="0" cy="1524000"/>
          </a:xfrm>
          <a:prstGeom prst="line">
            <a:avLst/>
          </a:prstGeom>
          <a:noFill/>
          <a:ln w="6350">
            <a:solidFill>
              <a:srgbClr val="BCACA7"/>
            </a:solidFill>
            <a:prstDash val="solid"/>
          </a:ln>
        </p:spPr>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a:tblGrid>
                <a:gridCol w="2955036"/>
                <a:gridCol w="4432554"/>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Release Candidate 2 · WORKING EDITION / PENDING PRODUCTION VALIDATION (DS04; AC17, VAL-09 to VAL-11 open)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639493"/>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3959523"/>
            <a:ext cx="5203781" cy="178308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1 · V3 Final Brand Approval Register (Evidence Required stays conditional; Deferred stays deferred)
2 · Part A, Brand Guidelines: brand strategy, identity and expression
3 · Part B, this system: digital implementation
4 · Part C, Production Standards: physical production
5 · Formal technical and legal standards (WCAG 2.2 AA and others) where they apply
6 · Design System v2.1, Brand Guidelines V2/2.1 and V1: historical, superseded
7 · External benchmarks and inspiration only (RF01–RF03)</a:t>
            </a:r>
            <a:endParaRPr lang="en-US" sz="1200" dirty="0"/>
          </a:p>
        </p:txBody>
      </p:sp>
      <p:sp>
        <p:nvSpPr>
          <p:cNvPr id="8" name="Shape 5"/>
          <p:cNvSpPr/>
          <p:nvPr/>
        </p:nvSpPr>
        <p:spPr>
          <a:xfrm>
            <a:off x="6251575" y="3639493"/>
            <a:ext cx="0" cy="1813272"/>
          </a:xfrm>
          <a:prstGeom prst="line">
            <a:avLst/>
          </a:prstGeom>
          <a:noFill/>
          <a:ln w="6350">
            <a:solidFill>
              <a:srgbClr val="BCACA7"/>
            </a:solidFill>
            <a:prstDash val="solid"/>
          </a:ln>
        </p:spPr>
        <p:txBody>
          <a:bodyPr/>
          <a:p/>
        </p:txBody>
      </p:sp>
      <p:sp>
        <p:nvSpPr>
          <p:cNvPr id="9" name="Text 6"/>
          <p:cNvSpPr/>
          <p:nvPr/>
        </p:nvSpPr>
        <p:spPr>
          <a:xfrm>
            <a:off x="6559550" y="3639493"/>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3959523"/>
            <a:ext cx="4964240" cy="1051560"/>
          </a:xfrm>
          <a:prstGeom prst="rect">
            <a:avLst/>
          </a:prstGeom>
          <a:noFill/>
          <a:ln/>
        </p:spPr>
        <p:txBody>
          <a:bodyPr wrap="square" lIns="0" tIns="0" rIns="0" bIns="0" rtlCol="0" anchor="t"/>
          <a:lstStyle/>
          <a:p>
            <a:pPr algn="l" indent="0" marL="0">
              <a:lnSpc>
                <a:spcPts val="1800"/>
              </a:lnSpc>
              <a:buNone/>
            </a:pPr>
            <a:r>
              <a:rPr lang="en-US" sz="12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reference or legacy only.</a:t>
            </a:r>
            <a:endParaRPr lang="en-US" sz="1200" dirty="0"/>
          </a:p>
        </p:txBody>
      </p:sp>
      <p:sp>
        <p:nvSpPr>
          <p:cNvPr id="11" name="Text 8"/>
          <p:cNvSpPr/>
          <p:nvPr/>
        </p:nvSpPr>
        <p:spPr>
          <a:xfrm>
            <a:off x="6559550" y="5047488"/>
            <a:ext cx="4964240" cy="548640"/>
          </a:xfrm>
          <a:prstGeom prst="rect">
            <a:avLst/>
          </a:prstGeom>
          <a:noFill/>
          <a:ln/>
        </p:spPr>
        <p:txBody>
          <a:bodyPr wrap="square" lIns="0" tIns="0" rIns="0" bIns="0" rtlCol="0" anchor="t"/>
          <a:lstStyle/>
          <a:p>
            <a:pPr algn="l" indent="0" marL="0">
              <a:lnSpc>
                <a:spcPts val="1800"/>
              </a:lnSpc>
              <a:buNone/>
            </a:pPr>
            <a:r>
              <a:rPr lang="en-US" sz="12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5232400"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Change control.</a:t>
            </a:r>
            <a:r>
              <a:rPr lang="en-US" sz="1200" dirty="0">
                <a:solidFill>
                  <a:srgbClr val="12171D"/>
                </a:solidFill>
                <a:latin typeface="Inter" pitchFamily="34" charset="0"/>
                <a:ea typeface="Inter" pitchFamily="34" charset="-122"/>
                <a:cs typeface="Inter" pitchFamily="34" charset="-120"/>
              </a:rPr>
              <a:t>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322614"/>
            <a:ext cx="52324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a:tblGrid>
                <a:gridCol w="1477518"/>
                <a:gridCol w="907618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1"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a:tblGrid>
                <a:gridCol w="2321814"/>
                <a:gridCol w="2321814"/>
                <a:gridCol w="591007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p:cNvSpPr/>
          <p:nvPr/>
        </p:nvSpPr>
        <p:spPr>
          <a:xfrm>
            <a:off x="815975" y="2959646"/>
            <a:ext cx="3414167" cy="1586061"/>
          </a:xfrm>
          <a:prstGeom prst="rect">
            <a:avLst/>
          </a:prstGeom>
          <a:noFill/>
          <a:ln w="6350">
            <a:solidFill>
              <a:srgbClr val="BCACA7"/>
            </a:solidFill>
            <a:prstDash val="solid"/>
          </a:ln>
        </p:spPr>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p:cNvSpPr/>
          <p:nvPr/>
        </p:nvSpPr>
        <p:spPr>
          <a:xfrm>
            <a:off x="4388892" y="2959646"/>
            <a:ext cx="3414167" cy="1586061"/>
          </a:xfrm>
          <a:prstGeom prst="rect">
            <a:avLst/>
          </a:prstGeom>
          <a:noFill/>
          <a:ln w="6350">
            <a:solidFill>
              <a:srgbClr val="BCACA7"/>
            </a:solidFill>
            <a:prstDash val="solid"/>
          </a:ln>
        </p:spPr>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p:cNvSpPr/>
          <p:nvPr/>
        </p:nvSpPr>
        <p:spPr>
          <a:xfrm>
            <a:off x="7961809" y="2959646"/>
            <a:ext cx="3414216" cy="1586061"/>
          </a:xfrm>
          <a:prstGeom prst="rect">
            <a:avLst/>
          </a:prstGeom>
          <a:noFill/>
          <a:ln w="6350">
            <a:solidFill>
              <a:srgbClr val="BCACA7"/>
            </a:solidFill>
            <a:prstDash val="solid"/>
          </a:ln>
        </p:spPr>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p:cNvSpPr/>
          <p:nvPr/>
        </p:nvSpPr>
        <p:spPr>
          <a:xfrm>
            <a:off x="815975" y="1882725"/>
            <a:ext cx="3414167" cy="2170261"/>
          </a:xfrm>
          <a:prstGeom prst="rect">
            <a:avLst/>
          </a:prstGeom>
          <a:noFill/>
          <a:ln w="6350">
            <a:solidFill>
              <a:srgbClr val="BCACA7"/>
            </a:solidFill>
            <a:prstDash val="solid"/>
          </a:ln>
        </p:spPr>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p:cNvSpPr/>
          <p:nvPr/>
        </p:nvSpPr>
        <p:spPr>
          <a:xfrm>
            <a:off x="4388892" y="1882725"/>
            <a:ext cx="3414167" cy="2170261"/>
          </a:xfrm>
          <a:prstGeom prst="rect">
            <a:avLst/>
          </a:prstGeom>
          <a:noFill/>
          <a:ln w="6350">
            <a:solidFill>
              <a:srgbClr val="BCACA7"/>
            </a:solidFill>
            <a:prstDash val="solid"/>
          </a:ln>
        </p:spPr>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p:cNvSpPr/>
          <p:nvPr/>
        </p:nvSpPr>
        <p:spPr>
          <a:xfrm>
            <a:off x="7961809" y="1882725"/>
            <a:ext cx="3414216" cy="2170261"/>
          </a:xfrm>
          <a:prstGeom prst="rect">
            <a:avLst/>
          </a:prstGeom>
          <a:noFill/>
          <a:ln w="6350">
            <a:solidFill>
              <a:srgbClr val="BCACA7"/>
            </a:solidFill>
            <a:prstDash val="dash"/>
          </a:ln>
        </p:spPr>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Fonts ship under SIL OFL 1.1; deployment rights PENDING VALIDATION (VAL-05, Y03).</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a:tblGrid>
                <a:gridCol w="1394460"/>
                <a:gridCol w="1185291"/>
                <a:gridCol w="906399"/>
                <a:gridCol w="1045845"/>
                <a:gridCol w="2440305"/>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p:cNvSpPr/>
          <p:nvPr/>
        </p:nvSpPr>
        <p:spPr>
          <a:xfrm>
            <a:off x="6835775" y="1777950"/>
            <a:ext cx="0" cy="3149352"/>
          </a:xfrm>
          <a:prstGeom prst="line">
            <a:avLst/>
          </a:prstGeom>
          <a:noFill/>
          <a:ln w="6350">
            <a:solidFill>
              <a:srgbClr val="BCACA7"/>
            </a:solidFill>
            <a:prstDash val="solid"/>
          </a:ln>
        </p:spPr>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Prohibited:</a:t>
            </a:r>
            <a:r>
              <a:rPr lang="en-US" sz="1200" dirty="0">
                <a:solidFill>
                  <a:srgbClr val="12171D"/>
                </a:solidFill>
                <a:latin typeface="Inter" pitchFamily="34" charset="0"/>
                <a:ea typeface="Inter" pitchFamily="34" charset="-122"/>
                <a:cs typeface="Inter" pitchFamily="34" charset="-120"/>
              </a:rPr>
              <a:t> tracking on lowercase running text, on Arabic, below 12px, or to fit a word on a line.</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a:tblGrid>
                <a:gridCol w="1944624"/>
                <a:gridCol w="1296416"/>
                <a:gridCol w="8102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a:tblGrid>
                <a:gridCol w="5195316"/>
                <a:gridCol w="989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a:tblGrid>
                <a:gridCol w="5276850"/>
                <a:gridCol w="527685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1371981"/>
                <a:gridCol w="1583055"/>
                <a:gridCol w="1055370"/>
                <a:gridCol w="949833"/>
                <a:gridCol w="949833"/>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sp>
      <p:sp>
        <p:nvSpPr>
          <p:cNvPr id="7" name="Shape 4"/>
          <p:cNvSpPr/>
          <p:nvPr/>
        </p:nvSpPr>
        <p:spPr>
          <a:xfrm>
            <a:off x="1699667" y="3989933"/>
            <a:ext cx="810716" cy="304800"/>
          </a:xfrm>
          <a:prstGeom prst="rect">
            <a:avLst/>
          </a:prstGeom>
          <a:solidFill>
            <a:srgbClr val="BCACA7"/>
          </a:solidFill>
          <a:ln/>
        </p:spPr>
      </p:sp>
      <p:sp>
        <p:nvSpPr>
          <p:cNvPr id="8" name="Shape 5"/>
          <p:cNvSpPr/>
          <p:nvPr/>
        </p:nvSpPr>
        <p:spPr>
          <a:xfrm>
            <a:off x="2586583" y="3989933"/>
            <a:ext cx="810667" cy="304800"/>
          </a:xfrm>
          <a:prstGeom prst="rect">
            <a:avLst/>
          </a:prstGeom>
          <a:solidFill>
            <a:srgbClr val="BCACA7"/>
          </a:solidFill>
          <a:ln/>
        </p:spPr>
      </p:sp>
      <p:sp>
        <p:nvSpPr>
          <p:cNvPr id="9" name="Shape 6"/>
          <p:cNvSpPr/>
          <p:nvPr/>
        </p:nvSpPr>
        <p:spPr>
          <a:xfrm>
            <a:off x="3473450" y="3989933"/>
            <a:ext cx="810716" cy="304800"/>
          </a:xfrm>
          <a:prstGeom prst="rect">
            <a:avLst/>
          </a:prstGeom>
          <a:solidFill>
            <a:srgbClr val="BCACA7"/>
          </a:solidFill>
          <a:ln/>
        </p:spPr>
      </p:sp>
      <p:sp>
        <p:nvSpPr>
          <p:cNvPr id="10" name="Shape 7"/>
          <p:cNvSpPr/>
          <p:nvPr/>
        </p:nvSpPr>
        <p:spPr>
          <a:xfrm>
            <a:off x="4360366" y="3989933"/>
            <a:ext cx="810667" cy="304800"/>
          </a:xfrm>
          <a:prstGeom prst="rect">
            <a:avLst/>
          </a:prstGeom>
          <a:solidFill>
            <a:srgbClr val="BCACA7"/>
          </a:solidFill>
          <a:ln/>
        </p:spPr>
      </p:sp>
      <p:sp>
        <p:nvSpPr>
          <p:cNvPr id="11" name="Shape 8"/>
          <p:cNvSpPr/>
          <p:nvPr/>
        </p:nvSpPr>
        <p:spPr>
          <a:xfrm>
            <a:off x="5247233" y="3989933"/>
            <a:ext cx="810716" cy="304800"/>
          </a:xfrm>
          <a:prstGeom prst="rect">
            <a:avLst/>
          </a:prstGeom>
          <a:solidFill>
            <a:srgbClr val="BCACA7"/>
          </a:solidFill>
          <a:ln/>
        </p:spPr>
      </p:sp>
      <p:sp>
        <p:nvSpPr>
          <p:cNvPr id="12" name="Shape 9"/>
          <p:cNvSpPr/>
          <p:nvPr/>
        </p:nvSpPr>
        <p:spPr>
          <a:xfrm>
            <a:off x="6134150" y="3989933"/>
            <a:ext cx="810667" cy="304800"/>
          </a:xfrm>
          <a:prstGeom prst="rect">
            <a:avLst/>
          </a:prstGeom>
          <a:solidFill>
            <a:srgbClr val="BCACA7"/>
          </a:solidFill>
          <a:ln/>
        </p:spPr>
      </p:sp>
      <p:sp>
        <p:nvSpPr>
          <p:cNvPr id="13" name="Shape 10"/>
          <p:cNvSpPr/>
          <p:nvPr/>
        </p:nvSpPr>
        <p:spPr>
          <a:xfrm>
            <a:off x="7021016" y="3989933"/>
            <a:ext cx="810716" cy="304800"/>
          </a:xfrm>
          <a:prstGeom prst="rect">
            <a:avLst/>
          </a:prstGeom>
          <a:solidFill>
            <a:srgbClr val="BCACA7"/>
          </a:solidFill>
          <a:ln/>
        </p:spPr>
      </p:sp>
      <p:sp>
        <p:nvSpPr>
          <p:cNvPr id="14" name="Shape 11"/>
          <p:cNvSpPr/>
          <p:nvPr/>
        </p:nvSpPr>
        <p:spPr>
          <a:xfrm>
            <a:off x="7907933" y="3989933"/>
            <a:ext cx="810667" cy="304800"/>
          </a:xfrm>
          <a:prstGeom prst="rect">
            <a:avLst/>
          </a:prstGeom>
          <a:solidFill>
            <a:srgbClr val="BCACA7"/>
          </a:solidFill>
          <a:ln/>
        </p:spPr>
      </p:sp>
      <p:sp>
        <p:nvSpPr>
          <p:cNvPr id="15" name="Shape 12"/>
          <p:cNvSpPr/>
          <p:nvPr/>
        </p:nvSpPr>
        <p:spPr>
          <a:xfrm>
            <a:off x="8794800" y="3989933"/>
            <a:ext cx="810667" cy="304800"/>
          </a:xfrm>
          <a:prstGeom prst="rect">
            <a:avLst/>
          </a:prstGeom>
          <a:solidFill>
            <a:srgbClr val="BCACA7"/>
          </a:solidFill>
          <a:ln/>
        </p:spPr>
      </p:sp>
      <p:sp>
        <p:nvSpPr>
          <p:cNvPr id="16" name="Shape 13"/>
          <p:cNvSpPr/>
          <p:nvPr/>
        </p:nvSpPr>
        <p:spPr>
          <a:xfrm>
            <a:off x="9681666" y="3989933"/>
            <a:ext cx="810667" cy="304800"/>
          </a:xfrm>
          <a:prstGeom prst="rect">
            <a:avLst/>
          </a:prstGeom>
          <a:solidFill>
            <a:srgbClr val="BCACA7"/>
          </a:solidFill>
          <a:ln/>
        </p:spPr>
      </p:sp>
      <p:sp>
        <p:nvSpPr>
          <p:cNvPr id="17" name="Shape 14"/>
          <p:cNvSpPr/>
          <p:nvPr/>
        </p:nvSpPr>
        <p:spPr>
          <a:xfrm>
            <a:off x="10568533" y="3989933"/>
            <a:ext cx="810667" cy="304800"/>
          </a:xfrm>
          <a:prstGeom prst="rect">
            <a:avLst/>
          </a:prstGeom>
          <a:solidFill>
            <a:srgbClr val="BCACA7"/>
          </a:solidFill>
          <a:ln/>
        </p:spPr>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1477518"/>
                <a:gridCol w="3799332"/>
                <a:gridCol w="2638425"/>
                <a:gridCol w="2638425"/>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a:tblGrid>
                <a:gridCol w="2190496"/>
                <a:gridCol w="1916684"/>
                <a:gridCol w="273812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a:tblGrid>
                <a:gridCol w="1899666"/>
                <a:gridCol w="5910072"/>
                <a:gridCol w="274396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RTL.</a:t>
            </a:r>
            <a:r>
              <a:rPr lang="en-US" sz="1200" dirty="0">
                <a:solidFill>
                  <a:srgbClr val="12171D"/>
                </a:solidFill>
                <a:latin typeface="Inter" pitchFamily="34" charset="0"/>
                <a:ea typeface="Inter" pitchFamily="34" charset="-122"/>
                <a:cs typeface="Inter" pitchFamily="34" charset="-120"/>
              </a:rPr>
              <a:t> Only previous and next mirror. SVGs are working geometry, not supplier artwork (DS05).</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1794129"/>
                <a:gridCol w="5593461"/>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1996083"/>
        </p:xfrm>
        <a:graphic>
          <a:graphicData uri="http://schemas.openxmlformats.org/drawingml/2006/table">
            <a:tbl>
              <a:tblPr/>
              <a:tblGrid>
                <a:gridCol w="2397252"/>
                <a:gridCol w="980694"/>
                <a:gridCol w="207035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3989933"/>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500,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2743962"/>
                <a:gridCol w="780973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1"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A templates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A templates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25 · Vehicle livery Deferred (R17). Principle → specimen → rule → application.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GEM → collection or tier → product and function → quantity → instructions → SKU and artwork version. Pilot family: Shampoo, Conditioner, Body Wash, Body Lotion, Hand Wash.</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79811"/>
          <a:ext cx="10553700" cy="2719983"/>
        </p:xfrm>
        <a:graphic>
          <a:graphicData uri="http://schemas.openxmlformats.org/drawingml/2006/table">
            <a:tbl>
              <a:tblPr/>
              <a:tblGrid>
                <a:gridCol w="2955036"/>
                <a:gridCol w="5276850"/>
                <a:gridCol w="2321814"/>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26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p:cNvSpPr/>
          <p:nvPr/>
        </p:nvSpPr>
        <p:spPr>
          <a:xfrm>
            <a:off x="815975" y="1781125"/>
            <a:ext cx="3414167" cy="1799382"/>
          </a:xfrm>
          <a:prstGeom prst="rect">
            <a:avLst/>
          </a:prstGeom>
          <a:noFill/>
          <a:ln w="6350">
            <a:solidFill>
              <a:srgbClr val="BCACA7"/>
            </a:solidFill>
            <a:prstDash val="solid"/>
          </a:ln>
        </p:spPr>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Approved</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Editorial, architectural, restrained (O01). Guests shown obliquely: hands, ritual, material, thresholds (O04). Strong negative space. Single-source light. Warm-neutral grade.</a:t>
            </a:r>
            <a:endParaRPr lang="en-US" sz="1200" dirty="0"/>
          </a:p>
        </p:txBody>
      </p:sp>
      <p:sp>
        <p:nvSpPr>
          <p:cNvPr id="8" name="Shape 6"/>
          <p:cNvSpPr/>
          <p:nvPr/>
        </p:nvSpPr>
        <p:spPr>
          <a:xfrm>
            <a:off x="4388892" y="1781125"/>
            <a:ext cx="3414167" cy="1799382"/>
          </a:xfrm>
          <a:prstGeom prst="rect">
            <a:avLst/>
          </a:prstGeom>
          <a:noFill/>
          <a:ln w="6350">
            <a:solidFill>
              <a:srgbClr val="BCACA7"/>
            </a:solidFill>
            <a:prstDash val="solid"/>
          </a:ln>
        </p:spPr>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p:cNvSpPr/>
          <p:nvPr/>
        </p:nvSpPr>
        <p:spPr>
          <a:xfrm>
            <a:off x="7961809" y="1781125"/>
            <a:ext cx="3414216" cy="1799382"/>
          </a:xfrm>
          <a:prstGeom prst="rect">
            <a:avLst/>
          </a:prstGeom>
          <a:noFill/>
          <a:ln w="6350">
            <a:solidFill>
              <a:srgbClr val="BCACA7"/>
            </a:solidFill>
            <a:prstDash val="solid"/>
          </a:ln>
        </p:spPr>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architecture, material detail, arrival and threshold, amenities and product; dining and service where relevant. Every production image carries rights metadata (O18, VAL-06); AI or rendered mockups are never presented as photography (O17).</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working specification · 27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a:tblGrid>
                <a:gridCol w="2110740"/>
                <a:gridCol w="84429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by default for Saudi/GCC (S07, Part A 65). Exceptions only where regulation or operations require, as a documented project-specific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1605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28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112963"/>
          </a:xfrm>
          <a:prstGeom prst="rect">
            <a:avLst/>
          </a:prstGeom>
          <a:solidFill>
            <a:srgbClr val="12171D"/>
          </a:solidFill>
          <a:ln/>
        </p:spPr>
        <p:txBody>
          <a:bodyPr wrap="square" lIns="203200" tIns="203200" rIns="70612" bIns="177800" rtlCol="0" anchor="t">
            <a:normAutofit/>
          </a:bodyPr>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foundation.color</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ink #12171D · beige #BCACA7</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black #020202 · white #FFFFFF</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semantic</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surface · text · border</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action · focus</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type · space · radius · size</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portable gem-tokens.v3.json and .css (--gem- prefix). Aliases use {path}; status in the description.</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Semantic HTML first; ARIA only where no native element exists.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CSS custom properties for every token; logical properties for direction.</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Every string is a prop; Intl for dates and numbers.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:focus-visible with focus tokens; modal traps and returns focus.</a:t>
            </a:r>
            <a:endParaRPr lang="en-US" sz="1200" dirty="0"/>
          </a:p>
        </p:txBody>
      </p:sp>
      <p:sp>
        <p:nvSpPr>
          <p:cNvPr id="7" name="Text 5"/>
          <p:cNvSpPr/>
          <p:nvPr/>
        </p:nvSpPr>
        <p:spPr>
          <a:xfrm>
            <a:off x="812800" y="409411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29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a:tblGrid>
                <a:gridCol w="1899666"/>
                <a:gridCol w="1688592"/>
                <a:gridCol w="6965442"/>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Raster logos only; no supplier data; Part C not issued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30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31 · Owners per gate are listed in the speaker notes.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1"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32</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 draft</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1"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32</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PENDING PRODUCTION MASTER</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4432554"/>
                <a:gridCol w="1477518"/>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GEM_Logo_Horizontal_Beige.png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 · 654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GEM_Logo_Horizontal_Black.png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 · 654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GEM_Logo_Horizontal_White.png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GEM_Symbol_Beige.png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 · 229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GEM_Symbol_Black.png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 · 229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Rules (H10–H15).</a:t>
            </a:r>
            <a:r>
              <a:rPr lang="en-US" sz="1200" dirty="0">
                <a:solidFill>
                  <a:srgbClr val="FFFFFF"/>
                </a:solidFill>
                <a:latin typeface="Inter" pitchFamily="34" charset="0"/>
                <a:ea typeface="Inter" pitchFamily="34" charset="-122"/>
                <a:cs typeface="Inter" pitchFamily="34" charset="-120"/>
              </a:rPr>
              <a:t> Lockup min 120px; symbol min 32px; below that the no-spark micro mark (H12, not supplied). Clearspace u = G-ring radius, min 1u, preferred 2u. Never mirror (M08) or recreate in type (L16).</a:t>
            </a:r>
            <a:endParaRPr lang="en-US" sz="1200" dirty="0"/>
          </a:p>
        </p:txBody>
      </p:sp>
      <p:sp>
        <p:nvSpPr>
          <p:cNvPr id="7" name="Text 4"/>
          <p:cNvSpPr/>
          <p:nvPr/>
        </p:nvSpPr>
        <p:spPr>
          <a:xfrm>
            <a:off x="62484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Required, not supplied.</a:t>
            </a:r>
            <a:r>
              <a:rPr lang="en-US" sz="1200" dirty="0">
                <a:solidFill>
                  <a:srgbClr val="FFFFFF"/>
                </a:solidFill>
                <a:latin typeface="Inter" pitchFamily="34" charset="0"/>
                <a:ea typeface="Inter" pitchFamily="34" charset="-122"/>
                <a:cs typeface="Inter" pitchFamily="34" charset="-120"/>
              </a:rPr>
              <a:t> SVG/PDF/EPS/PNG masters, micro mark, stacked lockup, white symbol, embroidery and deboss masters, favicon and app icons, versioned file names (H16–H21).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working specification · 33 · Raster PNGs are layout references only; never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